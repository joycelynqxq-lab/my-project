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与背景" id="{0068e537-dd2d-e403-d919-4ae39d375816}">
          <p14:sldIdLst>
            <p14:sldId id="256"/>
            <p14:sldId id="257"/>
          </p14:sldIdLst>
        </p14:section>
        <p14:section name="提出问题" id="{63c41c06-a4dd-414c-db3e-b15819ff3c1a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10 秒】各位老师好，我们组的题目是“3秒首购”——帮美枣王让 18 到 25 岁的年轻人，在量贩零食店第一次把它拿起来。先问大家一个问题：你上次在零食很忙货架前，停了几秒？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30 秒】先看背景，三股力量叠在一起。行业上，量贩零食店在狂奔——零食很忙和赵一鸣合并后的鸣鸣很忙，2025 年底门店已经超过 2.1 万家，营收六百多亿。人群上，18 到 25 岁的年轻人进店就是“逛”，尝鲜和情绪价值排第一，很多人进店前已经被小红书的必买榜种草。技术上，AI 让做包装、做内容的成本大幅下降，门店数据又让小范围测试变得可行。渠道、人群、技术都变了，但传统枣类品牌的打法没变。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35 秒】企业家给我们的原问题是：怎么提高美枣王新零食在量贩店里 18 到 25 岁人群的首次购买率。我们在门店观察到，年轻人拿起率很低，拿起来又放回去【报观察数字】；问他们“枣”让你想到什么，答案是养生、送礼、长辈【引一句原话】。这个问题有三层来源：企业提出的、量贩行业新品窗口短带来的、AI 让货架更拥挤带来的。丁其磊老师说，零食消费更多是尝鲜——首购，是复购的前提。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30 秒】市面上常见的做法有四种：降价买赠、明星代言、线上投流、门店堆头。我们从四个维度比较：成本、能不能打到货架前那一刻、能不能改变“枣等于养生”的印象、效果能不能测。结果是，它们要么破坏量贩店的平价规则，要么只打到线上，没有一个能同时改变第一印象。所以我们的切入点不是加预算打广告，而是降低年轻人“第一次试”的风险和门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40 秒】那问题的本质是什么？我们画了美枣王的价值网络：美枣王把货卖给零食很忙，零食很忙把它摆上货架，年轻人在货架前做决定。旁边还有内容平台和 AI 工具商。关键在这个红圈——货架前那几秒，品牌是缺席的。第一，从价值网络看，量贩店是“买手”，品牌对终端控制力很弱，首购不是品牌一家能解决的。第二，从服务主导逻辑看，价值在吃第一口时才产生，首购低是因为感知风险大于预期价值，不是产品不好。所以我们的定义是：首购率低，是三方没有共同创造“第一次尝鲜体验”。这个判断对不对？我们去门店和同龄人那里验证了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4980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标题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74980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副标题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84632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组长 / 组员 / 课程 / 日期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美枣王 · 3秒首购计划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915400" y="530352"/>
            <a:ext cx="566928" cy="310896"/>
          </a:xfrm>
          <a:prstGeom prst="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8915400" y="5303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理论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03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来源</a:t>
            </a:r>
            <a:endParaRPr lang="en-US" sz="1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页面标题：一句话结论</a:t>
            </a:r>
            <a:endParaRPr lang="en-US" sz="3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如：价值网络</a:t>
            </a:r>
            <a:endParaRPr lang="en-US" sz="12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如：面访 n=12；门店观察 3 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方案页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美枣王 · 3秒首购计划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915400" y="530352"/>
            <a:ext cx="566928" cy="310896"/>
          </a:xfrm>
          <a:prstGeom prst="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8915400" y="5303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理论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03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来源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035040" cy="4846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280160"/>
            <a:ext cx="4782312" cy="4846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做什么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调研证据</a:t>
            </a:r>
            <a:endParaRPr lang="en-US" sz="1600" dirty="0"/>
          </a:p>
        </p:txBody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① 分方案标题</a:t>
            </a:r>
            <a:endParaRPr lang="en-US" sz="30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如：模块化</a:t>
            </a:r>
            <a:endParaRPr lang="en-US" sz="12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22960" y="1965960"/>
            <a:ext cx="548640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具体动作（3-4 条）</a:t>
            </a:r>
            <a:endParaRPr lang="en-US" sz="16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7132320" y="1965960"/>
            <a:ext cx="425196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对应调研数据 / 受访者原话</a:t>
            </a:r>
            <a:endParaRPr lang="en-US" sz="1600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如：面访 n=12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3秒首购：让 18-25 岁年轻人在量贩零食店第一次拿起美枣王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基于服务生态系统的货架尝鲜体验共创方案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8463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组长：【姓名】    组员：【姓名】【姓名】【姓名】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课程：数智商业创新    2026 年【】月【】日</a:t>
            </a:r>
            <a:endParaRPr lang="en-US" sz="1400" dirty="0"/>
          </a:p>
        </p:txBody>
      </p:sp>
      <p:sp>
        <p:nvSpPr>
          <p:cNvPr id="5" name="3s-ring"/>
          <p:cNvSpPr/>
          <p:nvPr/>
        </p:nvSpPr>
        <p:spPr>
          <a:xfrm>
            <a:off x="8366760" y="1417320"/>
            <a:ext cx="3291840" cy="3291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3s-core"/>
          <p:cNvSpPr/>
          <p:nvPr/>
        </p:nvSpPr>
        <p:spPr>
          <a:xfrm>
            <a:off x="8732520" y="1783080"/>
            <a:ext cx="2560320" cy="256032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7" name="3s-text"/>
          <p:cNvSpPr txBox="1"/>
          <p:nvPr/>
        </p:nvSpPr>
        <p:spPr>
          <a:xfrm>
            <a:off x="8732520" y="187452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chemeClr val="accent2"/>
                </a:solidFill>
              </a:rPr>
              <a:t>3</a:t>
            </a:r>
            <a:endParaRPr lang="en-US" sz="88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秒决定拿不拿</a:t>
            </a:r>
            <a:endParaRPr lang="en-US" sz="8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渠道、人群、技术三股力量同时变了</a:t>
            </a:r>
            <a:endParaRPr lang="en-US" sz="3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服务生态系统</a:t>
            </a:r>
            <a:endParaRPr lang="en-US" sz="1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鸣鸣很忙 2025 年度业绩（虎嗅、观察者网报道）；观研报告网</a:t>
            </a:r>
            <a:endParaRPr lang="en-US" sz="1000" dirty="0"/>
          </a:p>
        </p:txBody>
      </p:sp>
      <p:sp>
        <p:nvSpPr>
          <p:cNvPr id="5" name="card-1"/>
          <p:cNvSpPr/>
          <p:nvPr/>
        </p:nvSpPr>
        <p:spPr>
          <a:xfrm>
            <a:off x="548640" y="1325880"/>
            <a:ext cx="3483864" cy="4114800"/>
          </a:xfrm>
          <a:prstGeom prst="roundRect">
            <a:avLst>
              <a:gd name="adj" fmla="val 3150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600200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行业｜量贩零食崛起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317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2.19 万家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6324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鸣鸣很忙门店数（2025 年末）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3026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 年营收 661.7 亿元，同比 +68.2%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平价、散称、SKU 多、上新快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2024 年量贩零食市场约千亿元规模</a:t>
            </a:r>
            <a:endParaRPr lang="en-US" sz="1400" dirty="0"/>
          </a:p>
        </p:txBody>
      </p:sp>
      <p:sp>
        <p:nvSpPr>
          <p:cNvPr id="12" name="card-2"/>
          <p:cNvSpPr/>
          <p:nvPr/>
        </p:nvSpPr>
        <p:spPr>
          <a:xfrm>
            <a:off x="4352544" y="1325880"/>
            <a:ext cx="3483864" cy="4114800"/>
          </a:xfrm>
          <a:prstGeom prst="roundRect">
            <a:avLst>
              <a:gd name="adj" fmla="val 3150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4626864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73736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12664" y="1600200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社会｜Z 世代爱“逛”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626864" y="23317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尝鲜 &gt; 品牌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4626864" y="306324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18-25 岁：情绪价值优先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626864" y="3520440"/>
            <a:ext cx="3026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不带清单，边逛边挑，靠货架当场决定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小红书 / 抖音“量贩必买榜”在进店前种草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  <a:highlight>
                  <a:srgbClr val="FFB61E"/>
                </a:highlight>
              </a:rPr>
              <a:t>【待填：面访中“愿为尝鲜买新品”占比】</a:t>
            </a:r>
            <a:endParaRPr lang="en-US" sz="1400" dirty="0"/>
          </a:p>
        </p:txBody>
      </p:sp>
      <p:sp>
        <p:nvSpPr>
          <p:cNvPr id="19" name="card-3"/>
          <p:cNvSpPr/>
          <p:nvPr/>
        </p:nvSpPr>
        <p:spPr>
          <a:xfrm>
            <a:off x="8156448" y="1325880"/>
            <a:ext cx="3483864" cy="4114800"/>
          </a:xfrm>
          <a:prstGeom prst="roundRect">
            <a:avLst>
              <a:gd name="adj" fmla="val 3150"/>
            </a:avLst>
          </a:prstGeom>
          <a:solidFill>
            <a:schemeClr val="bg2"/>
          </a:solidFill>
          <a:ln/>
        </p:spPr>
      </p:sp>
      <p:sp>
        <p:nvSpPr>
          <p:cNvPr id="20" name="Shape 16"/>
          <p:cNvSpPr/>
          <p:nvPr/>
        </p:nvSpPr>
        <p:spPr>
          <a:xfrm>
            <a:off x="8430768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173736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16568" y="1600200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技术｜AI + 门店数据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430768" y="23317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成本↓ 测试↑</a:t>
            </a:r>
            <a:endParaRPr lang="en-US" sz="3400" dirty="0"/>
          </a:p>
        </p:txBody>
      </p:sp>
      <p:sp>
        <p:nvSpPr>
          <p:cNvPr id="24" name="Text 19"/>
          <p:cNvSpPr txBox="1"/>
          <p:nvPr/>
        </p:nvSpPr>
        <p:spPr>
          <a:xfrm>
            <a:off x="8430768" y="306324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内容更便宜，验证更快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430768" y="3520440"/>
            <a:ext cx="3026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让包装、文案、内容生成成本大幅降低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 / 会员数据让小范围 A/B 测试可行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副作用：人人都能快速出新品，货架更挤</a:t>
            </a:r>
            <a:endParaRPr lang="en-US" sz="1400" dirty="0"/>
          </a:p>
        </p:txBody>
      </p:sp>
      <p:sp>
        <p:nvSpPr>
          <p:cNvPr id="26" name="summary"/>
          <p:cNvSpPr/>
          <p:nvPr/>
        </p:nvSpPr>
        <p:spPr>
          <a:xfrm>
            <a:off x="548640" y="5605272"/>
            <a:ext cx="11091672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777240" y="560527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小结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渠道、人群、技术都变了——传统枣类品牌的打法还没变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年轻人为什么不拿起第一包</a:t>
            </a:r>
            <a:endParaRPr lang="en-US" sz="3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问题界定</a:t>
            </a:r>
            <a:endParaRPr lang="en-US" sz="1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企业导师访谈逐字稿；门店观察【n=】；面访【n=】</a:t>
            </a:r>
            <a:endParaRPr lang="en-US" sz="1000" dirty="0"/>
          </a:p>
        </p:txBody>
      </p:sp>
      <p:sp>
        <p:nvSpPr>
          <p:cNvPr id="5" name="origin-q"/>
          <p:cNvSpPr/>
          <p:nvPr/>
        </p:nvSpPr>
        <p:spPr>
          <a:xfrm>
            <a:off x="548640" y="1325880"/>
            <a:ext cx="5029200" cy="2788920"/>
          </a:xfrm>
          <a:prstGeom prst="roundRect">
            <a:avLst>
              <a:gd name="adj" fmla="val 3934"/>
            </a:avLst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572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企业家原问题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4884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如何提高美枣王新零食在量贩零食店 18-25 岁消费者的首次购买率？</a:t>
            </a:r>
            <a:endParaRPr lang="en-US" sz="2600" dirty="0"/>
          </a:p>
        </p:txBody>
      </p:sp>
      <p:sp>
        <p:nvSpPr>
          <p:cNvPr id="9" name="mentor-q"/>
          <p:cNvSpPr/>
          <p:nvPr/>
        </p:nvSpPr>
        <p:spPr>
          <a:xfrm>
            <a:off x="548640" y="4343400"/>
            <a:ext cx="502920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480560"/>
            <a:ext cx="4526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零食消费“更多是一个尝鲜”，尝了不错才会继续买。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——企业导师 丁其磊老师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 首购是复购的前提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现象层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943600" y="18745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75120" y="1783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拿起率低，拿起又放下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门店货架观察：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FFB61E"/>
                </a:highlight>
              </a:rPr>
              <a:t>【拿起率 / 放下率】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43600" y="2898648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0358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75120" y="28072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“枣”= 养生、送礼、长辈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面访原话：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highlight>
                  <a:srgbClr val="FFB61E"/>
                </a:highlight>
              </a:rPr>
              <a:t>【贴 1 句受访者原话】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9436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问题的三层来源</a:t>
            </a:r>
            <a:endParaRPr lang="en-US" sz="1800" dirty="0"/>
          </a:p>
        </p:txBody>
      </p:sp>
      <p:sp>
        <p:nvSpPr>
          <p:cNvPr id="19" name="source-1"/>
          <p:cNvSpPr/>
          <p:nvPr/>
        </p:nvSpPr>
        <p:spPr>
          <a:xfrm>
            <a:off x="5943600" y="4389120"/>
            <a:ext cx="17830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080760" y="45262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企业 / 专家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企业家提出首购率问题；导师强调“尝鲜”</a:t>
            </a:r>
            <a:endParaRPr lang="en-US" sz="1500" dirty="0"/>
          </a:p>
        </p:txBody>
      </p:sp>
      <p:sp>
        <p:nvSpPr>
          <p:cNvPr id="21" name="source-2"/>
          <p:cNvSpPr/>
          <p:nvPr/>
        </p:nvSpPr>
        <p:spPr>
          <a:xfrm>
            <a:off x="7863840" y="4389120"/>
            <a:ext cx="17830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01000" y="45262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行业背景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量贩店 SKU 多，新品曝光窗口短</a:t>
            </a:r>
            <a:endParaRPr lang="en-US" sz="1500" dirty="0"/>
          </a:p>
        </p:txBody>
      </p:sp>
      <p:sp>
        <p:nvSpPr>
          <p:cNvPr id="23" name="source-3"/>
          <p:cNvSpPr/>
          <p:nvPr/>
        </p:nvSpPr>
        <p:spPr>
          <a:xfrm>
            <a:off x="9784080" y="4389120"/>
            <a:ext cx="17830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9921240" y="45262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技术变化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AI 让人人快速出新品，货架更拥挤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现有做法打不到货架前那一刻</a:t>
            </a:r>
            <a:endParaRPr lang="en-US" sz="3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现有方案对比</a:t>
            </a:r>
            <a:endParaRPr lang="en-US" sz="1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公开资料与组内分析；评价为组内定性判断</a:t>
            </a:r>
            <a:endParaRPr lang="en-US" sz="1000" dirty="0"/>
          </a:p>
        </p:txBody>
      </p:sp>
      <p:graphicFrame>
        <p:nvGraphicFramePr>
          <p:cNvPr id="5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679192"/>
                <a:gridCol w="2103120"/>
                <a:gridCol w="2103120"/>
                <a:gridCol w="2103120"/>
                <a:gridCol w="21031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现有做法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成本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触达货架那一刻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转变“枣=养生”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可测量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1A1D"/>
                          </a:solidFill>
                        </a:rPr>
                        <a:t>降价 / 买赠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</a:rPr>
                        <a:t>中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68"/>
                          </a:solidFill>
                        </a:rPr>
                        <a:t>能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3203A"/>
                          </a:solidFill>
                        </a:rPr>
                        <a:t>不能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68"/>
                          </a:solidFill>
                        </a:rPr>
                        <a:t>能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1A1D"/>
                          </a:solidFill>
                        </a:rPr>
                        <a:t>明星代言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3203A"/>
                          </a:solidFill>
                        </a:rPr>
                        <a:t>很高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3203A"/>
                          </a:solidFill>
                        </a:rPr>
                        <a:t>不能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</a:rPr>
                        <a:t>部分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3203A"/>
                          </a:solidFill>
                        </a:rPr>
                        <a:t>难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1A1D"/>
                          </a:solidFill>
                        </a:rPr>
                        <a:t>线上投流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3203A"/>
                          </a:solidFill>
                        </a:rPr>
                        <a:t>高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3203A"/>
                          </a:solidFill>
                        </a:rPr>
                        <a:t>不能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</a:rPr>
                        <a:t>部分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</a:rPr>
                        <a:t>仅线上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1A1D"/>
                          </a:solidFill>
                        </a:rPr>
                        <a:t>门店堆头陈列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</a:rPr>
                        <a:t>中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68"/>
                          </a:solidFill>
                        </a:rPr>
                        <a:t>能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3203A"/>
                          </a:solidFill>
                        </a:rPr>
                        <a:t>不能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A5A00"/>
                          </a:solidFill>
                        </a:rPr>
                        <a:t>部分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</a:tr>
            </a:tbl>
          </a:graphicData>
        </a:graphic>
      </p:graphicFrame>
      <p:sp>
        <p:nvSpPr>
          <p:cNvPr id="6" name="conclusion"/>
          <p:cNvSpPr/>
          <p:nvPr/>
        </p:nvSpPr>
        <p:spPr>
          <a:xfrm>
            <a:off x="548640" y="4160520"/>
            <a:ext cx="51206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16052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结论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要么破坏量贩店的平价规则，要么只打到线上；没有一种能同时改变“枣=养生”的第一印象。</a:t>
            </a:r>
            <a:endParaRPr lang="en-US" sz="1600" dirty="0"/>
          </a:p>
        </p:txBody>
      </p:sp>
      <p:sp>
        <p:nvSpPr>
          <p:cNvPr id="8" name="arrow"/>
          <p:cNvSpPr/>
          <p:nvPr/>
        </p:nvSpPr>
        <p:spPr>
          <a:xfrm>
            <a:off x="5852160" y="4709160"/>
            <a:ext cx="548640" cy="5029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entry-point"/>
          <p:cNvSpPr/>
          <p:nvPr/>
        </p:nvSpPr>
        <p:spPr>
          <a:xfrm>
            <a:off x="6583680" y="4160520"/>
            <a:ext cx="5056632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12280" y="4160520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我们的切入点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不加预算打广告，而是降低“第一次试”的风险和门槛。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本质：第一次尝鲜体验没有被共同创造</a:t>
            </a:r>
            <a:endParaRPr lang="en-US" sz="3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价值网络＋服务主导逻辑</a:t>
            </a:r>
            <a:endParaRPr lang="en-US" sz="1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企业导师访谈逐字稿；组内分析</a:t>
            </a:r>
            <a:endParaRPr lang="en-US" sz="1000" dirty="0"/>
          </a:p>
        </p:txBody>
      </p:sp>
      <p:sp>
        <p:nvSpPr>
          <p:cNvPr id="5" name="network-bg"/>
          <p:cNvSpPr/>
          <p:nvPr/>
        </p:nvSpPr>
        <p:spPr>
          <a:xfrm>
            <a:off x="548640" y="1325880"/>
            <a:ext cx="6903720" cy="406908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美枣王价值网络</a:t>
            </a:r>
            <a:endParaRPr lang="en-US" sz="1300" dirty="0"/>
          </a:p>
        </p:txBody>
      </p:sp>
      <p:sp>
        <p:nvSpPr>
          <p:cNvPr id="7" name="n-brand"/>
          <p:cNvSpPr/>
          <p:nvPr/>
        </p:nvSpPr>
        <p:spPr>
          <a:xfrm>
            <a:off x="777240" y="2715768"/>
            <a:ext cx="13258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715768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426"/>
                </a:solidFill>
              </a:rPr>
              <a:t>美枣王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1426"/>
                </a:solidFill>
              </a:rPr>
              <a:t>品牌 / 工厂</a:t>
            </a:r>
            <a:endParaRPr lang="en-US" sz="1500" dirty="0"/>
          </a:p>
        </p:txBody>
      </p:sp>
      <p:sp>
        <p:nvSpPr>
          <p:cNvPr id="9" name="n-store"/>
          <p:cNvSpPr/>
          <p:nvPr/>
        </p:nvSpPr>
        <p:spPr>
          <a:xfrm>
            <a:off x="2514600" y="2715768"/>
            <a:ext cx="137160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514600" y="2715768"/>
            <a:ext cx="1371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426"/>
                </a:solidFill>
              </a:rPr>
              <a:t>零食很忙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1426"/>
                </a:solidFill>
              </a:rPr>
              <a:t>买手 / 门店</a:t>
            </a:r>
            <a:endParaRPr lang="en-US" sz="1500" dirty="0"/>
          </a:p>
        </p:txBody>
      </p:sp>
      <p:sp>
        <p:nvSpPr>
          <p:cNvPr id="11" name="n-shelf"/>
          <p:cNvSpPr/>
          <p:nvPr/>
        </p:nvSpPr>
        <p:spPr>
          <a:xfrm>
            <a:off x="4206240" y="2423160"/>
            <a:ext cx="1463040" cy="1463040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24231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货架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决策节点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品牌在这里缺席</a:t>
            </a:r>
            <a:endParaRPr lang="en-US" sz="1200" dirty="0"/>
          </a:p>
        </p:txBody>
      </p:sp>
      <p:sp>
        <p:nvSpPr>
          <p:cNvPr id="14" name="n-youth"/>
          <p:cNvSpPr/>
          <p:nvPr/>
        </p:nvSpPr>
        <p:spPr>
          <a:xfrm>
            <a:off x="5989320" y="2715768"/>
            <a:ext cx="1280160" cy="877824"/>
          </a:xfrm>
          <a:prstGeom prst="roundRect">
            <a:avLst>
              <a:gd name="adj" fmla="val 10417"/>
            </a:avLst>
          </a:prstGeom>
          <a:solidFill>
            <a:srgbClr val="7A142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989320" y="2715768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年轻人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18-25 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103120" y="3154680"/>
            <a:ext cx="411480" cy="914"/>
          </a:xfrm>
          <a:prstGeom prst="line">
            <a:avLst/>
          </a:prstGeom>
          <a:noFill/>
          <a:ln w="25400">
            <a:solidFill>
              <a:srgbClr val="7A142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86200" y="3154680"/>
            <a:ext cx="320040" cy="914"/>
          </a:xfrm>
          <a:prstGeom prst="line">
            <a:avLst/>
          </a:prstGeom>
          <a:noFill/>
          <a:ln w="25400">
            <a:solidFill>
              <a:srgbClr val="7A142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9280" y="3154680"/>
            <a:ext cx="320040" cy="914"/>
          </a:xfrm>
          <a:prstGeom prst="line">
            <a:avLst/>
          </a:prstGeom>
          <a:noFill/>
          <a:ln w="25400">
            <a:solidFill>
              <a:srgbClr val="7A1426"/>
            </a:solidFill>
            <a:prstDash val="solid"/>
            <a:tailEnd type="triangle"/>
          </a:ln>
        </p:spPr>
      </p:sp>
      <p:sp>
        <p:nvSpPr>
          <p:cNvPr id="19" name="n-content"/>
          <p:cNvSpPr/>
          <p:nvPr/>
        </p:nvSpPr>
        <p:spPr>
          <a:xfrm>
            <a:off x="4572000" y="1463040"/>
            <a:ext cx="265176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64592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029200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内容平台 / 校园 KOC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629400" y="2103120"/>
            <a:ext cx="914" cy="612648"/>
          </a:xfrm>
          <a:prstGeom prst="line">
            <a:avLst/>
          </a:prstGeom>
          <a:noFill/>
          <a:ln w="15875">
            <a:solidFill>
              <a:srgbClr val="6E6266"/>
            </a:solidFill>
            <a:prstDash val="dash"/>
            <a:tailEnd type="triangle"/>
          </a:ln>
        </p:spPr>
      </p:sp>
      <p:sp>
        <p:nvSpPr>
          <p:cNvPr id="23" name="n-ai"/>
          <p:cNvSpPr/>
          <p:nvPr/>
        </p:nvSpPr>
        <p:spPr>
          <a:xfrm>
            <a:off x="1234440" y="4434840"/>
            <a:ext cx="23774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61772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691640" y="4434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工具商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 flipV="1">
            <a:off x="1600200" y="3593592"/>
            <a:ext cx="914" cy="841248"/>
          </a:xfrm>
          <a:prstGeom prst="line">
            <a:avLst/>
          </a:prstGeom>
          <a:noFill/>
          <a:ln w="15875">
            <a:solidFill>
              <a:srgbClr val="6E6266"/>
            </a:solidFill>
            <a:prstDash val="dash"/>
            <a:tailEnd type="triangle"/>
          </a:ln>
        </p:spPr>
      </p:sp>
      <p:sp>
        <p:nvSpPr>
          <p:cNvPr id="27" name="Shape 23"/>
          <p:cNvSpPr/>
          <p:nvPr/>
        </p:nvSpPr>
        <p:spPr>
          <a:xfrm flipV="1">
            <a:off x="3246120" y="3593592"/>
            <a:ext cx="914" cy="841248"/>
          </a:xfrm>
          <a:prstGeom prst="line">
            <a:avLst/>
          </a:prstGeom>
          <a:noFill/>
          <a:ln w="15875">
            <a:solidFill>
              <a:srgbClr val="6E6266"/>
            </a:solidFill>
            <a:prstDash val="dash"/>
            <a:tailEnd type="triangle"/>
          </a:ln>
        </p:spPr>
      </p:sp>
      <p:sp>
        <p:nvSpPr>
          <p:cNvPr id="28" name="essence-1"/>
          <p:cNvSpPr/>
          <p:nvPr/>
        </p:nvSpPr>
        <p:spPr>
          <a:xfrm>
            <a:off x="7726680" y="1325880"/>
            <a:ext cx="3913632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7955280" y="1463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本质一｜价值网络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量贩店是“买手”，品牌对终端控制力弱——首购问题不是品牌一方能解决的。</a:t>
            </a:r>
            <a:endParaRPr lang="en-US" sz="1500" dirty="0"/>
          </a:p>
        </p:txBody>
      </p:sp>
      <p:sp>
        <p:nvSpPr>
          <p:cNvPr id="30" name="essence-2"/>
          <p:cNvSpPr/>
          <p:nvPr/>
        </p:nvSpPr>
        <p:spPr>
          <a:xfrm>
            <a:off x="7726680" y="3429000"/>
            <a:ext cx="3913632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7955280" y="35661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本质二｜服务主导逻辑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价值在“吃第一口”时才产生。首购低 = 感知风险 &gt; 预期价值，而不是产品不好。</a:t>
            </a:r>
            <a:endParaRPr lang="en-US" sz="1500" dirty="0"/>
          </a:p>
        </p:txBody>
      </p:sp>
      <p:sp>
        <p:nvSpPr>
          <p:cNvPr id="32" name="definition"/>
          <p:cNvSpPr/>
          <p:nvPr/>
        </p:nvSpPr>
        <p:spPr>
          <a:xfrm>
            <a:off x="548640" y="5559552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77240" y="555955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一句话定义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首购率低，是美枣王、零食很忙、年轻人之间没有共同创造“第一次尝鲜体验”的问题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izaoWang 3s">
  <a:themeElements>
    <a:clrScheme name="MeizaoWang 3s">
      <a:dk1>
        <a:srgbClr val="2A1A1D"/>
      </a:dk1>
      <a:lt1>
        <a:srgbClr val="FFFFFF"/>
      </a:lt1>
      <a:dk2>
        <a:srgbClr val="7A1426"/>
      </a:dk2>
      <a:lt2>
        <a:srgbClr val="F5EEF0"/>
      </a:lt2>
      <a:accent1>
        <a:srgbClr val="B3203A"/>
      </a:accent1>
      <a:accent2>
        <a:srgbClr val="FFB61E"/>
      </a:accent2>
      <a:accent3>
        <a:srgbClr val="2F7D68"/>
      </a:accent3>
      <a:accent4>
        <a:srgbClr val="6E6266"/>
      </a:accent4>
      <a:accent5>
        <a:srgbClr val="F7D9DE"/>
      </a:accent5>
      <a:accent6>
        <a:srgbClr val="DCEFE8"/>
      </a:accent6>
      <a:hlink>
        <a:srgbClr val="B3203A"/>
      </a:hlink>
      <a:folHlink>
        <a:srgbClr val="7A1426"/>
      </a:folHlink>
    </a:clrScheme>
    <a:fontScheme name="MeizaoWang 3s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3秒首购：美枣王首购率方案</dc:title>
  <dc:subject>数智商业创新 小组作业</dc:subject>
  <dc:creator>PptxGenJS</dc:creator>
  <cp:lastModifiedBy>PptxGenJS</cp:lastModifiedBy>
  <cp:revision>1</cp:revision>
  <dcterms:created xsi:type="dcterms:W3CDTF">2026-10-26T06:24:45Z</dcterms:created>
  <dcterms:modified xsi:type="dcterms:W3CDTF">2026-10-26T06:24:45Z</dcterms:modified>
</cp:coreProperties>
</file>