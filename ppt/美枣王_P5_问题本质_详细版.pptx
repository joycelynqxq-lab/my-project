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45 秒】那问题的本质是什么？我们画了美枣王的价值网络：美枣王把货供给零食很忙，零食很忙作为买手决定陈列，年轻人在货架前决定拿不拿；进店前，小红书和抖音的必买榜已经在种草，AI 工具又让新品越来越多、货架越来越挤。关键在这个红圈——货架前只有几秒，年轻人卡在看不懂口味、一包太大、觉得枣是长辈吃的，而品牌在这一刻是缺席的。第一，从价值网络看，量贩店是买手，品牌在终端说不上话，首购必须和渠道一起解决。第二，从服务主导逻辑看，价值在吃第一口时才产生，首购低是因为感知风险大于预期价值，不是产品不好。所以我们的定义是：首购率低，是三方没有共同创造“第一次尝鲜体验”。这个判断对不对？我们去门店和同龄人那里验证了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4980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标题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74980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副标题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8463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组长 / 组员 / 课程 / 日期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美枣王 · 3秒首购计划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15400" y="530352"/>
            <a:ext cx="566928" cy="310896"/>
          </a:xfrm>
          <a:prstGeom prst="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8915400" y="5303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理论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03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来源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页面标题：一句话结论</a:t>
            </a:r>
            <a:endParaRPr lang="en-US" sz="3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如：价值网络</a:t>
            </a:r>
            <a:endParaRPr lang="en-US" sz="12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如：面访 n=12；门店观察 3 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方案页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美枣王 · 3秒首购计划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15400" y="530352"/>
            <a:ext cx="566928" cy="310896"/>
          </a:xfrm>
          <a:prstGeom prst="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8915400" y="5303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理论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03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来源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035040" cy="4846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280160"/>
            <a:ext cx="4782312" cy="4846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做什么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调研证据</a:t>
            </a:r>
            <a:endParaRPr lang="en-US" sz="1600" dirty="0"/>
          </a:p>
        </p:txBody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① 分方案标题</a:t>
            </a:r>
            <a:endParaRPr lang="en-US" sz="30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如：模块化</a:t>
            </a:r>
            <a:endParaRPr lang="en-US" sz="12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22960" y="1965960"/>
            <a:ext cx="548640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具体动作（3-4 条）</a:t>
            </a:r>
            <a:endParaRPr lang="en-US" sz="16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7132320" y="1965960"/>
            <a:ext cx="425196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对应调研数据 / 受访者原话</a:t>
            </a:r>
            <a:endParaRPr lang="en-US" sz="16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如：面访 n=12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本质：第一次尝鲜体验没有被共同创造</a:t>
            </a:r>
            <a:endParaRPr lang="en-US" sz="3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价值网络＋服务主导逻辑</a:t>
            </a:r>
            <a:endParaRPr lang="en-US" sz="1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企业导师访谈逐字稿；组内分析</a:t>
            </a:r>
            <a:endParaRPr lang="en-US" sz="1000" dirty="0"/>
          </a:p>
        </p:txBody>
      </p:sp>
      <p:sp>
        <p:nvSpPr>
          <p:cNvPr id="5" name="network-bg"/>
          <p:cNvSpPr/>
          <p:nvPr/>
        </p:nvSpPr>
        <p:spPr>
          <a:xfrm>
            <a:off x="548640" y="1280160"/>
            <a:ext cx="7086600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美枣王价值网络</a:t>
            </a:r>
            <a:endParaRPr lang="en-US" sz="1300" dirty="0"/>
          </a:p>
        </p:txBody>
      </p:sp>
      <p:sp>
        <p:nvSpPr>
          <p:cNvPr id="7" name="n-brand"/>
          <p:cNvSpPr/>
          <p:nvPr/>
        </p:nvSpPr>
        <p:spPr>
          <a:xfrm>
            <a:off x="731520" y="246888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2560320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81635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A1426"/>
                </a:solidFill>
              </a:rPr>
              <a:t>美枣王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E6266"/>
                </a:solidFill>
              </a:rPr>
              <a:t>提供产品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E6266"/>
                </a:solidFill>
              </a:rPr>
              <a:t>终端控制力弱</a:t>
            </a:r>
            <a:endParaRPr lang="en-US" sz="1400" dirty="0"/>
          </a:p>
        </p:txBody>
      </p:sp>
      <p:sp>
        <p:nvSpPr>
          <p:cNvPr id="10" name="n-store"/>
          <p:cNvSpPr/>
          <p:nvPr/>
        </p:nvSpPr>
        <p:spPr>
          <a:xfrm>
            <a:off x="2514600" y="246888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5603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0320" y="281635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A1426"/>
                </a:solidFill>
              </a:rPr>
              <a:t>零食很忙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E6266"/>
                </a:solidFill>
              </a:rPr>
              <a:t>买手：选品·陈列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E6266"/>
                </a:solidFill>
              </a:rPr>
              <a:t>掌握 POS 数据</a:t>
            </a:r>
            <a:endParaRPr lang="en-US" sz="1400" dirty="0"/>
          </a:p>
        </p:txBody>
      </p:sp>
      <p:sp>
        <p:nvSpPr>
          <p:cNvPr id="13" name="n-shelf"/>
          <p:cNvSpPr/>
          <p:nvPr/>
        </p:nvSpPr>
        <p:spPr>
          <a:xfrm>
            <a:off x="4343400" y="2304288"/>
            <a:ext cx="1426464" cy="142646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43400" y="230428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货架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决策节点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只有几秒</a:t>
            </a:r>
            <a:endParaRPr lang="en-US" sz="1500" dirty="0"/>
          </a:p>
        </p:txBody>
      </p:sp>
      <p:sp>
        <p:nvSpPr>
          <p:cNvPr id="15" name="n-youth"/>
          <p:cNvSpPr/>
          <p:nvPr/>
        </p:nvSpPr>
        <p:spPr>
          <a:xfrm>
            <a:off x="6263640" y="24688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7A142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256032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816352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年轻人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18-25 岁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逛店、爱尝鲜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2057400" y="3017520"/>
            <a:ext cx="457200" cy="914"/>
          </a:xfrm>
          <a:prstGeom prst="line">
            <a:avLst/>
          </a:prstGeom>
          <a:noFill/>
          <a:ln w="2540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2011680" y="27249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供货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977640" y="3017520"/>
            <a:ext cx="365760" cy="914"/>
          </a:xfrm>
          <a:prstGeom prst="line">
            <a:avLst/>
          </a:prstGeom>
          <a:noFill/>
          <a:ln w="2540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3886200" y="27249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陈列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769864" y="3017520"/>
            <a:ext cx="493776" cy="914"/>
          </a:xfrm>
          <a:prstGeom prst="line">
            <a:avLst/>
          </a:prstGeom>
          <a:noFill/>
          <a:ln w="2540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23" name="Text 18"/>
          <p:cNvSpPr txBox="1"/>
          <p:nvPr/>
        </p:nvSpPr>
        <p:spPr>
          <a:xfrm>
            <a:off x="5769864" y="2724912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拿不拿</a:t>
            </a:r>
            <a:endParaRPr lang="en-US" sz="1000" dirty="0"/>
          </a:p>
        </p:txBody>
      </p:sp>
      <p:sp>
        <p:nvSpPr>
          <p:cNvPr id="24" name="n-content"/>
          <p:cNvSpPr/>
          <p:nvPr/>
        </p:nvSpPr>
        <p:spPr>
          <a:xfrm>
            <a:off x="4160520" y="1417320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934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663440" y="14173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内容平台 / 校园 KOC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小红书、抖音“量贩必买榜”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876288" y="2075688"/>
            <a:ext cx="914" cy="393192"/>
          </a:xfrm>
          <a:prstGeom prst="line">
            <a:avLst/>
          </a:prstGeom>
          <a:noFill/>
          <a:ln w="15875">
            <a:solidFill>
              <a:srgbClr val="6E6266"/>
            </a:solidFill>
            <a:prstDash val="dash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6035040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进店前种草</a:t>
            </a:r>
            <a:endParaRPr lang="en-US" sz="1000" dirty="0"/>
          </a:p>
        </p:txBody>
      </p:sp>
      <p:sp>
        <p:nvSpPr>
          <p:cNvPr id="29" name="n-ai"/>
          <p:cNvSpPr/>
          <p:nvPr/>
        </p:nvSpPr>
        <p:spPr>
          <a:xfrm>
            <a:off x="731520" y="4251960"/>
            <a:ext cx="324612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5312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234440" y="4251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 工具商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包装/文案快速生成，新品更多、货架更挤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 flipV="1">
            <a:off x="1371600" y="3566160"/>
            <a:ext cx="914" cy="685800"/>
          </a:xfrm>
          <a:prstGeom prst="line">
            <a:avLst/>
          </a:prstGeom>
          <a:noFill/>
          <a:ln w="15875">
            <a:solidFill>
              <a:srgbClr val="6E6266"/>
            </a:solidFill>
            <a:prstDash val="dash"/>
            <a:tailEnd type="triangle"/>
          </a:ln>
        </p:spPr>
      </p:sp>
      <p:sp>
        <p:nvSpPr>
          <p:cNvPr id="33" name="Shape 26"/>
          <p:cNvSpPr/>
          <p:nvPr/>
        </p:nvSpPr>
        <p:spPr>
          <a:xfrm flipV="1">
            <a:off x="3246120" y="3566160"/>
            <a:ext cx="914" cy="685800"/>
          </a:xfrm>
          <a:prstGeom prst="line">
            <a:avLst/>
          </a:prstGeom>
          <a:noFill/>
          <a:ln w="15875">
            <a:solidFill>
              <a:srgbClr val="6E6266"/>
            </a:solidFill>
            <a:prstDash val="dash"/>
            <a:tailEnd type="triangle"/>
          </a:ln>
        </p:spPr>
      </p:sp>
      <p:sp>
        <p:nvSpPr>
          <p:cNvPr id="34" name="absence"/>
          <p:cNvSpPr/>
          <p:nvPr/>
        </p:nvSpPr>
        <p:spPr>
          <a:xfrm>
            <a:off x="4206240" y="3931920"/>
            <a:ext cx="3246120" cy="1261872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389120" y="400507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品牌在这里缺席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年轻人卡在这三处：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看不懂口味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一包太大、怕踩雷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“枣 = 养生、长辈”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 flipV="1">
            <a:off x="5056632" y="3730752"/>
            <a:ext cx="914" cy="201168"/>
          </a:xfrm>
          <a:prstGeom prst="line">
            <a:avLst/>
          </a:prstGeom>
          <a:noFill/>
          <a:ln w="2540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777240" y="5230368"/>
            <a:ext cx="365760" cy="0"/>
          </a:xfrm>
          <a:prstGeom prst="line">
            <a:avLst/>
          </a:prstGeom>
          <a:noFill/>
          <a:ln w="25400">
            <a:solidFill>
              <a:srgbClr val="7A1426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1207008" y="5120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产品 / 交易流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2423160" y="5230368"/>
            <a:ext cx="365760" cy="0"/>
          </a:xfrm>
          <a:prstGeom prst="line">
            <a:avLst/>
          </a:prstGeom>
          <a:noFill/>
          <a:ln w="15875">
            <a:solidFill>
              <a:srgbClr val="6E6266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852928" y="5120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信息 / 内容流</a:t>
            </a:r>
            <a:endParaRPr lang="en-US" sz="1000" dirty="0"/>
          </a:p>
        </p:txBody>
      </p:sp>
      <p:sp>
        <p:nvSpPr>
          <p:cNvPr id="41" name="essence-1"/>
          <p:cNvSpPr/>
          <p:nvPr/>
        </p:nvSpPr>
        <p:spPr>
          <a:xfrm>
            <a:off x="7863840" y="1280160"/>
            <a:ext cx="377647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5"/>
          <p:cNvSpPr txBox="1"/>
          <p:nvPr/>
        </p:nvSpPr>
        <p:spPr>
          <a:xfrm>
            <a:off x="8065008" y="13716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本质一｜价值网络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量贩店是“买手”：选什么、摆哪里、卖多少钱，由渠道决定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品牌控制力弱，在货架前“说不上话”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首购不是品牌一方能解决的，必须和渠道共创</a:t>
            </a:r>
            <a:endParaRPr lang="en-US" sz="1500" dirty="0"/>
          </a:p>
        </p:txBody>
      </p:sp>
      <p:sp>
        <p:nvSpPr>
          <p:cNvPr id="43" name="essence-2"/>
          <p:cNvSpPr/>
          <p:nvPr/>
        </p:nvSpPr>
        <p:spPr>
          <a:xfrm>
            <a:off x="7863840" y="3429000"/>
            <a:ext cx="377647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37"/>
          <p:cNvSpPr txBox="1"/>
          <p:nvPr/>
        </p:nvSpPr>
        <p:spPr>
          <a:xfrm>
            <a:off x="8065008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本质二｜服务主导逻辑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8065008" y="3858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价值在“吃第一口”时才产生（使用价值），不在出厂时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8065008" y="4389120"/>
            <a:ext cx="14173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8065008" y="4389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感知风险</a:t>
            </a:r>
            <a:endParaRPr lang="en-US" sz="1300" dirty="0"/>
          </a:p>
        </p:txBody>
      </p:sp>
      <p:sp>
        <p:nvSpPr>
          <p:cNvPr id="48" name="Text 41"/>
          <p:cNvSpPr txBox="1"/>
          <p:nvPr/>
        </p:nvSpPr>
        <p:spPr>
          <a:xfrm>
            <a:off x="9509760" y="43891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&gt;</a:t>
            </a:r>
            <a:endParaRPr lang="en-US" sz="2200" dirty="0"/>
          </a:p>
        </p:txBody>
      </p:sp>
      <p:sp>
        <p:nvSpPr>
          <p:cNvPr id="49" name="Shape 42"/>
          <p:cNvSpPr/>
          <p:nvPr/>
        </p:nvSpPr>
        <p:spPr>
          <a:xfrm>
            <a:off x="9902952" y="4462272"/>
            <a:ext cx="12801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9902952" y="44622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预期价值</a:t>
            </a:r>
            <a:endParaRPr lang="en-US" sz="1200" dirty="0"/>
          </a:p>
        </p:txBody>
      </p:sp>
      <p:sp>
        <p:nvSpPr>
          <p:cNvPr id="51" name="Text 44"/>
          <p:cNvSpPr txBox="1"/>
          <p:nvPr/>
        </p:nvSpPr>
        <p:spPr>
          <a:xfrm>
            <a:off x="8065008" y="4983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问题不在产品好不好，在“第一次试”的门槛太高</a:t>
            </a:r>
            <a:endParaRPr lang="en-US" sz="1200" dirty="0"/>
          </a:p>
        </p:txBody>
      </p:sp>
      <p:sp>
        <p:nvSpPr>
          <p:cNvPr id="52" name="definition"/>
          <p:cNvSpPr/>
          <p:nvPr/>
        </p:nvSpPr>
        <p:spPr>
          <a:xfrm>
            <a:off x="548640" y="5577840"/>
            <a:ext cx="11091672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777240" y="557784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一句话定义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首购率低，是美枣王、零食很忙、年轻人之间没有共同创造“第一次尝鲜体验”的问题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izaoWang 3s">
  <a:themeElements>
    <a:clrScheme name="MeizaoWang 3s">
      <a:dk1>
        <a:srgbClr val="2A1A1D"/>
      </a:dk1>
      <a:lt1>
        <a:srgbClr val="FFFFFF"/>
      </a:lt1>
      <a:dk2>
        <a:srgbClr val="7A1426"/>
      </a:dk2>
      <a:lt2>
        <a:srgbClr val="F5EEF0"/>
      </a:lt2>
      <a:accent1>
        <a:srgbClr val="B3203A"/>
      </a:accent1>
      <a:accent2>
        <a:srgbClr val="FFB61E"/>
      </a:accent2>
      <a:accent3>
        <a:srgbClr val="2F7D68"/>
      </a:accent3>
      <a:accent4>
        <a:srgbClr val="6E6266"/>
      </a:accent4>
      <a:accent5>
        <a:srgbClr val="F7D9DE"/>
      </a:accent5>
      <a:accent6>
        <a:srgbClr val="DCEFE8"/>
      </a:accent6>
      <a:hlink>
        <a:srgbClr val="B3203A"/>
      </a:hlink>
      <a:folHlink>
        <a:srgbClr val="7A1426"/>
      </a:folHlink>
    </a:clrScheme>
    <a:fontScheme name="MeizaoWang 3s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3秒首购：美枣王首购率方案</dc:title>
  <dc:subject>数智商业创新 小组作业</dc:subject>
  <dc:creator>PptxGenJS</dc:creator>
  <cp:lastModifiedBy>PptxGenJS</cp:lastModifiedBy>
  <cp:revision>1</cp:revision>
  <dcterms:created xsi:type="dcterms:W3CDTF">2026-10-26T07:29:04Z</dcterms:created>
  <dcterms:modified xsi:type="dcterms:W3CDTF">2026-10-26T07:29:04Z</dcterms:modified>
</cp:coreProperties>
</file>