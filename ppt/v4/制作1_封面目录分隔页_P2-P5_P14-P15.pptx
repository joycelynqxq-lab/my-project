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19075844-949f-7204-f7bb-b8d2a3453a92}">
          <p14:sldIdLst>
            <p14:sldId id="256"/>
            <p14:sldId id="257"/>
          </p14:sldIdLst>
        </p14:section>
        <p14:section name="背景与问题" id="{e4c30aab-7252-62dc-40cf-5f6bcc7d8d32}">
          <p14:sldIdLst>
            <p14:sldId id="258"/>
            <p14:sldId id="259"/>
            <p14:sldId id="260"/>
            <p14:sldId id="261"/>
            <p14:sldId id="262"/>
          </p14:sldIdLst>
        </p14:section>
        <p14:section name="分隔页（插到方案、执行部分前）" id="{d8ddcc31-9e91-9c40-d207-d4991109a96e}">
          <p14:sldIdLst>
            <p14:sldId id="263"/>
            <p14:sldId id="264"/>
          </p14:sldIdLst>
        </p14:section>
        <p14:section name="总结与封底" id="{a2b58ad2-1c09-b182-e274-b4b60270da02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14 秒】老师好，我们组要回答的核心问题是：如何让 18–25 岁年轻人在量贩零食店第一次尝鲜美枣王，并通过首购体验带动复购？
提示：核心问题全组统一，一个字都不要改。说完停一拍再翻页。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6 秒】我们分三部分讲：先找问题，再给方案，最后讲怎么落地。
提示：带过即可，不要逐条念。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2 秒】先看背景与问题。
提示：一句话即翻页。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23 秒】先看两个事实：行业龙头门店超过 2 万家，头部两家占了 七成半 份额——品牌想找年轻人，就得进量贩店。再看人：15 个同龄人里，9 个吃完会查配料或含糖量。年轻人尝鲜大于品牌，也越来越在意健康——机会很大，但卖法要变。
提示：讲到 75.5% 和 9/15 两个大数字时各停半拍。“糖必标”新国标在页面上，不用念；老师问起再说：2027 年 3 月起包装要强制标示糖。数字出处在页面右下角：龙头业绩公告、万辰集团招股书、GB 28050-2025。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28 秒】【换成你自己的真实经历】上周我刷小红书看到一款新零食，第二天就去校门口买了一小包，吃完先翻配料表。这就是年轻人买零食的四步：种草、尝鲜、验证、复购。而美枣王步步掉队：线上没人种草，店里找不到，枣像养生品，包装不回答健康问题，也没有再买的理由。
提示：第一句必须是演讲人自己真实发生过的事，老师很可能追问。讲四步时手从左往右指着路径图走。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33 秒】所以我们把问题重新定义为——如何让 18–25 岁年轻人在量贩零食店第一次尝鲜美枣王，并通过首购体验带动复购？只追求第一次买意义不大，要在第一次体验里就埋好再买的理由。本质有两条：一是线上种草、线下货架、产品体验三段断开；二是品牌、门店、内容创作者各做各的，没有一起创造第一次尝鲜。
提示：全篇转折点，语速放慢，核心问题原句念出。时间富余可以加一句：丁其磊老师也说，买零食更多的是尝鲜，口感不差就会继续再买。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【A｜约 15 秒】这些判断来自四种方法：同龄人访谈、小红书笔记分析、企业导师访谈和门店走访；问卷留到第二步前做验证。问题找到了，下面看我们设计的闭环。
提示：最后一句是交接词，说完把翻页笔交给 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【B｜约 3 秒】下面看我们的解决方案。
提示：B 接过翻页笔后的第一句，一句话即翻页。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【C｜约 4 秒】方案讲完了，接下来讲怎么一步步落地。
提示：C 接过翻页笔后的第一句，一句话即翻页。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【C｜约 18 秒】回到我们的核心问题。问题是首购没有变成复购；方案是种草、尝鲜、验证、复购的闭环；落地从一所学校开始，4 周、约 2600 元，跑通就能复制。从一所学校，到全国量贩渠道。
提示：2600 元以制作 4 的 P12 最终数字为准，改了这里也要改。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【C｜约 5 秒】让年轻人第一口就爱上，第二包自然会来。谢谢老师！
提示：说完停在这页，等老师提问。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&#23553;&#38754;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&#20998;&#38548;&#39029;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封面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1E1416">
              <a:alpha val="65000"/>
            </a:srgbClr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640080" y="1371600"/>
            <a:ext cx="6035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主标题</a:t>
            </a: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640080" y="3291840"/>
            <a:ext cx="58521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副标题：核心问题</a:t>
            </a:r>
            <a:endParaRPr lang="en-US" sz="16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507492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课程 / 组长 / 组员 / 日期</a:t>
            </a: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分隔页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949440" cy="6858000"/>
          </a:xfrm>
          <a:prstGeom prst="rect">
            <a:avLst/>
          </a:prstGeom>
          <a:solidFill>
            <a:srgbClr val="1E1416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468880"/>
            <a:ext cx="6949440" cy="2377440"/>
          </a:xfrm>
          <a:prstGeom prst="rect">
            <a:avLst/>
          </a:prstGeom>
          <a:solidFill>
            <a:schemeClr val="tx2">
              <a:alpha val="88000"/>
            </a:schemeClr>
          </a:solidFill>
          <a:ln/>
        </p:spPr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01</a:t>
            </a:r>
            <a:endParaRPr lang="en-US" sz="54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章节标题</a:t>
            </a:r>
            <a:endParaRPr lang="en-US" sz="48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一句话说明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容页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0120" y="6400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美枣王 · 一口尝鲜，一路复购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页标题：写成一句结论</a:t>
            </a: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理论：如 PEST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chemeClr val="accent3"/>
                </a:solidFill>
              </a:defRPr>
            </a:lvl1pPr>
          </a:lstStyle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来源：如 联商网，2026.7；同龄人访谈，n=15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640080" y="13716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一口尝鲜，一路复购</a:t>
            </a:r>
            <a:endParaRPr lang="en-US" sz="4000" dirty="0"/>
          </a:p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美枣王在量贩零食店的年轻用户增长方案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640080" y="32918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如何让 18–25 岁年轻人在量贩零食店第一次尝鲜美枣王，并通过首购体验带动复购？</a:t>
            </a:r>
            <a:endParaRPr lang="en-US" sz="16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640080" y="5074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《数智商业模式创新》小组汇报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第【】组　组长：【】　组员：【】【】【】【】【】【】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2026 年【】月【】日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目录</a:t>
            </a:r>
            <a:endParaRPr lang="en-US" sz="4800" dirty="0"/>
          </a:p>
        </p:txBody>
      </p:sp>
      <p:sp>
        <p:nvSpPr>
          <p:cNvPr id="3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CONTENTS</a:t>
            </a:r>
            <a:endParaRPr lang="en-US" sz="54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提出问题 · 解决方案 · 落地执行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029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5029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背景与问题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50292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行业趋势 · 购买路径 · 核心问题 · 调研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577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5577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解决方案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108960" y="55778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种草—尝鲜—验证—复购闭环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126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61264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执行与收尾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61264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三步走 · 首轮成本 · 老板选项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01</a:t>
            </a:r>
            <a:endParaRPr lang="en-US" sz="54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背景与问题</a:t>
            </a:r>
            <a:endParaRPr lang="en-US" sz="4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Background &amp; Problem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量贩零食正在爆发，年轻人“尝鲜大于品牌”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理论：PEST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来源：鸣鸣很忙 2025 年度业绩；万辰集团招股书；GB 28050-2025；同龄人访谈，n=15</a:t>
            </a:r>
            <a:endParaRPr lang="en-US" sz="1000" dirty="0"/>
          </a:p>
        </p:txBody>
      </p:sp>
      <p:sp>
        <p:nvSpPr>
          <p:cNvPr id="5" name="pest-1"/>
          <p:cNvSpPr/>
          <p:nvPr/>
        </p:nvSpPr>
        <p:spPr>
          <a:xfrm>
            <a:off x="548640" y="128016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5448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1690268"/>
            <a:ext cx="231343" cy="231343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政策与经济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糖必标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营养标签新国标，2027.3 起强制标示糖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200400" y="21488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平价消费成主流，量贩靠低价、散称、多 SKU 吸引年轻人</a:t>
            </a:r>
            <a:endParaRPr lang="en-US" sz="1400" dirty="0"/>
          </a:p>
        </p:txBody>
      </p:sp>
      <p:sp>
        <p:nvSpPr>
          <p:cNvPr id="12" name="pest-2"/>
          <p:cNvSpPr/>
          <p:nvPr/>
        </p:nvSpPr>
        <p:spPr>
          <a:xfrm>
            <a:off x="6217920" y="128016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92240" y="155448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8028" y="1690268"/>
            <a:ext cx="231343" cy="23134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32320" y="1554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行业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92240" y="21945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75.5%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649224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头部两家量贩品牌合计份额（2025）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869680" y="21488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龙头门店超 2 万家，GMV 同比 +68.5%；品牌要触达年轻人，必须进量贩店</a:t>
            </a:r>
            <a:endParaRPr lang="en-US" sz="1400" dirty="0"/>
          </a:p>
        </p:txBody>
      </p:sp>
      <p:sp>
        <p:nvSpPr>
          <p:cNvPr id="19" name="pest-3"/>
          <p:cNvSpPr/>
          <p:nvPr/>
        </p:nvSpPr>
        <p:spPr>
          <a:xfrm>
            <a:off x="548640" y="347472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22960" y="374904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3884828"/>
            <a:ext cx="231343" cy="23134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463040" y="3749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社会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" y="4389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9 / 15</a:t>
            </a:r>
            <a:endParaRPr lang="en-US" sz="3000" dirty="0"/>
          </a:p>
        </p:txBody>
      </p:sp>
      <p:sp>
        <p:nvSpPr>
          <p:cNvPr id="24" name="Text 19"/>
          <p:cNvSpPr txBox="1"/>
          <p:nvPr/>
        </p:nvSpPr>
        <p:spPr>
          <a:xfrm>
            <a:off x="82296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同龄人吃完会查配料或含糖量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3200400" y="43434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尝鲜大于品牌，重视情绪价值，也越来越看重健康</a:t>
            </a:r>
            <a:endParaRPr lang="en-US" sz="1400" dirty="0"/>
          </a:p>
        </p:txBody>
      </p:sp>
      <p:sp>
        <p:nvSpPr>
          <p:cNvPr id="26" name="pest-4"/>
          <p:cNvSpPr/>
          <p:nvPr/>
        </p:nvSpPr>
        <p:spPr>
          <a:xfrm>
            <a:off x="6217920" y="347472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6492240" y="3749040"/>
            <a:ext cx="502920" cy="50292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8028" y="3884828"/>
            <a:ext cx="231343" cy="23134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132320" y="37490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技术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6492240" y="4389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成本↓</a:t>
            </a:r>
            <a:endParaRPr lang="en-US" sz="3000" dirty="0"/>
          </a:p>
        </p:txBody>
      </p:sp>
      <p:sp>
        <p:nvSpPr>
          <p:cNvPr id="31" name="Text 25"/>
          <p:cNvSpPr txBox="1"/>
          <p:nvPr/>
        </p:nvSpPr>
        <p:spPr>
          <a:xfrm>
            <a:off x="6492240" y="5029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AI 让内容制作和小范围测试更便宜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8869680" y="43434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品牌可以低成本、小步快跑地反复试错</a:t>
            </a:r>
            <a:endParaRPr lang="en-US" sz="1400" dirty="0"/>
          </a:p>
        </p:txBody>
      </p:sp>
      <p:sp>
        <p:nvSpPr>
          <p:cNvPr id="33" name="conclusion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34" name="Text 28"/>
          <p:cNvSpPr txBox="1"/>
          <p:nvPr/>
        </p:nvSpPr>
        <p:spPr>
          <a:xfrm>
            <a:off x="77724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渠道变了、人群变了、技术变了——枣类零食的卖法还没变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年轻人四步买零食，美枣王步步掉队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理论：购买决策路径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来源：同龄人访谈，n=15（组内经验萃取 7 人 + 身边同龄人 8 人）</a:t>
            </a:r>
            <a:endParaRPr lang="en-US" sz="1000" dirty="0"/>
          </a:p>
        </p:txBody>
      </p:sp>
      <p:sp>
        <p:nvSpPr>
          <p:cNvPr id="5" name="step-1"/>
          <p:cNvSpPr/>
          <p:nvPr/>
        </p:nvSpPr>
        <p:spPr>
          <a:xfrm>
            <a:off x="1577340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7734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217420" y="1554480"/>
            <a:ext cx="2096719" cy="0"/>
          </a:xfrm>
          <a:prstGeom prst="line">
            <a:avLst/>
          </a:prstGeom>
          <a:noFill/>
          <a:ln w="19050">
            <a:solidFill>
              <a:srgbClr val="7A1426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种草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刷小红书、抖音看到测评</a:t>
            </a:r>
            <a:endParaRPr lang="en-US" sz="1300" dirty="0"/>
          </a:p>
        </p:txBody>
      </p:sp>
      <p:sp>
        <p:nvSpPr>
          <p:cNvPr id="10" name="stuck-1"/>
          <p:cNvSpPr/>
          <p:nvPr/>
        </p:nvSpPr>
        <p:spPr>
          <a:xfrm>
            <a:off x="548640" y="2880360"/>
            <a:ext cx="26060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2926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线上几乎没人种草美枣王</a:t>
            </a:r>
            <a:endParaRPr lang="en-US" sz="1000" dirty="0"/>
          </a:p>
        </p:txBody>
      </p:sp>
      <p:sp>
        <p:nvSpPr>
          <p:cNvPr id="12" name="evidence-1"/>
          <p:cNvSpPr/>
          <p:nvPr/>
        </p:nvSpPr>
        <p:spPr>
          <a:xfrm>
            <a:off x="548640" y="406908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114800"/>
            <a:ext cx="2386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10/15</a:t>
            </a:r>
            <a:endParaRPr lang="en-US" sz="2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最近一次在小红书被种草</a:t>
            </a:r>
            <a:endParaRPr lang="en-US" sz="2600" dirty="0"/>
          </a:p>
        </p:txBody>
      </p:sp>
      <p:sp>
        <p:nvSpPr>
          <p:cNvPr id="14" name="step-2"/>
          <p:cNvSpPr/>
          <p:nvPr/>
        </p:nvSpPr>
        <p:spPr>
          <a:xfrm>
            <a:off x="4405579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405579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045659" y="1554480"/>
            <a:ext cx="2096719" cy="0"/>
          </a:xfrm>
          <a:prstGeom prst="line">
            <a:avLst/>
          </a:prstGeom>
          <a:noFill/>
          <a:ln w="19050">
            <a:solidFill>
              <a:srgbClr val="7A1426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376879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尝鲜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376879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去最近的量贩店买一小包，第一口不好吃就不再买</a:t>
            </a:r>
            <a:endParaRPr lang="en-US" sz="1300" dirty="0"/>
          </a:p>
        </p:txBody>
      </p:sp>
      <p:sp>
        <p:nvSpPr>
          <p:cNvPr id="19" name="stuck-2"/>
          <p:cNvSpPr/>
          <p:nvPr/>
        </p:nvSpPr>
        <p:spPr>
          <a:xfrm>
            <a:off x="3376879" y="2880360"/>
            <a:ext cx="26060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14039" y="2926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店里找不到；“枣”像养生品，不想试</a:t>
            </a:r>
            <a:endParaRPr lang="en-US" sz="1000" dirty="0"/>
          </a:p>
        </p:txBody>
      </p:sp>
      <p:sp>
        <p:nvSpPr>
          <p:cNvPr id="21" name="evidence-2"/>
          <p:cNvSpPr/>
          <p:nvPr/>
        </p:nvSpPr>
        <p:spPr>
          <a:xfrm>
            <a:off x="3376879" y="406908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86607" y="4114800"/>
            <a:ext cx="2386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15/15</a:t>
            </a:r>
            <a:endParaRPr lang="en-US" sz="2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第一次都在附近量贩店买</a:t>
            </a:r>
            <a:endParaRPr lang="en-US" sz="2600" dirty="0"/>
          </a:p>
        </p:txBody>
      </p:sp>
      <p:sp>
        <p:nvSpPr>
          <p:cNvPr id="23" name="step-3"/>
          <p:cNvSpPr/>
          <p:nvPr/>
        </p:nvSpPr>
        <p:spPr>
          <a:xfrm>
            <a:off x="7233818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3381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3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873898" y="1554480"/>
            <a:ext cx="2096719" cy="0"/>
          </a:xfrm>
          <a:prstGeom prst="line">
            <a:avLst/>
          </a:prstGeom>
          <a:noFill/>
          <a:ln w="19050">
            <a:solidFill>
              <a:srgbClr val="7A1426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205118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验证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205118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吃完查配料表、含糖量</a:t>
            </a:r>
            <a:endParaRPr lang="en-US" sz="1300" dirty="0"/>
          </a:p>
        </p:txBody>
      </p:sp>
      <p:sp>
        <p:nvSpPr>
          <p:cNvPr id="28" name="stuck-3"/>
          <p:cNvSpPr/>
          <p:nvPr/>
        </p:nvSpPr>
        <p:spPr>
          <a:xfrm>
            <a:off x="6205118" y="2880360"/>
            <a:ext cx="26060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42278" y="2926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包装没回答健康问题</a:t>
            </a:r>
            <a:endParaRPr lang="en-US" sz="1000" dirty="0"/>
          </a:p>
        </p:txBody>
      </p:sp>
      <p:sp>
        <p:nvSpPr>
          <p:cNvPr id="30" name="evidence-3"/>
          <p:cNvSpPr/>
          <p:nvPr/>
        </p:nvSpPr>
        <p:spPr>
          <a:xfrm>
            <a:off x="6205118" y="406908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14846" y="4114800"/>
            <a:ext cx="2386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2600" b="1" dirty="0">
                <a:solidFill>
                  <a:schemeClr val="accent1"/>
                </a:solidFill>
              </a:rPr>
              <a:t>9/15</a:t>
            </a:r>
            <a:endParaRPr lang="en-US" sz="2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吃完会查配料或含糖量</a:t>
            </a:r>
            <a:endParaRPr lang="en-US" sz="2600" dirty="0"/>
          </a:p>
        </p:txBody>
      </p:sp>
      <p:sp>
        <p:nvSpPr>
          <p:cNvPr id="32" name="step-4"/>
          <p:cNvSpPr/>
          <p:nvPr/>
        </p:nvSpPr>
        <p:spPr>
          <a:xfrm>
            <a:off x="10062058" y="128016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006205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4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9033358" y="1920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复购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033358" y="228600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认准一个品牌或一家店</a:t>
            </a:r>
            <a:endParaRPr lang="en-US" sz="1300" dirty="0"/>
          </a:p>
        </p:txBody>
      </p:sp>
      <p:sp>
        <p:nvSpPr>
          <p:cNvPr id="36" name="stuck-4"/>
          <p:cNvSpPr/>
          <p:nvPr/>
        </p:nvSpPr>
        <p:spPr>
          <a:xfrm>
            <a:off x="9033358" y="2880360"/>
            <a:ext cx="2606040" cy="1005840"/>
          </a:xfrm>
          <a:prstGeom prst="roundRect">
            <a:avLst>
              <a:gd name="adj" fmla="val 7273"/>
            </a:avLst>
          </a:prstGeom>
          <a:solidFill>
            <a:schemeClr val="accent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170518" y="29260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accent1"/>
                </a:solidFill>
              </a:rPr>
              <a:t>美枣王卡在这</a:t>
            </a:r>
            <a:endParaRPr lang="en-US" sz="10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没有再买的理由</a:t>
            </a:r>
            <a:endParaRPr lang="en-US" sz="1000" dirty="0"/>
          </a:p>
        </p:txBody>
      </p:sp>
      <p:sp>
        <p:nvSpPr>
          <p:cNvPr id="38" name="evidence-4"/>
          <p:cNvSpPr/>
          <p:nvPr/>
        </p:nvSpPr>
        <p:spPr>
          <a:xfrm>
            <a:off x="9033358" y="406908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3086" y="4114800"/>
            <a:ext cx="23865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“同一家店一直有货”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accent3"/>
                </a:solidFill>
              </a:rPr>
              <a:t>F1，大三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486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同龄人证据</a:t>
            </a:r>
            <a:endParaRPr lang="en-US" sz="1000" dirty="0"/>
          </a:p>
        </p:txBody>
      </p:sp>
      <p:sp>
        <p:nvSpPr>
          <p:cNvPr id="41" name="path-conclusion"/>
          <p:cNvSpPr/>
          <p:nvPr/>
        </p:nvSpPr>
        <p:spPr>
          <a:xfrm>
            <a:off x="548640" y="576072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77240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种草→尝鲜→验证→复购：问题不只在“第一次买”，而在买完之后没有被记住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难的不是首购，而是让首购变成复购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理论：购买决策路径 × 价值共创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来源：丁其磊访谈；鸣鸣很忙 2025 年度业绩</a:t>
            </a:r>
            <a:endParaRPr lang="en-US" sz="1000" dirty="0"/>
          </a:p>
        </p:txBody>
      </p:sp>
      <p:sp>
        <p:nvSpPr>
          <p:cNvPr id="5" name="core-question"/>
          <p:cNvSpPr/>
          <p:nvPr/>
        </p:nvSpPr>
        <p:spPr>
          <a:xfrm>
            <a:off x="548640" y="1280160"/>
            <a:ext cx="11091672" cy="1417320"/>
          </a:xfrm>
          <a:prstGeom prst="roundRect">
            <a:avLst>
              <a:gd name="adj" fmla="val 6452"/>
            </a:avLst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389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核心问题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916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如何让 18–25 岁年轻人在量贩零食店第一次尝鲜美枣王，并通过首购体验带动复购？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为什么这样定义　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年轻人本来就爱尝鲜，单纯提高首购意义不大——要在第一次体验里，就设计好让他们再买的理由。</a:t>
            </a:r>
            <a:endParaRPr lang="en-US" sz="1500" dirty="0"/>
          </a:p>
        </p:txBody>
      </p:sp>
      <p:sp>
        <p:nvSpPr>
          <p:cNvPr id="9" name="essence-1"/>
          <p:cNvSpPr/>
          <p:nvPr/>
        </p:nvSpPr>
        <p:spPr>
          <a:xfrm>
            <a:off x="548640" y="338328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本质一｜三段路径是断开的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4023360"/>
            <a:ext cx="1371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线上种草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40233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✕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514600" y="4023360"/>
            <a:ext cx="1371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51460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线下货架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86200" y="402336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✕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4023360"/>
            <a:ext cx="1371600" cy="457200"/>
          </a:xfrm>
          <a:prstGeom prst="roundRect">
            <a:avLst>
              <a:gd name="adj" fmla="val 16000"/>
            </a:avLst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产品体验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634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被种草了找不到店，买到了不知道健不健康</a:t>
            </a:r>
            <a:endParaRPr lang="en-US" sz="1400" dirty="0"/>
          </a:p>
        </p:txBody>
      </p:sp>
      <p:sp>
        <p:nvSpPr>
          <p:cNvPr id="20" name="essence-2"/>
          <p:cNvSpPr/>
          <p:nvPr/>
        </p:nvSpPr>
        <p:spPr>
          <a:xfrm>
            <a:off x="6217920" y="338328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92240" y="3520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本质二｜价值共创缺位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766560" y="3977640"/>
            <a:ext cx="548640" cy="548640"/>
          </a:xfrm>
          <a:prstGeom prst="ellipse">
            <a:avLst/>
          </a:prstGeom>
          <a:solidFill>
            <a:srgbClr val="F2E6DC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4693" y="4125773"/>
            <a:ext cx="252374" cy="252374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40080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品牌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12480" y="3977640"/>
            <a:ext cx="548640" cy="548640"/>
          </a:xfrm>
          <a:prstGeom prst="ellipse">
            <a:avLst/>
          </a:prstGeom>
          <a:solidFill>
            <a:srgbClr val="F2E6DC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0613" y="4125773"/>
            <a:ext cx="252374" cy="252374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804672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门店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10058400" y="3977640"/>
            <a:ext cx="548640" cy="548640"/>
          </a:xfrm>
          <a:prstGeom prst="ellipse">
            <a:avLst/>
          </a:prstGeom>
          <a:solidFill>
            <a:srgbClr val="F2E6DC"/>
          </a:solidFill>
          <a:ln/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6533" y="4125773"/>
            <a:ext cx="252374" cy="252374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9692640" y="45262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内容创作者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6492240" y="4846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各做各的，没有一起创造“第一次尝鲜”的体验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548640" y="5577840"/>
            <a:ext cx="457200" cy="457200"/>
          </a:xfrm>
          <a:prstGeom prst="ellipse">
            <a:avLst/>
          </a:prstGeom>
          <a:solidFill>
            <a:srgbClr val="F6DADE"/>
          </a:solidFill>
          <a:ln/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" y="5701284"/>
            <a:ext cx="210312" cy="210312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1097280" y="553212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买零食“更多的是”尝鲜，口感不差“就会继续再买”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企业导师 丁其磊老师；渠道是“买手”，会到工厂来选货</a:t>
            </a:r>
            <a:endParaRPr lang="en-US" sz="1300" dirty="0"/>
          </a:p>
        </p:txBody>
      </p:sp>
      <p:sp>
        <p:nvSpPr>
          <p:cNvPr id="35" name="Text 29"/>
          <p:cNvSpPr txBox="1"/>
          <p:nvPr/>
        </p:nvSpPr>
        <p:spPr>
          <a:xfrm>
            <a:off x="6400800" y="5532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76%</a:t>
            </a:r>
            <a:endParaRPr lang="en-US" sz="2800" dirty="0"/>
          </a:p>
        </p:txBody>
      </p:sp>
      <p:sp>
        <p:nvSpPr>
          <p:cNvPr id="36" name="Text 30"/>
          <p:cNvSpPr txBox="1"/>
          <p:nvPr/>
        </p:nvSpPr>
        <p:spPr>
          <a:xfrm>
            <a:off x="7498080" y="55321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行业龙头会员复购率（2025）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渠道已经留得住人，品牌要让自己被记住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我们的调研：4 种方法、1 条证据链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方法：定性优先 · 交叉验证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来源：同龄人访谈，n=15；丁其磊访谈逐字稿；小红书笔记 AI 分析（人工复核）；门店走访</a:t>
            </a:r>
            <a:endParaRPr lang="en-US" sz="1000" dirty="0"/>
          </a:p>
        </p:txBody>
      </p:sp>
      <p:sp>
        <p:nvSpPr>
          <p:cNvPr id="5" name="method-1"/>
          <p:cNvSpPr/>
          <p:nvPr/>
        </p:nvSpPr>
        <p:spPr>
          <a:xfrm>
            <a:off x="548640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437" y="1669237"/>
            <a:ext cx="273406" cy="27340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331720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01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同龄人访谈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组内经验萃取 7 人 + 身边同龄人 8 人，同样 4 个问题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2960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画出四步购买路径</a:t>
            </a:r>
            <a:endParaRPr lang="en-US" sz="1300" dirty="0"/>
          </a:p>
        </p:txBody>
      </p:sp>
      <p:sp>
        <p:nvSpPr>
          <p:cNvPr id="13" name="method-2"/>
          <p:cNvSpPr/>
          <p:nvPr/>
        </p:nvSpPr>
        <p:spPr>
          <a:xfrm>
            <a:off x="3376879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1199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676" y="1669237"/>
            <a:ext cx="273406" cy="27340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59959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02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3651199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小红书内容分析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3651199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归纳“量贩零食”“枣零食”笔记的热门卖点和评论关注点，人工复核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3651199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651199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定种草卖点（方案①）</a:t>
            </a:r>
            <a:endParaRPr lang="en-US" sz="1300" dirty="0"/>
          </a:p>
        </p:txBody>
      </p:sp>
      <p:sp>
        <p:nvSpPr>
          <p:cNvPr id="21" name="method-3"/>
          <p:cNvSpPr/>
          <p:nvPr/>
        </p:nvSpPr>
        <p:spPr>
          <a:xfrm>
            <a:off x="6205118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79438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916" y="1669237"/>
            <a:ext cx="273406" cy="27340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988198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03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6479438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专家访谈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479438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企业导师丁其磊老师访谈，整理成逐字稿</a:t>
            </a:r>
            <a:endParaRPr lang="en-US" sz="1400" dirty="0"/>
          </a:p>
        </p:txBody>
      </p:sp>
      <p:sp>
        <p:nvSpPr>
          <p:cNvPr id="27" name="Shape 22"/>
          <p:cNvSpPr/>
          <p:nvPr/>
        </p:nvSpPr>
        <p:spPr>
          <a:xfrm>
            <a:off x="6479438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79438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判断渠道规则和 AI 边界（方案②④）</a:t>
            </a:r>
            <a:endParaRPr lang="en-US" sz="1300" dirty="0"/>
          </a:p>
        </p:txBody>
      </p:sp>
      <p:sp>
        <p:nvSpPr>
          <p:cNvPr id="29" name="method-4"/>
          <p:cNvSpPr/>
          <p:nvPr/>
        </p:nvSpPr>
        <p:spPr>
          <a:xfrm>
            <a:off x="9033358" y="1280160"/>
            <a:ext cx="2606040" cy="35204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07678" y="1508760"/>
            <a:ext cx="594360" cy="594360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8155" y="1669237"/>
            <a:ext cx="273406" cy="273406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10816438" y="150876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04</a:t>
            </a:r>
            <a:endParaRPr lang="en-US" sz="2000" dirty="0"/>
          </a:p>
        </p:txBody>
      </p:sp>
      <p:sp>
        <p:nvSpPr>
          <p:cNvPr id="33" name="Text 27"/>
          <p:cNvSpPr txBox="1"/>
          <p:nvPr/>
        </p:nvSpPr>
        <p:spPr>
          <a:xfrm>
            <a:off x="9307678" y="22402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门店走访</a:t>
            </a:r>
            <a:endParaRPr lang="en-US" sz="1600" dirty="0"/>
          </a:p>
        </p:txBody>
      </p:sp>
      <p:sp>
        <p:nvSpPr>
          <p:cNvPr id="34" name="Text 28"/>
          <p:cNvSpPr txBox="1"/>
          <p:nvPr/>
        </p:nvSpPr>
        <p:spPr>
          <a:xfrm>
            <a:off x="9307678" y="269748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走访学校周边量贩零食店，记录新品陈列位置</a:t>
            </a:r>
            <a:endParaRPr lang="en-US" sz="1400" dirty="0"/>
          </a:p>
        </p:txBody>
      </p:sp>
      <p:sp>
        <p:nvSpPr>
          <p:cNvPr id="35" name="Shape 29"/>
          <p:cNvSpPr/>
          <p:nvPr/>
        </p:nvSpPr>
        <p:spPr>
          <a:xfrm>
            <a:off x="9307678" y="3840480"/>
            <a:ext cx="2057400" cy="0"/>
          </a:xfrm>
          <a:prstGeom prst="line">
            <a:avLst/>
          </a:prstGeom>
          <a:noFill/>
          <a:ln w="9525">
            <a:solidFill>
              <a:srgbClr val="D9CBC4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9307678" y="3931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用来 → </a:t>
            </a:r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设计货架方案（方案②）</a:t>
            </a:r>
            <a:endParaRPr lang="en-US" sz="1300" dirty="0"/>
          </a:p>
        </p:txBody>
      </p:sp>
      <p:sp>
        <p:nvSpPr>
          <p:cNvPr id="37" name="workload"/>
          <p:cNvSpPr/>
          <p:nvPr/>
        </p:nvSpPr>
        <p:spPr>
          <a:xfrm>
            <a:off x="548640" y="49834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548640" y="4983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15 位同龄人　｜　AI 分析小红书相关笔记　｜　1 次企业导师访谈　｜　走访学校周边门店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问卷怎么用　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问卷只适合问题已经明确、要验证比例的时候用，所以放在第二步开始前，验证卖点和复购钩子（约 200 份，设计见执行部分）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02</a:t>
            </a:r>
            <a:endParaRPr lang="en-US" sz="54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解决方案</a:t>
            </a:r>
            <a:endParaRPr lang="en-US" sz="4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Solution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640080" y="1097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2"/>
                </a:solidFill>
              </a:rPr>
              <a:t>PART 03</a:t>
            </a:r>
            <a:endParaRPr lang="en-US" sz="54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640080" y="26974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执行与收尾</a:t>
            </a:r>
            <a:endParaRPr lang="en-US" sz="4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640080" y="38862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Execution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总结：从一次尝鲜到长期复购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9144000" y="457200"/>
            <a:ext cx="2496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回扣核心问题</a:t>
            </a:r>
            <a:endParaRPr lang="en-US" sz="12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572000" y="6382512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来源：成本为第一步测算（假设值），见执行部分</a:t>
            </a:r>
            <a:endParaRPr lang="en-US" sz="1000" dirty="0"/>
          </a:p>
        </p:txBody>
      </p:sp>
      <p:sp>
        <p:nvSpPr>
          <p:cNvPr id="5" name="core-question"/>
          <p:cNvSpPr/>
          <p:nvPr/>
        </p:nvSpPr>
        <p:spPr>
          <a:xfrm>
            <a:off x="548640" y="128016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tx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28016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如何让 18–25 岁年轻人在量贩零食店第一次尝鲜美枣王，并通过首购体验带动复购？</a:t>
            </a:r>
            <a:endParaRPr lang="en-US" sz="2000" dirty="0"/>
          </a:p>
        </p:txBody>
      </p:sp>
      <p:sp>
        <p:nvSpPr>
          <p:cNvPr id="7" name="summary-1"/>
          <p:cNvSpPr/>
          <p:nvPr/>
        </p:nvSpPr>
        <p:spPr>
          <a:xfrm>
            <a:off x="548640" y="246888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2596896"/>
            <a:ext cx="521208" cy="521208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966" y="2737622"/>
            <a:ext cx="239756" cy="2397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08760" y="246888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问题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606040" y="246888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首购没有变成复购</a:t>
            </a:r>
            <a:endParaRPr lang="en-US" sz="2200" dirty="0"/>
          </a:p>
        </p:txBody>
      </p:sp>
      <p:sp>
        <p:nvSpPr>
          <p:cNvPr id="12" name="summary-2"/>
          <p:cNvSpPr/>
          <p:nvPr/>
        </p:nvSpPr>
        <p:spPr>
          <a:xfrm>
            <a:off x="548640" y="342900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3557016"/>
            <a:ext cx="521208" cy="521208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966" y="3697742"/>
            <a:ext cx="239756" cy="23975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508760" y="342900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方案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2606040" y="342900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种草—尝鲜—验证—复购闭环</a:t>
            </a:r>
            <a:endParaRPr lang="en-US" sz="2200" dirty="0"/>
          </a:p>
        </p:txBody>
      </p:sp>
      <p:sp>
        <p:nvSpPr>
          <p:cNvPr id="17" name="summary-3"/>
          <p:cNvSpPr/>
          <p:nvPr/>
        </p:nvSpPr>
        <p:spPr>
          <a:xfrm>
            <a:off x="548640" y="43891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9CBC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7240" y="4517136"/>
            <a:ext cx="521208" cy="521208"/>
          </a:xfrm>
          <a:prstGeom prst="ellipse">
            <a:avLst/>
          </a:prstGeom>
          <a:solidFill>
            <a:srgbClr val="7A142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966" y="4657862"/>
            <a:ext cx="239756" cy="2397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508760" y="43891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落地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2606040" y="438912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校园起步，4 周、约 2600 元，跑通即可复制</a:t>
            </a:r>
            <a:endParaRPr 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展望　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从一所学校跑通，变成美枣王在全国量贩渠道的年轻化增长模式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640080" y="137160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谢谢！欢迎提问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640080" y="32918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让年轻人第一口就爱上，第二包自然会来。</a:t>
            </a:r>
            <a:endParaRPr lang="en-US" sz="16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640080" y="50749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第【】组　组长：【】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组员：【】【】【】【】【】【】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izaoWang v4">
  <a:themeElements>
    <a:clrScheme name="MeizaoWang v4">
      <a:dk1>
        <a:srgbClr val="3A3536"/>
      </a:dk1>
      <a:lt1>
        <a:srgbClr val="FFFFFF"/>
      </a:lt1>
      <a:dk2>
        <a:srgbClr val="7A1426"/>
      </a:dk2>
      <a:lt2>
        <a:srgbClr val="FAF6F0"/>
      </a:lt2>
      <a:accent1>
        <a:srgbClr val="B3203A"/>
      </a:accent1>
      <a:accent2>
        <a:srgbClr val="F2E6DC"/>
      </a:accent2>
      <a:accent3>
        <a:srgbClr val="8A8083"/>
      </a:accent3>
      <a:accent4>
        <a:srgbClr val="D9CBC4"/>
      </a:accent4>
      <a:accent5>
        <a:srgbClr val="F6DADE"/>
      </a:accent5>
      <a:accent6>
        <a:srgbClr val="5A5255"/>
      </a:accent6>
      <a:hlink>
        <a:srgbClr val="B3203A"/>
      </a:hlink>
      <a:folHlink>
        <a:srgbClr val="7A1426"/>
      </a:folHlink>
    </a:clrScheme>
    <a:fontScheme name="MeizaoWang v4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一口尝鲜，一路复购</dc:title>
  <dc:subject>数智商业模式创新 小组汇报</dc:subject>
  <dc:creator>PptxGenJS</dc:creator>
  <cp:lastModifiedBy>PptxGenJS</cp:lastModifiedBy>
  <cp:revision>1</cp:revision>
  <dcterms:created xsi:type="dcterms:W3CDTF">2026-10-29T05:29:46Z</dcterms:created>
  <dcterms:modified xsi:type="dcterms:W3CDTF">2026-10-29T05:29:46Z</dcterms:modified>
</cp:coreProperties>
</file>