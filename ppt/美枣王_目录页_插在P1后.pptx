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【A｜约 5 秒，带过即可】我们按“提出问题、分析问题、解决问题”三步来讲，重点是第三部分的“3秒首购计划”。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74980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标题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520440"/>
            <a:ext cx="74980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副标题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4846320"/>
            <a:ext cx="74980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组长 / 组员 / 课程 / 日期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页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美枣王 · 3秒首购计划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8915400" y="530352"/>
            <a:ext cx="566928" cy="310896"/>
          </a:xfrm>
          <a:prstGeom prst="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/>
          <p:nvPr/>
        </p:nvSpPr>
        <p:spPr>
          <a:xfrm>
            <a:off x="8915400" y="53035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理论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90372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来源</a:t>
            </a:r>
            <a:endParaRPr lang="en-US" sz="1000" dirty="0"/>
          </a:p>
        </p:txBody>
      </p:sp>
      <p:sp>
        <p:nvSpPr>
          <p:cNvPr id="6" name="Text 4"/>
          <p:cNvSpPr/>
          <p:nvPr>
            <p:ph idx="104" type="title" hasCustomPrompt="1"/>
          </p:nvPr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页面标题：一句话结论</a:t>
            </a:r>
            <a:endParaRPr lang="en-US" sz="3000" dirty="0"/>
          </a:p>
        </p:txBody>
      </p:sp>
      <p:sp>
        <p:nvSpPr>
          <p:cNvPr id="7" name="Text 4"/>
          <p:cNvSpPr/>
          <p:nvPr>
            <p:ph idx="105" type="body" hasCustomPrompt="1"/>
          </p:nvPr>
        </p:nvSpPr>
        <p:spPr>
          <a:xfrm>
            <a:off x="9555480" y="475488"/>
            <a:ext cx="210312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如：价值网络</a:t>
            </a:r>
            <a:endParaRPr lang="en-US" sz="1200" dirty="0"/>
          </a:p>
        </p:txBody>
      </p:sp>
      <p:sp>
        <p:nvSpPr>
          <p:cNvPr id="8" name="Text 4"/>
          <p:cNvSpPr/>
          <p:nvPr>
            <p:ph idx="106" type="body" hasCustomPrompt="1"/>
          </p:nvPr>
        </p:nvSpPr>
        <p:spPr>
          <a:xfrm>
            <a:off x="7360920" y="6336792"/>
            <a:ext cx="42976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如：面访 n=12；门店观察 3 店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方案页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美枣王 · 3秒首购计划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8915400" y="530352"/>
            <a:ext cx="566928" cy="310896"/>
          </a:xfrm>
          <a:prstGeom prst="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/>
          <p:nvPr/>
        </p:nvSpPr>
        <p:spPr>
          <a:xfrm>
            <a:off x="8915400" y="53035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理论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90372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来源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6035040" cy="4846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1280160"/>
            <a:ext cx="4782312" cy="48463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做什么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调研证据</a:t>
            </a:r>
            <a:endParaRPr lang="en-US" sz="1600" dirty="0"/>
          </a:p>
        </p:txBody>
      </p:sp>
      <p:sp>
        <p:nvSpPr>
          <p:cNvPr id="10" name="Text 8"/>
          <p:cNvSpPr/>
          <p:nvPr>
            <p:ph idx="108" type="title" hasCustomPrompt="1"/>
          </p:nvPr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① 分方案标题</a:t>
            </a:r>
            <a:endParaRPr lang="en-US" sz="3000" dirty="0"/>
          </a:p>
        </p:txBody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9555480" y="475488"/>
            <a:ext cx="210312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如：模块化</a:t>
            </a:r>
            <a:endParaRPr lang="en-US" sz="1200" dirty="0"/>
          </a:p>
        </p:txBody>
      </p:sp>
      <p:sp>
        <p:nvSpPr>
          <p:cNvPr id="12" name="Text 8"/>
          <p:cNvSpPr/>
          <p:nvPr>
            <p:ph idx="110" type="body" hasCustomPrompt="1"/>
          </p:nvPr>
        </p:nvSpPr>
        <p:spPr>
          <a:xfrm>
            <a:off x="822960" y="1965960"/>
            <a:ext cx="5486400" cy="3931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具体动作（3-4 条）</a:t>
            </a:r>
            <a:endParaRPr lang="en-US" sz="1600" dirty="0"/>
          </a:p>
        </p:txBody>
      </p:sp>
      <p:sp>
        <p:nvSpPr>
          <p:cNvPr id="13" name="Text 8"/>
          <p:cNvSpPr/>
          <p:nvPr>
            <p:ph idx="111" type="body" hasCustomPrompt="1"/>
          </p:nvPr>
        </p:nvSpPr>
        <p:spPr>
          <a:xfrm>
            <a:off x="7132320" y="1965960"/>
            <a:ext cx="4251960" cy="3931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对应调研数据 / 受访者原话</a:t>
            </a:r>
            <a:endParaRPr lang="en-US" sz="1600" dirty="0"/>
          </a:p>
        </p:txBody>
      </p:sp>
      <p:sp>
        <p:nvSpPr>
          <p:cNvPr id="14" name="Text 8"/>
          <p:cNvSpPr/>
          <p:nvPr>
            <p:ph idx="112" type="body" hasCustomPrompt="1"/>
          </p:nvPr>
        </p:nvSpPr>
        <p:spPr>
          <a:xfrm>
            <a:off x="7360920" y="6336792"/>
            <a:ext cx="42976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如：面访 n=12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c-panel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oc-title"/>
          <p:cNvSpPr txBox="1"/>
          <p:nvPr/>
        </p:nvSpPr>
        <p:spPr>
          <a:xfrm>
            <a:off x="640080" y="22402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目录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54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chemeClr val="accent2"/>
                </a:solidFill>
              </a:rPr>
              <a:t>CONTENTS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840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提出问题 → 分析问题 → 解决问题</a:t>
            </a:r>
            <a:endParaRPr lang="en-US" sz="1300" dirty="0"/>
          </a:p>
        </p:txBody>
      </p:sp>
      <p:sp>
        <p:nvSpPr>
          <p:cNvPr id="6" name="toc-row-1"/>
          <p:cNvSpPr/>
          <p:nvPr/>
        </p:nvSpPr>
        <p:spPr>
          <a:xfrm>
            <a:off x="4663440" y="1051560"/>
            <a:ext cx="6976872" cy="1097280"/>
          </a:xfrm>
          <a:prstGeom prst="roundRect">
            <a:avLst>
              <a:gd name="adj" fmla="val 10000"/>
            </a:avLst>
          </a:prstGeom>
          <a:solidFill>
            <a:srgbClr val="F5EEF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937760" y="105156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01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05156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背景与问题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4"/>
                </a:solidFill>
              </a:rPr>
              <a:t>时代背景、企业家原问题、现有方案、问题本质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424160" y="105156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P3-P6</a:t>
            </a:r>
            <a:endParaRPr lang="en-US" sz="1300" dirty="0"/>
          </a:p>
        </p:txBody>
      </p:sp>
      <p:sp>
        <p:nvSpPr>
          <p:cNvPr id="10" name="toc-row-2"/>
          <p:cNvSpPr/>
          <p:nvPr/>
        </p:nvSpPr>
        <p:spPr>
          <a:xfrm>
            <a:off x="4663440" y="2331720"/>
            <a:ext cx="6976872" cy="1097280"/>
          </a:xfrm>
          <a:prstGeom prst="roundRect">
            <a:avLst>
              <a:gd name="adj" fmla="val 10000"/>
            </a:avLst>
          </a:prstGeom>
          <a:solidFill>
            <a:srgbClr val="F5EEF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37760" y="233172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02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33172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调研设计与发现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4"/>
                </a:solidFill>
              </a:rPr>
              <a:t>价值链环节、利益相关者、面访 / 观察 / 人机对比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0424160" y="233172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P7-P9</a:t>
            </a:r>
            <a:endParaRPr lang="en-US" sz="1300" dirty="0"/>
          </a:p>
        </p:txBody>
      </p:sp>
      <p:sp>
        <p:nvSpPr>
          <p:cNvPr id="14" name="toc-row-3"/>
          <p:cNvSpPr/>
          <p:nvPr/>
        </p:nvSpPr>
        <p:spPr>
          <a:xfrm>
            <a:off x="4663440" y="3611880"/>
            <a:ext cx="6976872" cy="1097280"/>
          </a:xfrm>
          <a:prstGeom prst="roundRect">
            <a:avLst>
              <a:gd name="adj" fmla="val 10000"/>
            </a:avLst>
          </a:prstGeom>
          <a:solidFill>
            <a:srgbClr val="B320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937760" y="361188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03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361188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方案：3 秒首购计划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货架尝鲜体验共创：总览 + 四个分方案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0424160" y="361188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P10-P14</a:t>
            </a:r>
            <a:endParaRPr lang="en-US" sz="1300" dirty="0"/>
          </a:p>
        </p:txBody>
      </p:sp>
      <p:sp>
        <p:nvSpPr>
          <p:cNvPr id="18" name="toc-row-4"/>
          <p:cNvSpPr/>
          <p:nvPr/>
        </p:nvSpPr>
        <p:spPr>
          <a:xfrm>
            <a:off x="4663440" y="4892040"/>
            <a:ext cx="6976872" cy="1097280"/>
          </a:xfrm>
          <a:prstGeom prst="roundRect">
            <a:avLst>
              <a:gd name="adj" fmla="val 10000"/>
            </a:avLst>
          </a:prstGeom>
          <a:solidFill>
            <a:srgbClr val="F5EEF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937760" y="48920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04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489204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实施与总结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4"/>
                </a:solidFill>
              </a:rPr>
              <a:t>分阶段路线、资源与 KPI、回扣问题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0424160" y="48920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P15-P17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izaoWang 3s">
  <a:themeElements>
    <a:clrScheme name="MeizaoWang 3s">
      <a:dk1>
        <a:srgbClr val="2A1A1D"/>
      </a:dk1>
      <a:lt1>
        <a:srgbClr val="FFFFFF"/>
      </a:lt1>
      <a:dk2>
        <a:srgbClr val="7A1426"/>
      </a:dk2>
      <a:lt2>
        <a:srgbClr val="F5EEF0"/>
      </a:lt2>
      <a:accent1>
        <a:srgbClr val="B3203A"/>
      </a:accent1>
      <a:accent2>
        <a:srgbClr val="FFB61E"/>
      </a:accent2>
      <a:accent3>
        <a:srgbClr val="2F7D68"/>
      </a:accent3>
      <a:accent4>
        <a:srgbClr val="6E6266"/>
      </a:accent4>
      <a:accent5>
        <a:srgbClr val="F7D9DE"/>
      </a:accent5>
      <a:accent6>
        <a:srgbClr val="DCEFE8"/>
      </a:accent6>
      <a:hlink>
        <a:srgbClr val="B3203A"/>
      </a:hlink>
      <a:folHlink>
        <a:srgbClr val="7A1426"/>
      </a:folHlink>
    </a:clrScheme>
    <a:fontScheme name="MeizaoWang 3s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3秒首购：美枣王首购率方案</dc:title>
  <dc:subject>数智商业创新 小组作业</dc:subject>
  <dc:creator>PptxGenJS</dc:creator>
  <cp:lastModifiedBy>PptxGenJS</cp:lastModifiedBy>
  <cp:revision>1</cp:revision>
  <dcterms:created xsi:type="dcterms:W3CDTF">2026-10-26T06:36:22Z</dcterms:created>
  <dcterms:modified xsi:type="dcterms:W3CDTF">2026-10-26T06:36:22Z</dcterms:modified>
</cp:coreProperties>
</file>