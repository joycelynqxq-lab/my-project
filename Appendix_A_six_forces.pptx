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44568" y="2720340"/>
            <a:ext cx="3108960" cy="1417320"/>
          </a:xfrm>
          <a:prstGeom prst="roundRect">
            <a:avLst/>
          </a:prstGeom>
          <a:solidFill>
            <a:srgbClr val="FFF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Times New Roman"/>
              </a:rPr>
              <a:t>The degree of existing rivalry</a:t>
            </a:r>
          </a:p>
          <a:p>
            <a:pPr algn="ctr"/>
            <a:r>
              <a:rPr sz="1300" b="1">
                <a:solidFill>
                  <a:srgbClr val="C00000"/>
                </a:solidFill>
                <a:latin typeface="Times New Roman"/>
              </a:rPr>
              <a:t>HIGH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Times New Roman"/>
              </a:rPr>
              <a:t>Price war; overcapacity; high exit barriers</a:t>
            </a:r>
          </a:p>
        </p:txBody>
      </p:sp>
      <p:sp>
        <p:nvSpPr>
          <p:cNvPr id="3" name="Oval 2"/>
          <p:cNvSpPr/>
          <p:nvPr/>
        </p:nvSpPr>
        <p:spPr>
          <a:xfrm>
            <a:off x="4315968" y="2446020"/>
            <a:ext cx="548640" cy="548640"/>
          </a:xfrm>
          <a:prstGeom prst="ellipse">
            <a:avLst/>
          </a:prstGeom>
          <a:solidFill>
            <a:srgbClr val="537D3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44568" y="434340"/>
            <a:ext cx="3108960" cy="1417320"/>
          </a:xfrm>
          <a:prstGeom prst="roundRect">
            <a:avLst/>
          </a:prstGeom>
          <a:solidFill>
            <a:srgbClr val="FFF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Times New Roman"/>
              </a:rPr>
              <a:t>Threat of potential entrants</a:t>
            </a:r>
          </a:p>
          <a:p>
            <a:pPr algn="ctr"/>
            <a:r>
              <a:rPr sz="1300" b="1">
                <a:solidFill>
                  <a:srgbClr val="C55A11"/>
                </a:solidFill>
                <a:latin typeface="Times New Roman"/>
              </a:rPr>
              <a:t>MEDIUM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Times New Roman"/>
              </a:rPr>
              <a:t>Capital &amp; policy barriers; tech entrants</a:t>
            </a:r>
          </a:p>
        </p:txBody>
      </p:sp>
      <p:sp>
        <p:nvSpPr>
          <p:cNvPr id="5" name="Oval 4"/>
          <p:cNvSpPr/>
          <p:nvPr/>
        </p:nvSpPr>
        <p:spPr>
          <a:xfrm>
            <a:off x="4315968" y="160020"/>
            <a:ext cx="548640" cy="548640"/>
          </a:xfrm>
          <a:prstGeom prst="ellipse">
            <a:avLst/>
          </a:prstGeom>
          <a:solidFill>
            <a:srgbClr val="537D3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720340"/>
            <a:ext cx="3108960" cy="1417320"/>
          </a:xfrm>
          <a:prstGeom prst="roundRect">
            <a:avLst/>
          </a:prstGeom>
          <a:solidFill>
            <a:srgbClr val="FFF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Times New Roman"/>
              </a:rPr>
              <a:t>Bargaining power of suppliers</a:t>
            </a:r>
          </a:p>
          <a:p>
            <a:pPr algn="ctr"/>
            <a:r>
              <a:rPr sz="1300" b="1">
                <a:solidFill>
                  <a:srgbClr val="C00000"/>
                </a:solidFill>
                <a:latin typeface="Times New Roman"/>
              </a:rPr>
              <a:t>HIGH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Times New Roman"/>
              </a:rPr>
              <a:t>Concentrated battery makers; critical minerals</a:t>
            </a:r>
          </a:p>
        </p:txBody>
      </p:sp>
      <p:sp>
        <p:nvSpPr>
          <p:cNvPr id="7" name="Oval 6"/>
          <p:cNvSpPr/>
          <p:nvPr/>
        </p:nvSpPr>
        <p:spPr>
          <a:xfrm>
            <a:off x="137160" y="2446020"/>
            <a:ext cx="548640" cy="548640"/>
          </a:xfrm>
          <a:prstGeom prst="ellipse">
            <a:avLst/>
          </a:prstGeom>
          <a:solidFill>
            <a:srgbClr val="537D3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303020"/>
            <a:ext cx="3108960" cy="1417320"/>
          </a:xfrm>
          <a:prstGeom prst="roundRect">
            <a:avLst/>
          </a:prstGeom>
          <a:solidFill>
            <a:srgbClr val="FFF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Times New Roman"/>
              </a:rPr>
              <a:t>Bargaining power of buyers</a:t>
            </a:r>
          </a:p>
          <a:p>
            <a:pPr algn="ctr"/>
            <a:r>
              <a:rPr sz="1300" b="1">
                <a:solidFill>
                  <a:srgbClr val="C03A00"/>
                </a:solidFill>
                <a:latin typeface="Times New Roman"/>
              </a:rPr>
              <a:t>MEDIUM–HIGH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Times New Roman"/>
              </a:rPr>
              <a:t>Low switching costs; subsidy cuts</a:t>
            </a:r>
          </a:p>
        </p:txBody>
      </p:sp>
      <p:sp>
        <p:nvSpPr>
          <p:cNvPr id="9" name="Oval 8"/>
          <p:cNvSpPr/>
          <p:nvPr/>
        </p:nvSpPr>
        <p:spPr>
          <a:xfrm>
            <a:off x="8458200" y="1028700"/>
            <a:ext cx="548640" cy="548640"/>
          </a:xfrm>
          <a:prstGeom prst="ellipse">
            <a:avLst/>
          </a:prstGeom>
          <a:solidFill>
            <a:srgbClr val="537D3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44568" y="5006340"/>
            <a:ext cx="3108960" cy="1417320"/>
          </a:xfrm>
          <a:prstGeom prst="roundRect">
            <a:avLst/>
          </a:prstGeom>
          <a:solidFill>
            <a:srgbClr val="FFF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Times New Roman"/>
              </a:rPr>
              <a:t>Threat of substitutes</a:t>
            </a:r>
          </a:p>
          <a:p>
            <a:pPr algn="ctr"/>
            <a:r>
              <a:rPr sz="1300" b="1">
                <a:solidFill>
                  <a:srgbClr val="C55A11"/>
                </a:solidFill>
                <a:latin typeface="Times New Roman"/>
              </a:rPr>
              <a:t>MEDIUM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Times New Roman"/>
              </a:rPr>
              <a:t>Hybrids &amp; ICE cars; transit; robotaxis</a:t>
            </a:r>
          </a:p>
        </p:txBody>
      </p:sp>
      <p:sp>
        <p:nvSpPr>
          <p:cNvPr id="11" name="Oval 10"/>
          <p:cNvSpPr/>
          <p:nvPr/>
        </p:nvSpPr>
        <p:spPr>
          <a:xfrm>
            <a:off x="4315968" y="4732020"/>
            <a:ext cx="548640" cy="548640"/>
          </a:xfrm>
          <a:prstGeom prst="ellipse">
            <a:avLst/>
          </a:prstGeom>
          <a:solidFill>
            <a:srgbClr val="537D3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4274820"/>
            <a:ext cx="3108960" cy="1417320"/>
          </a:xfrm>
          <a:prstGeom prst="roundRect">
            <a:avLst/>
          </a:prstGeom>
          <a:solidFill>
            <a:srgbClr val="FFF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Times New Roman"/>
              </a:rPr>
              <a:t>Complements</a:t>
            </a:r>
          </a:p>
          <a:p>
            <a:pPr algn="ctr"/>
            <a:r>
              <a:rPr sz="1300" b="1">
                <a:solidFill>
                  <a:srgbClr val="1F4E99"/>
                </a:solidFill>
                <a:latin typeface="Times New Roman"/>
              </a:rPr>
              <a:t>KEY SWING FACTOR</a:t>
            </a:r>
          </a:p>
          <a:p>
            <a:pPr algn="ctr"/>
            <a:r>
              <a:rPr sz="1100" b="0">
                <a:solidFill>
                  <a:srgbClr val="333333"/>
                </a:solidFill>
                <a:latin typeface="Times New Roman"/>
              </a:rPr>
              <a:t>Charging network; software; power grid</a:t>
            </a:r>
          </a:p>
        </p:txBody>
      </p:sp>
      <p:sp>
        <p:nvSpPr>
          <p:cNvPr id="13" name="Oval 12"/>
          <p:cNvSpPr/>
          <p:nvPr/>
        </p:nvSpPr>
        <p:spPr>
          <a:xfrm>
            <a:off x="8458200" y="4000500"/>
            <a:ext cx="548640" cy="548640"/>
          </a:xfrm>
          <a:prstGeom prst="ellipse">
            <a:avLst/>
          </a:prstGeom>
          <a:solidFill>
            <a:srgbClr val="537D3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14" name="Right Arrow 13"/>
          <p:cNvSpPr/>
          <p:nvPr/>
        </p:nvSpPr>
        <p:spPr>
          <a:xfrm rot="5400000">
            <a:off x="5687568" y="2084832"/>
            <a:ext cx="822960" cy="402336"/>
          </a:xfrm>
          <a:prstGeom prst="rightArrow">
            <a:avLst/>
          </a:prstGeom>
          <a:solidFill>
            <a:srgbClr val="8A9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3552444" y="3227832"/>
            <a:ext cx="914400" cy="402336"/>
          </a:xfrm>
          <a:prstGeom prst="rightArrow">
            <a:avLst/>
          </a:prstGeom>
          <a:solidFill>
            <a:srgbClr val="8A9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 rot="16200000">
            <a:off x="5687568" y="4370832"/>
            <a:ext cx="822960" cy="402336"/>
          </a:xfrm>
          <a:prstGeom prst="rightArrow">
            <a:avLst/>
          </a:prstGeom>
          <a:solidFill>
            <a:srgbClr val="8A9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 rot="9300000">
            <a:off x="7749540" y="2679192"/>
            <a:ext cx="685800" cy="402336"/>
          </a:xfrm>
          <a:prstGeom prst="rightArrow">
            <a:avLst/>
          </a:prstGeom>
          <a:solidFill>
            <a:srgbClr val="8A9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 rot="12300000">
            <a:off x="7749540" y="3776471"/>
            <a:ext cx="685800" cy="402336"/>
          </a:xfrm>
          <a:prstGeom prst="rightArrow">
            <a:avLst/>
          </a:prstGeom>
          <a:solidFill>
            <a:srgbClr val="8A9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