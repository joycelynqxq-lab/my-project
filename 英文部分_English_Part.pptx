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3" r:id="rId4"/>
    <p:sldMasterId id="2147483704" r:id="rId5"/>
    <p:sldMasterId id="2147483705" r:id="rId6"/>
  </p:sldMasterIdLst>
  <p:notesMasterIdLst>
    <p:notesMasterId r:id="rId7"/>
  </p:notesMasterIdLst>
  <p:sldIdLst>
    <p:sldId id="256" r:id="rId54"/>
    <p:sldId id="257" r:id="rId55"/>
    <p:sldId id="258" r:id="rId56"/>
    <p:sldId id="259" r:id="rId57"/>
    <p:sldId id="260" r:id="rId58"/>
    <p:sldId id="261" r:id="rId59"/>
    <p:sldId id="262" r:id="rId60"/>
    <p:sldId id="263" r:id="rId61"/>
    <p:sldId id="264" r:id="rId62"/>
    <p:sldId id="265" r:id="rId63"/>
    <p:sldId id="266" r:id="rId64"/>
    <p:sldId id="267" r:id="rId65"/>
    <p:sldId id="268" r:id="rId66"/>
    <p:sldId id="269" r:id="rId67"/>
  </p:sldIdLst>
  <p:sldSz cy="5143500" cx="9144000"/>
  <p:notesSz cx="6858000" cy="9144000"/>
  <p:embeddedFontLst>
    <p:embeddedFont>
      <p:font typeface="Proxima Nova"/>
      <p:regular r:id="rId105"/>
      <p:bold r:id="rId106"/>
      <p:italic r:id="rId107"/>
      <p:boldItalic r:id="rId108"/>
    </p:embeddedFont>
    <p:embeddedFont>
      <p:font typeface="Roboto Medium"/>
      <p:regular r:id="rId109"/>
      <p:bold r:id="rId110"/>
      <p:italic r:id="rId111"/>
      <p:boldItalic r:id="rId112"/>
    </p:embeddedFont>
    <p:embeddedFont>
      <p:font typeface="Merriweather Light"/>
      <p:regular r:id="rId113"/>
      <p:bold r:id="rId114"/>
      <p:italic r:id="rId115"/>
      <p:boldItalic r:id="rId116"/>
    </p:embeddedFont>
    <p:embeddedFont>
      <p:font typeface="Vidaloka"/>
      <p:regular r:id="rId117"/>
    </p:embeddedFont>
    <p:embeddedFont>
      <p:font typeface="Proxima Nova Semibold"/>
      <p:regular r:id="rId118"/>
      <p:bold r:id="rId119"/>
      <p:boldItalic r:id="rId120"/>
    </p:embeddedFont>
    <p:embeddedFont>
      <p:font typeface="Amatic SC"/>
      <p:regular r:id="rId121"/>
      <p:bold r:id="rId122"/>
    </p:embeddedFont>
    <p:embeddedFont>
      <p:font typeface="Montserrat"/>
      <p:regular r:id="rId123"/>
      <p:bold r:id="rId124"/>
      <p:italic r:id="rId125"/>
      <p:boldItalic r:id="rId126"/>
    </p:embeddedFont>
    <p:embeddedFont>
      <p:font typeface="Lato"/>
      <p:regular r:id="rId127"/>
      <p:bold r:id="rId128"/>
      <p:italic r:id="rId129"/>
      <p:boldItalic r:id="rId130"/>
    </p:embeddedFont>
    <p:embeddedFont>
      <p:font typeface="Open Sans SemiBold"/>
      <p:regular r:id="rId131"/>
      <p:bold r:id="rId132"/>
      <p:italic r:id="rId133"/>
      <p:boldItalic r:id="rId134"/>
    </p:embeddedFont>
    <p:embeddedFont>
      <p:font typeface="Russo One"/>
      <p:regular r:id="rId135"/>
    </p:embeddedFont>
    <p:embeddedFont>
      <p:font typeface="Mako"/>
      <p:regular r:id="rId136"/>
    </p:embeddedFont>
    <p:embeddedFont>
      <p:font typeface="Oswald"/>
      <p:regular r:id="rId137"/>
      <p:bold r:id="rId138"/>
    </p:embeddedFont>
    <p:embeddedFont>
      <p:font typeface="PT Sans"/>
      <p:regular r:id="rId139"/>
      <p:bold r:id="rId140"/>
      <p:italic r:id="rId141"/>
      <p:boldItalic r:id="rId142"/>
    </p:embeddedFont>
    <p:embeddedFont>
      <p:font typeface="Crimson Text"/>
      <p:regular r:id="rId143"/>
      <p:bold r:id="rId144"/>
      <p:italic r:id="rId145"/>
      <p:boldItalic r:id="rId146"/>
    </p:embeddedFont>
    <p:embeddedFont>
      <p:font typeface="Open Sans"/>
      <p:regular r:id="rId147"/>
      <p:bold r:id="rId148"/>
      <p:italic r:id="rId149"/>
      <p:boldItalic r:id="rId1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CC6D31C-140A-4F6F-ABA6-7ED6DB99A718}">
  <a:tblStyle styleId="{3CC6D31C-140A-4F6F-ABA6-7ED6DB99A71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54" Type="http://schemas.openxmlformats.org/officeDocument/2006/relationships/slide" Target="slides/slide1.xml"/><Relationship Id="rId55" Type="http://schemas.openxmlformats.org/officeDocument/2006/relationships/slide" Target="slides/slide2.xml"/><Relationship Id="rId56" Type="http://schemas.openxmlformats.org/officeDocument/2006/relationships/slide" Target="slides/slide3.xml"/><Relationship Id="rId57" Type="http://schemas.openxmlformats.org/officeDocument/2006/relationships/slide" Target="slides/slide4.xml"/><Relationship Id="rId58" Type="http://schemas.openxmlformats.org/officeDocument/2006/relationships/slide" Target="slides/slide5.xml"/><Relationship Id="rId59" Type="http://schemas.openxmlformats.org/officeDocument/2006/relationships/slide" Target="slides/slide6.xml"/><Relationship Id="rId60" Type="http://schemas.openxmlformats.org/officeDocument/2006/relationships/slide" Target="slides/slide7.xml"/><Relationship Id="rId61" Type="http://schemas.openxmlformats.org/officeDocument/2006/relationships/slide" Target="slides/slide8.xml"/><Relationship Id="rId62" Type="http://schemas.openxmlformats.org/officeDocument/2006/relationships/slide" Target="slides/slide9.xml"/><Relationship Id="rId63" Type="http://schemas.openxmlformats.org/officeDocument/2006/relationships/slide" Target="slides/slide10.xml"/><Relationship Id="rId64" Type="http://schemas.openxmlformats.org/officeDocument/2006/relationships/slide" Target="slides/slide11.xml"/><Relationship Id="rId65" Type="http://schemas.openxmlformats.org/officeDocument/2006/relationships/slide" Target="slides/slide12.xml"/><Relationship Id="rId66" Type="http://schemas.openxmlformats.org/officeDocument/2006/relationships/slide" Target="slides/slide13.xml"/><Relationship Id="rId67" Type="http://schemas.openxmlformats.org/officeDocument/2006/relationships/slide" Target="slides/slide14.xml"/><Relationship Id="rId105" Type="http://schemas.openxmlformats.org/officeDocument/2006/relationships/font" Target="fonts/ProximaNova-regular.fntdata"/><Relationship Id="rId106" Type="http://schemas.openxmlformats.org/officeDocument/2006/relationships/font" Target="fonts/ProximaNova-bold.fntdata"/><Relationship Id="rId107" Type="http://schemas.openxmlformats.org/officeDocument/2006/relationships/font" Target="fonts/ProximaNova-italic.fntdata"/><Relationship Id="rId108" Type="http://schemas.openxmlformats.org/officeDocument/2006/relationships/font" Target="fonts/ProximaNova-boldItalic.fntdata"/><Relationship Id="rId109" Type="http://schemas.openxmlformats.org/officeDocument/2006/relationships/font" Target="fonts/RobotoMedium-regular.fntdata"/><Relationship Id="rId110" Type="http://schemas.openxmlformats.org/officeDocument/2006/relationships/font" Target="fonts/RobotoMedium-bold.fntdata"/><Relationship Id="rId111" Type="http://schemas.openxmlformats.org/officeDocument/2006/relationships/font" Target="fonts/RobotoMedium-italic.fntdata"/><Relationship Id="rId112" Type="http://schemas.openxmlformats.org/officeDocument/2006/relationships/font" Target="fonts/RobotoMedium-boldItalic.fntdata"/><Relationship Id="rId113" Type="http://schemas.openxmlformats.org/officeDocument/2006/relationships/font" Target="fonts/MerriweatherLight-regular.fntdata"/><Relationship Id="rId114" Type="http://schemas.openxmlformats.org/officeDocument/2006/relationships/font" Target="fonts/MerriweatherLight-bold.fntdata"/><Relationship Id="rId115" Type="http://schemas.openxmlformats.org/officeDocument/2006/relationships/font" Target="fonts/MerriweatherLight-italic.fntdata"/><Relationship Id="rId116" Type="http://schemas.openxmlformats.org/officeDocument/2006/relationships/font" Target="fonts/MerriweatherLight-boldItalic.fntdata"/><Relationship Id="rId117" Type="http://schemas.openxmlformats.org/officeDocument/2006/relationships/font" Target="fonts/Vidaloka-regular.fntdata"/><Relationship Id="rId118" Type="http://schemas.openxmlformats.org/officeDocument/2006/relationships/font" Target="fonts/ProximaNovaSemibold-regular.fntdata"/><Relationship Id="rId119" Type="http://schemas.openxmlformats.org/officeDocument/2006/relationships/font" Target="fonts/ProximaNovaSemibold-bold.fntdata"/><Relationship Id="rId120" Type="http://schemas.openxmlformats.org/officeDocument/2006/relationships/font" Target="fonts/ProximaNovaSemibold-boldItalic.fntdata"/><Relationship Id="rId121" Type="http://schemas.openxmlformats.org/officeDocument/2006/relationships/font" Target="fonts/AmaticSC-regular.fntdata"/><Relationship Id="rId122" Type="http://schemas.openxmlformats.org/officeDocument/2006/relationships/font" Target="fonts/AmaticSC-bold.fntdata"/><Relationship Id="rId123" Type="http://schemas.openxmlformats.org/officeDocument/2006/relationships/font" Target="fonts/Montserrat-regular.fntdata"/><Relationship Id="rId124" Type="http://schemas.openxmlformats.org/officeDocument/2006/relationships/font" Target="fonts/Montserrat-bold.fntdata"/><Relationship Id="rId125" Type="http://schemas.openxmlformats.org/officeDocument/2006/relationships/font" Target="fonts/Montserrat-italic.fntdata"/><Relationship Id="rId126" Type="http://schemas.openxmlformats.org/officeDocument/2006/relationships/font" Target="fonts/Montserrat-boldItalic.fntdata"/><Relationship Id="rId127" Type="http://schemas.openxmlformats.org/officeDocument/2006/relationships/font" Target="fonts/Lato-regular.fntdata"/><Relationship Id="rId128" Type="http://schemas.openxmlformats.org/officeDocument/2006/relationships/font" Target="fonts/Lato-bold.fntdata"/><Relationship Id="rId129" Type="http://schemas.openxmlformats.org/officeDocument/2006/relationships/font" Target="fonts/Lato-italic.fntdata"/><Relationship Id="rId130" Type="http://schemas.openxmlformats.org/officeDocument/2006/relationships/font" Target="fonts/Lato-boldItalic.fntdata"/><Relationship Id="rId131" Type="http://schemas.openxmlformats.org/officeDocument/2006/relationships/font" Target="fonts/OpenSansSemiBold-regular.fntdata"/><Relationship Id="rId132" Type="http://schemas.openxmlformats.org/officeDocument/2006/relationships/font" Target="fonts/OpenSansSemiBold-bold.fntdata"/><Relationship Id="rId133" Type="http://schemas.openxmlformats.org/officeDocument/2006/relationships/font" Target="fonts/OpenSansSemiBold-italic.fntdata"/><Relationship Id="rId134" Type="http://schemas.openxmlformats.org/officeDocument/2006/relationships/font" Target="fonts/OpenSansSemiBold-boldItalic.fntdata"/><Relationship Id="rId135" Type="http://schemas.openxmlformats.org/officeDocument/2006/relationships/font" Target="fonts/RussoOne-regular.fntdata"/><Relationship Id="rId136" Type="http://schemas.openxmlformats.org/officeDocument/2006/relationships/font" Target="fonts/Mako-regular.fntdata"/><Relationship Id="rId137" Type="http://schemas.openxmlformats.org/officeDocument/2006/relationships/font" Target="fonts/Oswald-regular.fntdata"/><Relationship Id="rId138" Type="http://schemas.openxmlformats.org/officeDocument/2006/relationships/font" Target="fonts/Oswald-bold.fntdata"/><Relationship Id="rId139" Type="http://schemas.openxmlformats.org/officeDocument/2006/relationships/font" Target="fonts/PTSans-regular.fntdata"/><Relationship Id="rId140" Type="http://schemas.openxmlformats.org/officeDocument/2006/relationships/font" Target="fonts/PTSans-bold.fntdata"/><Relationship Id="rId141" Type="http://schemas.openxmlformats.org/officeDocument/2006/relationships/font" Target="fonts/PTSans-italic.fntdata"/><Relationship Id="rId142" Type="http://schemas.openxmlformats.org/officeDocument/2006/relationships/font" Target="fonts/PTSans-boldItalic.fntdata"/><Relationship Id="rId143" Type="http://schemas.openxmlformats.org/officeDocument/2006/relationships/font" Target="fonts/CrimsonText-regular.fntdata"/><Relationship Id="rId144" Type="http://schemas.openxmlformats.org/officeDocument/2006/relationships/font" Target="fonts/CrimsonText-bold.fntdata"/><Relationship Id="rId145" Type="http://schemas.openxmlformats.org/officeDocument/2006/relationships/font" Target="fonts/CrimsonText-italic.fntdata"/><Relationship Id="rId146" Type="http://schemas.openxmlformats.org/officeDocument/2006/relationships/font" Target="fonts/CrimsonText-boldItalic.fntdata"/><Relationship Id="rId147" Type="http://schemas.openxmlformats.org/officeDocument/2006/relationships/font" Target="fonts/OpenSans-regular.fntdata"/><Relationship Id="rId148" Type="http://schemas.openxmlformats.org/officeDocument/2006/relationships/font" Target="fonts/OpenSans-bold.fntdata"/><Relationship Id="rId149" Type="http://schemas.openxmlformats.org/officeDocument/2006/relationships/font" Target="fonts/OpenSans-italic.fntdata"/><Relationship Id="rId150" Type="http://schemas.openxmlformats.org/officeDocument/2006/relationships/font" Target="fonts/Open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Thank you. I will now continue in English. My classmate has answered the three questions; my part asks why the law draws the line where it does, and when that line moves.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Quick recap of the facts. A put in 300,000 yuan in cash, B a patent valued at 200,000, C equipment valued at 100,000. Together they formed Sanyou Technology, a limited liability company with a registered capital of 600,000. A year later the company owes a supplier money. The supplier skips the company and goes straight to the three shareholders. B and C both answer: what I contributed already belongs to the company. So the real question is: can a creditor reach a shareholder's personal assets?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 one sentence each. Question one: three forms of contribution, cash, intellectual property and tangible property in kind. Question two: after contribution the patent and the equipment belong to the company, and the company pays its debts first, with all of its assets. Question three: generally no, because shareholders are only liable up to the capital they subscribed, but there are exceptions. The Chinese part gave the answers. Now let's ask why the law draws the line here, and when the line moves.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If we abstract the three questions, they collapse into one: where is the boundary between the company's debts and the shareholders' personal wealth? Three concepts build the answer, layer by layer. First, separate legal personality: the company is a person of its own. Second, limited liability: the boundary is the contribution. Third, piercing the corporate veil: when that boundary breaks. Hansmann and Kraakman call this asset partitioning. Entity shielding keeps the company's assets locked in; owner shielding keeps company creditors out of the shareholders' pockets. Interestingly, B and C are describing entity shielding without knowing it.</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Layer one. Article 3 of the Company Law says the company has its own independent property and is liable for its debts with all of its assets. The classic English authority is Salomon v Salomon from 1897: once validly incorporated, the company is a separate person, even if one man controls it. A key idea here: a contribution is a transfer, not a loan. Ownership passes at a legal moment: cash when it is deposited, the patent when the transfer is registered with the patent office, the equipment on delivery. In exchange, the shareholder receives equity. So B and C are half right. The assets do belong to the company, and that is exactly why the supplier can reach them. Their statement does not protect the assets; it explains why the creditor should go after the company first.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Layer two, the heart of the case. Article 4: shareholders of a limited company are liable up to the amount they subscribed. In plain words, you are liable for what you promised, not for what you own. The case does not tell us whether the contributions were actually completed, so let's test five scenarios. One: everything paid, fairly valued and transferred. No personal liability; the supplier must sue the company. Two: the patent was handed over but never registered. The court orders registration; if B still fails, B is liable to make up the shortfall, capital plus interest, for whatever the company cannot pay. Three: the patent was overvalued, say it was really worth 80,000. B owes the 120,000 gap, and A and C are jointly liable within that gap. Four: the payment deadline has not arrived. Under the new Article 54, if the company cannot pay its debts, the creditor can demand early payment. Five: capital withdrawn after contribution. It must be returned, and responsible directors share the liability. Notice that in every scenario, liability is capped by the unpaid contribution.</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Here is the twist. In scenario three, A paid every single yuan in cash, yet A can still be jointly liable for B's overvalued patent. Why? Article 50 makes founders responsible for each other's contributions. The law wants founders to police each other at the start. A can later recover from B. This reflects a choice about how to protect creditors. China takes an ex ante route: non-cash contributions must be valued, and founders guarantee each other's capital. The UK takes more of an ex post route: independent valuation of non-cash consideration is only required for public companies under section 593 of the Companies Act 2006, and creditors rely instead on remedies like wrongful trading under section 214 of the Insolvency Act. Two routes, one goal: control the capital before, or punish misconduct after.</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Layer three: when does the boundary break completely? In China, Article 23. Paragraph one: if a shareholder abuses the company's independence to evade debts and seriously harms creditors, the shareholder becomes jointly liable. Paragraph two, new in 2023, allows horizontal piercing between sister companies, codifying Guiding Case No. 15. Paragraph three reverses the burden of proof for single-shareholder companies. Typical signs are commingling of assets, excessive control, and gross undercapitalisation. English law is much narrower: in Prest v Petrodel, the Supreme Court limited piercing to evasion of an existing obligation, as a last resort; Adams v Cape held that being a single economic unit is not enough. US courts are more willing, using alter-ego and undercapitalisation factors, as in Walkovszky v Carlton. Applied to Sanyou: there are no facts of abuse, so piercing is unlikely. That would change if, for example, A paid personal bills from the company account. And remember the difference: a contribution defect gives capped liability; piercing gives uncapped liability.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Putting the three layers together gives us a liability map, read from the inside out. First, the company's own assets, all of them, not just the 600,000. Second, any shareholder who has not fully paid, but only up to the unpaid amount. Third, the other founders, jointly, but again only within the shortfall. Fourth, the exception to the exception: a shareholder who abused the company is liable without limit. So my advice to the supplier: sue the company first. Then check three things: was the patent registered, was the valuation fair, and is any contribution still unpaid or can it be accelerated? Only with evidence of abuse can you reach personal wealth without a cap. And next time, check the paid-in capital on the public credit system and ask for a personal guarantee before you extend credit.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Finally, a step back. Why does the law grant limited liability at all? Easterbrook and Fischel give the classic answer: it encourages investment, lets investors diversify, reduces the cost of monitoring other shareholders, and makes shares freely transferable. But there is a price: business risk is shifted onto creditors, especially those who never had a chance to negotiate. The 2023 Company Law tries to rebalance this. After years of 'subscribe as much as you like, pay whenever you like', it now requires payment within five years, allows acceleration, makes founders jointly liable, and lets the company call capital and forfeit unpaid shares.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 conclude: limited liability is a privilege, not a shield for abuse. The boundary holds only as long as the capital is real and the company is truly separate. For Sanyou, the supplier should go after the company first, and the shareholders only to the extent their contributions fall short, or if they abused the company.</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Briefly introduce who did what.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039975" y="1248300"/>
            <a:ext cx="7064100" cy="2052600"/>
          </a:xfrm>
          <a:prstGeom prst="rect">
            <a:avLst/>
          </a:prstGeom>
        </p:spPr>
        <p:txBody>
          <a:bodyPr anchorCtr="0" anchor="t" bIns="91425" lIns="91425" spcFirstLastPara="1" rIns="91425" wrap="square" tIns="91425">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1040000" y="3300900"/>
            <a:ext cx="7064100" cy="441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cxnSp>
        <p:nvCxnSpPr>
          <p:cNvPr id="11" name="Google Shape;11;p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 name="Google Shape;12;p2"/>
          <p:cNvCxnSpPr/>
          <p:nvPr/>
        </p:nvCxnSpPr>
        <p:spPr>
          <a:xfrm flipH="1">
            <a:off x="-257975"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 name="Google Shape;13;p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 name="Google Shape;14;p2"/>
          <p:cNvCxnSpPr/>
          <p:nvPr/>
        </p:nvCxnSpPr>
        <p:spPr>
          <a:xfrm flipH="1">
            <a:off x="6467450"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2714550" y="2366272"/>
            <a:ext cx="3714900" cy="8184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accent4"/>
              </a:buClr>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 name="Google Shape;17;p3"/>
          <p:cNvSpPr txBox="1"/>
          <p:nvPr>
            <p:ph hasCustomPrompt="1" idx="2" type="title"/>
          </p:nvPr>
        </p:nvSpPr>
        <p:spPr>
          <a:xfrm>
            <a:off x="3746550" y="1339163"/>
            <a:ext cx="1650900" cy="978300"/>
          </a:xfrm>
          <a:prstGeom prst="rect">
            <a:avLst/>
          </a:prstGeom>
        </p:spPr>
        <p:txBody>
          <a:bodyPr anchorCtr="0" anchor="t" bIns="91425" lIns="91425" spcFirstLastPara="1" rIns="91425" wrap="square" tIns="91425">
            <a:noAutofit/>
          </a:bodyPr>
          <a:lstStyle>
            <a:lvl1pPr lvl="0" rtl="0">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8" name="Google Shape;18;p3"/>
          <p:cNvSpPr txBox="1"/>
          <p:nvPr>
            <p:ph idx="1" type="subTitle"/>
          </p:nvPr>
        </p:nvSpPr>
        <p:spPr>
          <a:xfrm>
            <a:off x="2291400" y="3076675"/>
            <a:ext cx="4561200" cy="393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9" name="Google Shape;19;p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 name="Google Shape;20;p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 name="Google Shape;21;p3"/>
          <p:cNvCxnSpPr/>
          <p:nvPr/>
        </p:nvCxnSpPr>
        <p:spPr>
          <a:xfrm flipH="1">
            <a:off x="794892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 name="Google Shape;22;p3"/>
          <p:cNvCxnSpPr/>
          <p:nvPr/>
        </p:nvCxnSpPr>
        <p:spPr>
          <a:xfrm flipH="1">
            <a:off x="-11287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713225" y="445025"/>
            <a:ext cx="4711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4"/>
          <p:cNvSpPr txBox="1"/>
          <p:nvPr>
            <p:ph idx="1" type="body"/>
          </p:nvPr>
        </p:nvSpPr>
        <p:spPr>
          <a:xfrm>
            <a:off x="713250" y="1272925"/>
            <a:ext cx="7717500" cy="32958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1"/>
              </a:buClr>
              <a:buSzPts val="1800"/>
              <a:buFont typeface="Lato"/>
              <a:buChar char="●"/>
              <a:defRPr sz="1100"/>
            </a:lvl1pPr>
            <a:lvl2pPr indent="-317500" lvl="1" marL="914400">
              <a:spcBef>
                <a:spcPts val="0"/>
              </a:spcBef>
              <a:spcAft>
                <a:spcPts val="0"/>
              </a:spcAft>
              <a:buClr>
                <a:schemeClr val="dk1"/>
              </a:buClr>
              <a:buSzPts val="1400"/>
              <a:buFont typeface="Lato"/>
              <a:buChar char="○"/>
              <a:defRPr/>
            </a:lvl2pPr>
            <a:lvl3pPr indent="-317500" lvl="2" marL="1371600">
              <a:spcBef>
                <a:spcPts val="0"/>
              </a:spcBef>
              <a:spcAft>
                <a:spcPts val="0"/>
              </a:spcAft>
              <a:buClr>
                <a:schemeClr val="dk1"/>
              </a:buClr>
              <a:buSzPts val="1400"/>
              <a:buFont typeface="Lato"/>
              <a:buChar char="■"/>
              <a:defRPr/>
            </a:lvl3pPr>
            <a:lvl4pPr indent="-317500" lvl="3" marL="1828800">
              <a:spcBef>
                <a:spcPts val="0"/>
              </a:spcBef>
              <a:spcAft>
                <a:spcPts val="0"/>
              </a:spcAft>
              <a:buClr>
                <a:schemeClr val="dk1"/>
              </a:buClr>
              <a:buSzPts val="1400"/>
              <a:buFont typeface="Lato"/>
              <a:buChar char="●"/>
              <a:defRPr/>
            </a:lvl4pPr>
            <a:lvl5pPr indent="-317500" lvl="4" marL="2286000">
              <a:spcBef>
                <a:spcPts val="0"/>
              </a:spcBef>
              <a:spcAft>
                <a:spcPts val="0"/>
              </a:spcAft>
              <a:buClr>
                <a:schemeClr val="dk1"/>
              </a:buClr>
              <a:buSzPts val="1400"/>
              <a:buFont typeface="Lato"/>
              <a:buChar char="○"/>
              <a:defRPr/>
            </a:lvl5pPr>
            <a:lvl6pPr indent="-317500" lvl="5" marL="2743200">
              <a:spcBef>
                <a:spcPts val="0"/>
              </a:spcBef>
              <a:spcAft>
                <a:spcPts val="0"/>
              </a:spcAft>
              <a:buClr>
                <a:schemeClr val="dk1"/>
              </a:buClr>
              <a:buSzPts val="1400"/>
              <a:buFont typeface="Lato"/>
              <a:buChar char="■"/>
              <a:defRPr/>
            </a:lvl6pPr>
            <a:lvl7pPr indent="-317500" lvl="6" marL="3200400">
              <a:spcBef>
                <a:spcPts val="0"/>
              </a:spcBef>
              <a:spcAft>
                <a:spcPts val="0"/>
              </a:spcAft>
              <a:buClr>
                <a:schemeClr val="dk1"/>
              </a:buClr>
              <a:buSzPts val="1400"/>
              <a:buFont typeface="Lato"/>
              <a:buChar char="●"/>
              <a:defRPr/>
            </a:lvl7pPr>
            <a:lvl8pPr indent="-317500" lvl="7" marL="3657600">
              <a:spcBef>
                <a:spcPts val="0"/>
              </a:spcBef>
              <a:spcAft>
                <a:spcPts val="0"/>
              </a:spcAft>
              <a:buClr>
                <a:schemeClr val="dk1"/>
              </a:buClr>
              <a:buSzPts val="1400"/>
              <a:buFont typeface="Lato"/>
              <a:buChar char="○"/>
              <a:defRPr/>
            </a:lvl8pPr>
            <a:lvl9pPr indent="-317500" lvl="8" marL="4114800">
              <a:spcBef>
                <a:spcPts val="0"/>
              </a:spcBef>
              <a:spcAft>
                <a:spcPts val="0"/>
              </a:spcAft>
              <a:buClr>
                <a:schemeClr val="dk1"/>
              </a:buClr>
              <a:buSzPts val="1400"/>
              <a:buFont typeface="Lato"/>
              <a:buChar char="■"/>
              <a:defRPr/>
            </a:lvl9pPr>
          </a:lstStyle>
          <a:p/>
        </p:txBody>
      </p:sp>
      <p:cxnSp>
        <p:nvCxnSpPr>
          <p:cNvPr id="26" name="Google Shape;26;p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7" name="Google Shape;27;p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 name="Google Shape;28;p4"/>
          <p:cNvCxnSpPr/>
          <p:nvPr/>
        </p:nvCxnSpPr>
        <p:spPr>
          <a:xfrm>
            <a:off x="6884900" y="-113600"/>
            <a:ext cx="2565600" cy="1306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5"/>
          <p:cNvSpPr txBox="1"/>
          <p:nvPr>
            <p:ph type="title"/>
          </p:nvPr>
        </p:nvSpPr>
        <p:spPr>
          <a:xfrm>
            <a:off x="713225" y="445025"/>
            <a:ext cx="56811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5"/>
          <p:cNvSpPr txBox="1"/>
          <p:nvPr>
            <p:ph idx="1" type="subTitle"/>
          </p:nvPr>
        </p:nvSpPr>
        <p:spPr>
          <a:xfrm>
            <a:off x="50389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2" name="Google Shape;32;p5"/>
          <p:cNvSpPr txBox="1"/>
          <p:nvPr>
            <p:ph idx="2" type="subTitle"/>
          </p:nvPr>
        </p:nvSpPr>
        <p:spPr>
          <a:xfrm>
            <a:off x="50389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 name="Google Shape;33;p5"/>
          <p:cNvSpPr txBox="1"/>
          <p:nvPr>
            <p:ph idx="3" type="subTitle"/>
          </p:nvPr>
        </p:nvSpPr>
        <p:spPr>
          <a:xfrm>
            <a:off x="16931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4" name="Google Shape;34;p5"/>
          <p:cNvSpPr txBox="1"/>
          <p:nvPr>
            <p:ph idx="4" type="subTitle"/>
          </p:nvPr>
        </p:nvSpPr>
        <p:spPr>
          <a:xfrm>
            <a:off x="16931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5" name="Google Shape;35;p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 name="Google Shape;36;p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7" name="Google Shape;37;p5"/>
          <p:cNvCxnSpPr/>
          <p:nvPr/>
        </p:nvCxnSpPr>
        <p:spPr>
          <a:xfrm flipH="1">
            <a:off x="6935750" y="3931325"/>
            <a:ext cx="2549400" cy="13545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6"/>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40" name="Google Shape;40;p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 name="Google Shape;41;p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2" name="Shape 42"/>
        <p:cNvGrpSpPr/>
        <p:nvPr/>
      </p:nvGrpSpPr>
      <p:grpSpPr>
        <a:xfrm>
          <a:off x="0" y="0"/>
          <a:ext cx="0" cy="0"/>
          <a:chOff x="0" y="0"/>
          <a:chExt cx="0" cy="0"/>
        </a:xfrm>
      </p:grpSpPr>
      <p:sp>
        <p:nvSpPr>
          <p:cNvPr id="43" name="Google Shape;43;p7"/>
          <p:cNvSpPr txBox="1"/>
          <p:nvPr>
            <p:ph idx="1" type="subTitle"/>
          </p:nvPr>
        </p:nvSpPr>
        <p:spPr>
          <a:xfrm>
            <a:off x="2247500" y="1433050"/>
            <a:ext cx="1838100" cy="357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9pPr>
          </a:lstStyle>
          <a:p/>
        </p:txBody>
      </p:sp>
      <p:sp>
        <p:nvSpPr>
          <p:cNvPr id="44" name="Google Shape;44;p7"/>
          <p:cNvSpPr txBox="1"/>
          <p:nvPr>
            <p:ph idx="2" type="subTitle"/>
          </p:nvPr>
        </p:nvSpPr>
        <p:spPr>
          <a:xfrm>
            <a:off x="2247500" y="1790050"/>
            <a:ext cx="5160300" cy="2754000"/>
          </a:xfrm>
          <a:prstGeom prst="rect">
            <a:avLst/>
          </a:prstGeom>
        </p:spPr>
        <p:txBody>
          <a:bodyPr anchorCtr="0" anchor="t" bIns="91425" lIns="91425" spcFirstLastPara="1" rIns="91425" wrap="square" tIns="91425">
            <a:noAutofit/>
          </a:bodyPr>
          <a:lstStyle>
            <a:lvl1pPr lvl="0" marR="50800" rtl="0">
              <a:lnSpc>
                <a:spcPct val="166000"/>
              </a:lnSpc>
              <a:spcBef>
                <a:spcPts val="0"/>
              </a:spcBef>
              <a:spcAft>
                <a:spcPts val="0"/>
              </a:spcAft>
              <a:buClr>
                <a:schemeClr val="accent1"/>
              </a:buClr>
              <a:buSzPts val="1400"/>
              <a:buChar char="●"/>
              <a:defRPr sz="1400">
                <a:solidFill>
                  <a:srgbClr val="374957"/>
                </a:solidFill>
              </a:defRPr>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45" name="Google Shape;45;p7"/>
          <p:cNvSpPr txBox="1"/>
          <p:nvPr>
            <p:ph type="title"/>
          </p:nvPr>
        </p:nvSpPr>
        <p:spPr>
          <a:xfrm>
            <a:off x="713225" y="445025"/>
            <a:ext cx="4297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46" name="Google Shape;46;p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7" name="Google Shape;47;p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1122500" y="1073000"/>
            <a:ext cx="6899100" cy="2856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50" name="Google Shape;50;p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1" name="Google Shape;51;p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2" name="Google Shape;52;p8"/>
          <p:cNvCxnSpPr/>
          <p:nvPr/>
        </p:nvCxnSpPr>
        <p:spPr>
          <a:xfrm flipH="1">
            <a:off x="7093250" y="3935075"/>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53" name="Google Shape;53;p8"/>
          <p:cNvCxnSpPr/>
          <p:nvPr/>
        </p:nvCxnSpPr>
        <p:spPr>
          <a:xfrm flipH="1">
            <a:off x="-420450" y="-121600"/>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4" name="Shape 54"/>
        <p:cNvGrpSpPr/>
        <p:nvPr/>
      </p:nvGrpSpPr>
      <p:grpSpPr>
        <a:xfrm>
          <a:off x="0" y="0"/>
          <a:ext cx="0" cy="0"/>
          <a:chOff x="0" y="0"/>
          <a:chExt cx="0" cy="0"/>
        </a:xfrm>
      </p:grpSpPr>
      <p:sp>
        <p:nvSpPr>
          <p:cNvPr id="55" name="Google Shape;55;p9"/>
          <p:cNvSpPr txBox="1"/>
          <p:nvPr>
            <p:ph idx="1" type="subTitle"/>
          </p:nvPr>
        </p:nvSpPr>
        <p:spPr>
          <a:xfrm>
            <a:off x="89595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56" name="Google Shape;56;p9"/>
          <p:cNvSpPr txBox="1"/>
          <p:nvPr>
            <p:ph type="title"/>
          </p:nvPr>
        </p:nvSpPr>
        <p:spPr>
          <a:xfrm>
            <a:off x="713225" y="445025"/>
            <a:ext cx="5679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57" name="Google Shape;57;p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8" name="Google Shape;58;p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9" name="Google Shape;59;p9"/>
          <p:cNvCxnSpPr/>
          <p:nvPr/>
        </p:nvCxnSpPr>
        <p:spPr>
          <a:xfrm flipH="1">
            <a:off x="5925450" y="2797500"/>
            <a:ext cx="3378000" cy="24669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 name="Shape 60"/>
        <p:cNvGrpSpPr/>
        <p:nvPr/>
      </p:nvGrpSpPr>
      <p:grpSpPr>
        <a:xfrm>
          <a:off x="0" y="0"/>
          <a:ext cx="0" cy="0"/>
          <a:chOff x="0" y="0"/>
          <a:chExt cx="0" cy="0"/>
        </a:xfrm>
      </p:grpSpPr>
      <p:sp>
        <p:nvSpPr>
          <p:cNvPr id="61" name="Google Shape;61;p10"/>
          <p:cNvSpPr txBox="1"/>
          <p:nvPr>
            <p:ph idx="1" type="body"/>
          </p:nvPr>
        </p:nvSpPr>
        <p:spPr>
          <a:xfrm>
            <a:off x="713225" y="441927"/>
            <a:ext cx="3557100" cy="9777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800"/>
              <a:buNone/>
              <a:defRPr sz="3000">
                <a:latin typeface="Vidaloka"/>
                <a:ea typeface="Vidaloka"/>
                <a:cs typeface="Vidaloka"/>
                <a:sym typeface="Vidaloka"/>
              </a:defRPr>
            </a:lvl1pPr>
          </a:lstStyle>
          <a:p/>
        </p:txBody>
      </p:sp>
      <p:cxnSp>
        <p:nvCxnSpPr>
          <p:cNvPr id="62" name="Google Shape;62;p1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3" name="Google Shape;63;p1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4" name="Google Shape;64;p10"/>
          <p:cNvCxnSpPr/>
          <p:nvPr/>
        </p:nvCxnSpPr>
        <p:spPr>
          <a:xfrm flipH="1" rot="10800000">
            <a:off x="6144975" y="3103725"/>
            <a:ext cx="3118200" cy="22011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5" name="Shape 65"/>
        <p:cNvGrpSpPr/>
        <p:nvPr/>
      </p:nvGrpSpPr>
      <p:grpSpPr>
        <a:xfrm>
          <a:off x="0" y="0"/>
          <a:ext cx="0" cy="0"/>
          <a:chOff x="0" y="0"/>
          <a:chExt cx="0" cy="0"/>
        </a:xfrm>
      </p:grpSpPr>
      <p:sp>
        <p:nvSpPr>
          <p:cNvPr id="66" name="Google Shape;66;p11"/>
          <p:cNvSpPr txBox="1"/>
          <p:nvPr>
            <p:ph hasCustomPrompt="1" type="title"/>
          </p:nvPr>
        </p:nvSpPr>
        <p:spPr>
          <a:xfrm>
            <a:off x="713225" y="1345363"/>
            <a:ext cx="7717500" cy="16443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0"/>
              <a:buNone/>
              <a:defRPr sz="12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7" name="Google Shape;67;p11"/>
          <p:cNvSpPr txBox="1"/>
          <p:nvPr>
            <p:ph idx="1" type="subTitle"/>
          </p:nvPr>
        </p:nvSpPr>
        <p:spPr>
          <a:xfrm>
            <a:off x="1514325" y="3188648"/>
            <a:ext cx="6120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cxnSp>
        <p:nvCxnSpPr>
          <p:cNvPr id="68" name="Google Shape;68;p1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9" name="Google Shape;69;p1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0" name="Google Shape;70;p1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71" name="Google Shape;71;p1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2" name="Shape 7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73" name="Shape 73"/>
        <p:cNvGrpSpPr/>
        <p:nvPr/>
      </p:nvGrpSpPr>
      <p:grpSpPr>
        <a:xfrm>
          <a:off x="0" y="0"/>
          <a:ext cx="0" cy="0"/>
          <a:chOff x="0" y="0"/>
          <a:chExt cx="0" cy="0"/>
        </a:xfrm>
      </p:grpSpPr>
      <p:sp>
        <p:nvSpPr>
          <p:cNvPr id="74" name="Google Shape;74;p13"/>
          <p:cNvSpPr txBox="1"/>
          <p:nvPr>
            <p:ph type="title"/>
          </p:nvPr>
        </p:nvSpPr>
        <p:spPr>
          <a:xfrm>
            <a:off x="713225" y="445025"/>
            <a:ext cx="35838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5" name="Google Shape;75;p13"/>
          <p:cNvSpPr txBox="1"/>
          <p:nvPr>
            <p:ph idx="1" type="subTitle"/>
          </p:nvPr>
        </p:nvSpPr>
        <p:spPr>
          <a:xfrm>
            <a:off x="5859325" y="1405390"/>
            <a:ext cx="2486100" cy="40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6" name="Google Shape;76;p13"/>
          <p:cNvSpPr txBox="1"/>
          <p:nvPr>
            <p:ph idx="2" type="subTitle"/>
          </p:nvPr>
        </p:nvSpPr>
        <p:spPr>
          <a:xfrm>
            <a:off x="5859325" y="1806417"/>
            <a:ext cx="2486100" cy="6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7" name="Google Shape;77;p13"/>
          <p:cNvSpPr txBox="1"/>
          <p:nvPr>
            <p:ph idx="3" type="subTitle"/>
          </p:nvPr>
        </p:nvSpPr>
        <p:spPr>
          <a:xfrm>
            <a:off x="1903925" y="1405390"/>
            <a:ext cx="2486100" cy="40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8" name="Google Shape;78;p13"/>
          <p:cNvSpPr txBox="1"/>
          <p:nvPr>
            <p:ph idx="4" type="subTitle"/>
          </p:nvPr>
        </p:nvSpPr>
        <p:spPr>
          <a:xfrm>
            <a:off x="1903925" y="1806417"/>
            <a:ext cx="2486100" cy="6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9" name="Google Shape;79;p13"/>
          <p:cNvSpPr txBox="1"/>
          <p:nvPr>
            <p:ph idx="5" type="subTitle"/>
          </p:nvPr>
        </p:nvSpPr>
        <p:spPr>
          <a:xfrm>
            <a:off x="5859325" y="3171118"/>
            <a:ext cx="2486100" cy="46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0" name="Google Shape;80;p13"/>
          <p:cNvSpPr txBox="1"/>
          <p:nvPr>
            <p:ph idx="6" type="subTitle"/>
          </p:nvPr>
        </p:nvSpPr>
        <p:spPr>
          <a:xfrm>
            <a:off x="5859325" y="3565487"/>
            <a:ext cx="2486100" cy="6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1" name="Google Shape;81;p13"/>
          <p:cNvSpPr txBox="1"/>
          <p:nvPr>
            <p:ph idx="7" type="subTitle"/>
          </p:nvPr>
        </p:nvSpPr>
        <p:spPr>
          <a:xfrm>
            <a:off x="1903925" y="3171118"/>
            <a:ext cx="2486100" cy="46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2" name="Google Shape;82;p13"/>
          <p:cNvSpPr txBox="1"/>
          <p:nvPr>
            <p:ph idx="8" type="subTitle"/>
          </p:nvPr>
        </p:nvSpPr>
        <p:spPr>
          <a:xfrm>
            <a:off x="1903975" y="3565487"/>
            <a:ext cx="2486100" cy="618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3" name="Google Shape;83;p13"/>
          <p:cNvSpPr txBox="1"/>
          <p:nvPr>
            <p:ph hasCustomPrompt="1" idx="9" type="title"/>
          </p:nvPr>
        </p:nvSpPr>
        <p:spPr>
          <a:xfrm>
            <a:off x="798575" y="1417915"/>
            <a:ext cx="10392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p:nvPr>
            <p:ph hasCustomPrompt="1" idx="13" type="title"/>
          </p:nvPr>
        </p:nvSpPr>
        <p:spPr>
          <a:xfrm>
            <a:off x="4753975" y="1403976"/>
            <a:ext cx="10392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p:nvPr>
            <p:ph hasCustomPrompt="1" idx="14" type="title"/>
          </p:nvPr>
        </p:nvSpPr>
        <p:spPr>
          <a:xfrm>
            <a:off x="798625" y="3176773"/>
            <a:ext cx="10392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p:nvPr>
            <p:ph hasCustomPrompt="1" idx="15" type="title"/>
          </p:nvPr>
        </p:nvSpPr>
        <p:spPr>
          <a:xfrm>
            <a:off x="4753975" y="3162833"/>
            <a:ext cx="10392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8" name="Google Shape;88;p1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11">
    <p:spTree>
      <p:nvGrpSpPr>
        <p:cNvPr id="89" name="Shape 89"/>
        <p:cNvGrpSpPr/>
        <p:nvPr/>
      </p:nvGrpSpPr>
      <p:grpSpPr>
        <a:xfrm>
          <a:off x="0" y="0"/>
          <a:ext cx="0" cy="0"/>
          <a:chOff x="0" y="0"/>
          <a:chExt cx="0" cy="0"/>
        </a:xfrm>
      </p:grpSpPr>
      <p:sp>
        <p:nvSpPr>
          <p:cNvPr id="90" name="Google Shape;90;p14"/>
          <p:cNvSpPr txBox="1"/>
          <p:nvPr>
            <p:ph type="title"/>
          </p:nvPr>
        </p:nvSpPr>
        <p:spPr>
          <a:xfrm>
            <a:off x="7200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4"/>
          <p:cNvSpPr txBox="1"/>
          <p:nvPr>
            <p:ph hasCustomPrompt="1" idx="2" type="title"/>
          </p:nvPr>
        </p:nvSpPr>
        <p:spPr>
          <a:xfrm>
            <a:off x="14826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2" name="Google Shape;92;p14"/>
          <p:cNvSpPr txBox="1"/>
          <p:nvPr>
            <p:ph idx="1" type="subTitle"/>
          </p:nvPr>
        </p:nvSpPr>
        <p:spPr>
          <a:xfrm>
            <a:off x="720000" y="2081199"/>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3" name="Google Shape;93;p14"/>
          <p:cNvSpPr txBox="1"/>
          <p:nvPr>
            <p:ph idx="3" type="title"/>
          </p:nvPr>
        </p:nvSpPr>
        <p:spPr>
          <a:xfrm>
            <a:off x="34038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4" name="Google Shape;94;p14"/>
          <p:cNvSpPr txBox="1"/>
          <p:nvPr>
            <p:ph hasCustomPrompt="1" idx="4" type="title"/>
          </p:nvPr>
        </p:nvSpPr>
        <p:spPr>
          <a:xfrm>
            <a:off x="41664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5" name="Google Shape;95;p14"/>
          <p:cNvSpPr txBox="1"/>
          <p:nvPr>
            <p:ph idx="5" type="subTitle"/>
          </p:nvPr>
        </p:nvSpPr>
        <p:spPr>
          <a:xfrm>
            <a:off x="34038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6" name="Google Shape;96;p14"/>
          <p:cNvSpPr txBox="1"/>
          <p:nvPr>
            <p:ph idx="6" type="title"/>
          </p:nvPr>
        </p:nvSpPr>
        <p:spPr>
          <a:xfrm>
            <a:off x="60876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7" name="Google Shape;97;p14"/>
          <p:cNvSpPr txBox="1"/>
          <p:nvPr>
            <p:ph hasCustomPrompt="1" idx="7" type="title"/>
          </p:nvPr>
        </p:nvSpPr>
        <p:spPr>
          <a:xfrm>
            <a:off x="68502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8" name="Google Shape;98;p14"/>
          <p:cNvSpPr txBox="1"/>
          <p:nvPr>
            <p:ph idx="8" type="subTitle"/>
          </p:nvPr>
        </p:nvSpPr>
        <p:spPr>
          <a:xfrm>
            <a:off x="60876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9" name="Google Shape;99;p14"/>
          <p:cNvSpPr txBox="1"/>
          <p:nvPr>
            <p:ph idx="9" type="title"/>
          </p:nvPr>
        </p:nvSpPr>
        <p:spPr>
          <a:xfrm>
            <a:off x="7200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0" name="Google Shape;100;p14"/>
          <p:cNvSpPr txBox="1"/>
          <p:nvPr>
            <p:ph hasCustomPrompt="1" idx="13" type="title"/>
          </p:nvPr>
        </p:nvSpPr>
        <p:spPr>
          <a:xfrm>
            <a:off x="14826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1" name="Google Shape;101;p14"/>
          <p:cNvSpPr txBox="1"/>
          <p:nvPr>
            <p:ph idx="14" type="subTitle"/>
          </p:nvPr>
        </p:nvSpPr>
        <p:spPr>
          <a:xfrm>
            <a:off x="7200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2" name="Google Shape;102;p14"/>
          <p:cNvSpPr txBox="1"/>
          <p:nvPr>
            <p:ph idx="15" type="title"/>
          </p:nvPr>
        </p:nvSpPr>
        <p:spPr>
          <a:xfrm>
            <a:off x="34038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3" name="Google Shape;103;p14"/>
          <p:cNvSpPr txBox="1"/>
          <p:nvPr>
            <p:ph hasCustomPrompt="1" idx="16" type="title"/>
          </p:nvPr>
        </p:nvSpPr>
        <p:spPr>
          <a:xfrm>
            <a:off x="41664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4" name="Google Shape;104;p14"/>
          <p:cNvSpPr txBox="1"/>
          <p:nvPr>
            <p:ph idx="17" type="subTitle"/>
          </p:nvPr>
        </p:nvSpPr>
        <p:spPr>
          <a:xfrm>
            <a:off x="34038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5" name="Google Shape;105;p14"/>
          <p:cNvSpPr txBox="1"/>
          <p:nvPr>
            <p:ph idx="18" type="title"/>
          </p:nvPr>
        </p:nvSpPr>
        <p:spPr>
          <a:xfrm>
            <a:off x="60876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6" name="Google Shape;106;p14"/>
          <p:cNvSpPr txBox="1"/>
          <p:nvPr>
            <p:ph hasCustomPrompt="1" idx="19" type="title"/>
          </p:nvPr>
        </p:nvSpPr>
        <p:spPr>
          <a:xfrm>
            <a:off x="68502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7" name="Google Shape;107;p14"/>
          <p:cNvSpPr txBox="1"/>
          <p:nvPr>
            <p:ph idx="20" type="subTitle"/>
          </p:nvPr>
        </p:nvSpPr>
        <p:spPr>
          <a:xfrm>
            <a:off x="60876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8" name="Google Shape;108;p14"/>
          <p:cNvSpPr txBox="1"/>
          <p:nvPr>
            <p:ph idx="21" type="title"/>
          </p:nvPr>
        </p:nvSpPr>
        <p:spPr>
          <a:xfrm>
            <a:off x="2332400" y="445025"/>
            <a:ext cx="4479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09" name="Google Shape;109;p1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0" name="Google Shape;110;p1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1" name="Google Shape;111;p1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12" name="Google Shape;112;p1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113" name="Shape 113"/>
        <p:cNvGrpSpPr/>
        <p:nvPr/>
      </p:nvGrpSpPr>
      <p:grpSpPr>
        <a:xfrm>
          <a:off x="0" y="0"/>
          <a:ext cx="0" cy="0"/>
          <a:chOff x="0" y="0"/>
          <a:chExt cx="0" cy="0"/>
        </a:xfrm>
      </p:grpSpPr>
      <p:sp>
        <p:nvSpPr>
          <p:cNvPr id="114" name="Google Shape;114;p15"/>
          <p:cNvSpPr txBox="1"/>
          <p:nvPr>
            <p:ph type="title"/>
          </p:nvPr>
        </p:nvSpPr>
        <p:spPr>
          <a:xfrm>
            <a:off x="2410500" y="2808253"/>
            <a:ext cx="4323000" cy="49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15" name="Google Shape;115;p15"/>
          <p:cNvSpPr txBox="1"/>
          <p:nvPr>
            <p:ph idx="1" type="subTitle"/>
          </p:nvPr>
        </p:nvSpPr>
        <p:spPr>
          <a:xfrm>
            <a:off x="1842900" y="1661963"/>
            <a:ext cx="5458200" cy="99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16" name="Google Shape;116;p1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7" name="Google Shape;117;p1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12">
    <p:spTree>
      <p:nvGrpSpPr>
        <p:cNvPr id="118" name="Shape 118"/>
        <p:cNvGrpSpPr/>
        <p:nvPr/>
      </p:nvGrpSpPr>
      <p:grpSpPr>
        <a:xfrm>
          <a:off x="0" y="0"/>
          <a:ext cx="0" cy="0"/>
          <a:chOff x="0" y="0"/>
          <a:chExt cx="0" cy="0"/>
        </a:xfrm>
      </p:grpSpPr>
      <p:sp>
        <p:nvSpPr>
          <p:cNvPr id="119" name="Google Shape;119;p16"/>
          <p:cNvSpPr txBox="1"/>
          <p:nvPr>
            <p:ph type="title"/>
          </p:nvPr>
        </p:nvSpPr>
        <p:spPr>
          <a:xfrm>
            <a:off x="699900" y="2821263"/>
            <a:ext cx="4323000" cy="4977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20" name="Google Shape;120;p16"/>
          <p:cNvSpPr txBox="1"/>
          <p:nvPr>
            <p:ph idx="1" type="subTitle"/>
          </p:nvPr>
        </p:nvSpPr>
        <p:spPr>
          <a:xfrm>
            <a:off x="699900" y="1675902"/>
            <a:ext cx="5458200" cy="99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21" name="Google Shape;121;p1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2" name="Google Shape;122;p1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3" name="Google Shape;123;p1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24" name="Google Shape;124;p16"/>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3">
    <p:spTree>
      <p:nvGrpSpPr>
        <p:cNvPr id="125" name="Shape 125"/>
        <p:cNvGrpSpPr/>
        <p:nvPr/>
      </p:nvGrpSpPr>
      <p:grpSpPr>
        <a:xfrm>
          <a:off x="0" y="0"/>
          <a:ext cx="0" cy="0"/>
          <a:chOff x="0" y="0"/>
          <a:chExt cx="0" cy="0"/>
        </a:xfrm>
      </p:grpSpPr>
      <p:sp>
        <p:nvSpPr>
          <p:cNvPr id="126" name="Google Shape;126;p17"/>
          <p:cNvSpPr txBox="1"/>
          <p:nvPr>
            <p:ph idx="1" type="subTitle"/>
          </p:nvPr>
        </p:nvSpPr>
        <p:spPr>
          <a:xfrm>
            <a:off x="264840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127" name="Google Shape;127;p17"/>
          <p:cNvSpPr txBox="1"/>
          <p:nvPr>
            <p:ph type="title"/>
          </p:nvPr>
        </p:nvSpPr>
        <p:spPr>
          <a:xfrm>
            <a:off x="1732050" y="445025"/>
            <a:ext cx="5679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cxnSp>
        <p:nvCxnSpPr>
          <p:cNvPr id="128" name="Google Shape;128;p1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9" name="Google Shape;129;p1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0" name="Google Shape;130;p1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1" name="Google Shape;131;p1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3">
    <p:spTree>
      <p:nvGrpSpPr>
        <p:cNvPr id="132" name="Shape 132"/>
        <p:cNvGrpSpPr/>
        <p:nvPr/>
      </p:nvGrpSpPr>
      <p:grpSpPr>
        <a:xfrm>
          <a:off x="0" y="0"/>
          <a:ext cx="0" cy="0"/>
          <a:chOff x="0" y="0"/>
          <a:chExt cx="0" cy="0"/>
        </a:xfrm>
      </p:grpSpPr>
      <p:sp>
        <p:nvSpPr>
          <p:cNvPr id="133" name="Google Shape;133;p18"/>
          <p:cNvSpPr txBox="1"/>
          <p:nvPr>
            <p:ph type="title"/>
          </p:nvPr>
        </p:nvSpPr>
        <p:spPr>
          <a:xfrm>
            <a:off x="1994850" y="1482825"/>
            <a:ext cx="5154300" cy="1291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9000"/>
              <a:buNone/>
              <a:defRPr sz="9000"/>
            </a:lvl1pPr>
            <a:lvl2pPr lvl="1" rtl="0" algn="ctr">
              <a:spcBef>
                <a:spcPts val="0"/>
              </a:spcBef>
              <a:spcAft>
                <a:spcPts val="0"/>
              </a:spcAft>
              <a:buSzPts val="9000"/>
              <a:buNone/>
              <a:defRPr sz="9000"/>
            </a:lvl2pPr>
            <a:lvl3pPr lvl="2" rtl="0" algn="ctr">
              <a:spcBef>
                <a:spcPts val="0"/>
              </a:spcBef>
              <a:spcAft>
                <a:spcPts val="0"/>
              </a:spcAft>
              <a:buSzPts val="9000"/>
              <a:buNone/>
              <a:defRPr sz="9000"/>
            </a:lvl3pPr>
            <a:lvl4pPr lvl="3" rtl="0" algn="ctr">
              <a:spcBef>
                <a:spcPts val="0"/>
              </a:spcBef>
              <a:spcAft>
                <a:spcPts val="0"/>
              </a:spcAft>
              <a:buSzPts val="9000"/>
              <a:buNone/>
              <a:defRPr sz="9000"/>
            </a:lvl4pPr>
            <a:lvl5pPr lvl="4" rtl="0" algn="ctr">
              <a:spcBef>
                <a:spcPts val="0"/>
              </a:spcBef>
              <a:spcAft>
                <a:spcPts val="0"/>
              </a:spcAft>
              <a:buSzPts val="9000"/>
              <a:buNone/>
              <a:defRPr sz="9000"/>
            </a:lvl5pPr>
            <a:lvl6pPr lvl="5" rtl="0" algn="ctr">
              <a:spcBef>
                <a:spcPts val="0"/>
              </a:spcBef>
              <a:spcAft>
                <a:spcPts val="0"/>
              </a:spcAft>
              <a:buSzPts val="9000"/>
              <a:buNone/>
              <a:defRPr sz="9000"/>
            </a:lvl6pPr>
            <a:lvl7pPr lvl="6" rtl="0" algn="ctr">
              <a:spcBef>
                <a:spcPts val="0"/>
              </a:spcBef>
              <a:spcAft>
                <a:spcPts val="0"/>
              </a:spcAft>
              <a:buSzPts val="9000"/>
              <a:buNone/>
              <a:defRPr sz="9000"/>
            </a:lvl7pPr>
            <a:lvl8pPr lvl="7" rtl="0" algn="ctr">
              <a:spcBef>
                <a:spcPts val="0"/>
              </a:spcBef>
              <a:spcAft>
                <a:spcPts val="0"/>
              </a:spcAft>
              <a:buSzPts val="9000"/>
              <a:buNone/>
              <a:defRPr sz="9000"/>
            </a:lvl8pPr>
            <a:lvl9pPr lvl="8" rtl="0" algn="ctr">
              <a:spcBef>
                <a:spcPts val="0"/>
              </a:spcBef>
              <a:spcAft>
                <a:spcPts val="0"/>
              </a:spcAft>
              <a:buSzPts val="9000"/>
              <a:buNone/>
              <a:defRPr sz="9000"/>
            </a:lvl9pPr>
          </a:lstStyle>
          <a:p/>
        </p:txBody>
      </p:sp>
      <p:sp>
        <p:nvSpPr>
          <p:cNvPr id="134" name="Google Shape;134;p18"/>
          <p:cNvSpPr txBox="1"/>
          <p:nvPr>
            <p:ph idx="1" type="subTitle"/>
          </p:nvPr>
        </p:nvSpPr>
        <p:spPr>
          <a:xfrm>
            <a:off x="2299500" y="2972150"/>
            <a:ext cx="4545000" cy="55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cxnSp>
        <p:nvCxnSpPr>
          <p:cNvPr id="135" name="Google Shape;135;p1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6" name="Google Shape;136;p1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4">
    <p:spTree>
      <p:nvGrpSpPr>
        <p:cNvPr id="137" name="Shape 137"/>
        <p:cNvGrpSpPr/>
        <p:nvPr/>
      </p:nvGrpSpPr>
      <p:grpSpPr>
        <a:xfrm>
          <a:off x="0" y="0"/>
          <a:ext cx="0" cy="0"/>
          <a:chOff x="0" y="0"/>
          <a:chExt cx="0" cy="0"/>
        </a:xfrm>
      </p:grpSpPr>
      <p:sp>
        <p:nvSpPr>
          <p:cNvPr id="138" name="Google Shape;138;p19"/>
          <p:cNvSpPr txBox="1"/>
          <p:nvPr>
            <p:ph type="title"/>
          </p:nvPr>
        </p:nvSpPr>
        <p:spPr>
          <a:xfrm>
            <a:off x="3742850" y="1549875"/>
            <a:ext cx="4545000" cy="1291200"/>
          </a:xfrm>
          <a:prstGeom prst="rect">
            <a:avLst/>
          </a:prstGeom>
        </p:spPr>
        <p:txBody>
          <a:bodyPr anchorCtr="0" anchor="t" bIns="91425" lIns="91425" spcFirstLastPara="1" rIns="91425" wrap="square" tIns="91425">
            <a:noAutofit/>
          </a:bodyPr>
          <a:lstStyle>
            <a:lvl1pPr lvl="0" rtl="0">
              <a:spcBef>
                <a:spcPts val="0"/>
              </a:spcBef>
              <a:spcAft>
                <a:spcPts val="0"/>
              </a:spcAft>
              <a:buSzPts val="9000"/>
              <a:buNone/>
              <a:defRPr sz="9000"/>
            </a:lvl1pPr>
            <a:lvl2pPr lvl="1" rtl="0">
              <a:spcBef>
                <a:spcPts val="0"/>
              </a:spcBef>
              <a:spcAft>
                <a:spcPts val="0"/>
              </a:spcAft>
              <a:buSzPts val="9000"/>
              <a:buNone/>
              <a:defRPr sz="9000"/>
            </a:lvl2pPr>
            <a:lvl3pPr lvl="2" rtl="0">
              <a:spcBef>
                <a:spcPts val="0"/>
              </a:spcBef>
              <a:spcAft>
                <a:spcPts val="0"/>
              </a:spcAft>
              <a:buSzPts val="9000"/>
              <a:buNone/>
              <a:defRPr sz="9000"/>
            </a:lvl3pPr>
            <a:lvl4pPr lvl="3" rtl="0">
              <a:spcBef>
                <a:spcPts val="0"/>
              </a:spcBef>
              <a:spcAft>
                <a:spcPts val="0"/>
              </a:spcAft>
              <a:buSzPts val="9000"/>
              <a:buNone/>
              <a:defRPr sz="9000"/>
            </a:lvl4pPr>
            <a:lvl5pPr lvl="4" rtl="0">
              <a:spcBef>
                <a:spcPts val="0"/>
              </a:spcBef>
              <a:spcAft>
                <a:spcPts val="0"/>
              </a:spcAft>
              <a:buSzPts val="9000"/>
              <a:buNone/>
              <a:defRPr sz="9000"/>
            </a:lvl5pPr>
            <a:lvl6pPr lvl="5" rtl="0">
              <a:spcBef>
                <a:spcPts val="0"/>
              </a:spcBef>
              <a:spcAft>
                <a:spcPts val="0"/>
              </a:spcAft>
              <a:buSzPts val="9000"/>
              <a:buNone/>
              <a:defRPr sz="9000"/>
            </a:lvl6pPr>
            <a:lvl7pPr lvl="6" rtl="0">
              <a:spcBef>
                <a:spcPts val="0"/>
              </a:spcBef>
              <a:spcAft>
                <a:spcPts val="0"/>
              </a:spcAft>
              <a:buSzPts val="9000"/>
              <a:buNone/>
              <a:defRPr sz="9000"/>
            </a:lvl7pPr>
            <a:lvl8pPr lvl="7" rtl="0">
              <a:spcBef>
                <a:spcPts val="0"/>
              </a:spcBef>
              <a:spcAft>
                <a:spcPts val="0"/>
              </a:spcAft>
              <a:buSzPts val="9000"/>
              <a:buNone/>
              <a:defRPr sz="9000"/>
            </a:lvl8pPr>
            <a:lvl9pPr lvl="8" rtl="0">
              <a:spcBef>
                <a:spcPts val="0"/>
              </a:spcBef>
              <a:spcAft>
                <a:spcPts val="0"/>
              </a:spcAft>
              <a:buSzPts val="9000"/>
              <a:buNone/>
              <a:defRPr sz="9000"/>
            </a:lvl9pPr>
          </a:lstStyle>
          <a:p/>
        </p:txBody>
      </p:sp>
      <p:sp>
        <p:nvSpPr>
          <p:cNvPr id="139" name="Google Shape;139;p19"/>
          <p:cNvSpPr txBox="1"/>
          <p:nvPr>
            <p:ph idx="1" type="subTitle"/>
          </p:nvPr>
        </p:nvSpPr>
        <p:spPr>
          <a:xfrm>
            <a:off x="3742850" y="3039213"/>
            <a:ext cx="4545000" cy="55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4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cxnSp>
        <p:nvCxnSpPr>
          <p:cNvPr id="140" name="Google Shape;140;p1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1" name="Google Shape;141;p1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2" name="Google Shape;142;p19"/>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43" name="Google Shape;143;p19"/>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44" name="Google Shape;144;p19"/>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45" name="Google Shape;145;p19"/>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5">
    <p:spTree>
      <p:nvGrpSpPr>
        <p:cNvPr id="146" name="Shape 146"/>
        <p:cNvGrpSpPr/>
        <p:nvPr/>
      </p:nvGrpSpPr>
      <p:grpSpPr>
        <a:xfrm>
          <a:off x="0" y="0"/>
          <a:ext cx="0" cy="0"/>
          <a:chOff x="0" y="0"/>
          <a:chExt cx="0" cy="0"/>
        </a:xfrm>
      </p:grpSpPr>
      <p:sp>
        <p:nvSpPr>
          <p:cNvPr id="147" name="Google Shape;147;p20"/>
          <p:cNvSpPr txBox="1"/>
          <p:nvPr>
            <p:ph type="title"/>
          </p:nvPr>
        </p:nvSpPr>
        <p:spPr>
          <a:xfrm>
            <a:off x="1677925" y="2511803"/>
            <a:ext cx="3714900" cy="805800"/>
          </a:xfrm>
          <a:prstGeom prst="rect">
            <a:avLst/>
          </a:prstGeom>
          <a:noFill/>
        </p:spPr>
        <p:txBody>
          <a:bodyPr anchorCtr="0" anchor="t" bIns="91425" lIns="91425" spcFirstLastPara="1" rIns="91425" wrap="square" tIns="91425">
            <a:noAutofit/>
          </a:bodyPr>
          <a:lstStyle>
            <a:lvl1pPr lvl="0" rtl="0" algn="r">
              <a:spcBef>
                <a:spcPts val="0"/>
              </a:spcBef>
              <a:spcAft>
                <a:spcPts val="0"/>
              </a:spcAft>
              <a:buClr>
                <a:schemeClr val="accent4"/>
              </a:buClr>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48" name="Google Shape;148;p20"/>
          <p:cNvSpPr txBox="1"/>
          <p:nvPr>
            <p:ph hasCustomPrompt="1" idx="2" type="title"/>
          </p:nvPr>
        </p:nvSpPr>
        <p:spPr>
          <a:xfrm>
            <a:off x="3741925" y="1484693"/>
            <a:ext cx="1650900" cy="978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49" name="Google Shape;149;p20"/>
          <p:cNvSpPr txBox="1"/>
          <p:nvPr>
            <p:ph idx="1" type="subTitle"/>
          </p:nvPr>
        </p:nvSpPr>
        <p:spPr>
          <a:xfrm>
            <a:off x="831625" y="3244000"/>
            <a:ext cx="4561200" cy="393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8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50" name="Google Shape;150;p20"/>
          <p:cNvCxnSpPr/>
          <p:nvPr/>
        </p:nvCxnSpPr>
        <p:spPr>
          <a:xfrm rot="10800000">
            <a:off x="-30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1" name="Google Shape;151;p20"/>
          <p:cNvCxnSpPr/>
          <p:nvPr/>
        </p:nvCxnSpPr>
        <p:spPr>
          <a:xfrm rot="10800000">
            <a:off x="-30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2" name="Google Shape;152;p20"/>
          <p:cNvCxnSpPr/>
          <p:nvPr/>
        </p:nvCxnSpPr>
        <p:spPr>
          <a:xfrm>
            <a:off x="-11287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53" name="Google Shape;153;p20"/>
          <p:cNvCxnSpPr/>
          <p:nvPr/>
        </p:nvCxnSpPr>
        <p:spPr>
          <a:xfrm>
            <a:off x="790872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154" name="Shape 154"/>
        <p:cNvGrpSpPr/>
        <p:nvPr/>
      </p:nvGrpSpPr>
      <p:grpSpPr>
        <a:xfrm>
          <a:off x="0" y="0"/>
          <a:ext cx="0" cy="0"/>
          <a:chOff x="0" y="0"/>
          <a:chExt cx="0" cy="0"/>
        </a:xfrm>
      </p:grpSpPr>
      <p:sp>
        <p:nvSpPr>
          <p:cNvPr id="155" name="Google Shape;155;p21"/>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56" name="Google Shape;156;p2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7" name="Google Shape;157;p2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8" name="Google Shape;158;p21"/>
          <p:cNvCxnSpPr/>
          <p:nvPr/>
        </p:nvCxnSpPr>
        <p:spPr>
          <a:xfrm>
            <a:off x="7207350" y="-153175"/>
            <a:ext cx="2120400" cy="12738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6">
    <p:spTree>
      <p:nvGrpSpPr>
        <p:cNvPr id="159" name="Shape 159"/>
        <p:cNvGrpSpPr/>
        <p:nvPr/>
      </p:nvGrpSpPr>
      <p:grpSpPr>
        <a:xfrm>
          <a:off x="0" y="0"/>
          <a:ext cx="0" cy="0"/>
          <a:chOff x="0" y="0"/>
          <a:chExt cx="0" cy="0"/>
        </a:xfrm>
      </p:grpSpPr>
      <p:cxnSp>
        <p:nvCxnSpPr>
          <p:cNvPr id="160" name="Google Shape;160;p2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1" name="Google Shape;161;p2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2" name="Google Shape;162;p22"/>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63" name="Google Shape;163;p22"/>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64" name="Google Shape;164;p22"/>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65" name="Google Shape;165;p22"/>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66" name="Google Shape;166;p22"/>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7">
    <p:spTree>
      <p:nvGrpSpPr>
        <p:cNvPr id="167" name="Shape 167"/>
        <p:cNvGrpSpPr/>
        <p:nvPr/>
      </p:nvGrpSpPr>
      <p:grpSpPr>
        <a:xfrm>
          <a:off x="0" y="0"/>
          <a:ext cx="0" cy="0"/>
          <a:chOff x="0" y="0"/>
          <a:chExt cx="0" cy="0"/>
        </a:xfrm>
      </p:grpSpPr>
      <p:sp>
        <p:nvSpPr>
          <p:cNvPr id="168" name="Google Shape;168;p23"/>
          <p:cNvSpPr txBox="1"/>
          <p:nvPr>
            <p:ph type="title"/>
          </p:nvPr>
        </p:nvSpPr>
        <p:spPr>
          <a:xfrm>
            <a:off x="1877475" y="445025"/>
            <a:ext cx="538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9" name="Google Shape;169;p23"/>
          <p:cNvSpPr txBox="1"/>
          <p:nvPr>
            <p:ph idx="1" type="subTitle"/>
          </p:nvPr>
        </p:nvSpPr>
        <p:spPr>
          <a:xfrm>
            <a:off x="32267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0" name="Google Shape;170;p23"/>
          <p:cNvSpPr txBox="1"/>
          <p:nvPr>
            <p:ph idx="2" type="subTitle"/>
          </p:nvPr>
        </p:nvSpPr>
        <p:spPr>
          <a:xfrm>
            <a:off x="32267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1" name="Google Shape;171;p23"/>
          <p:cNvSpPr txBox="1"/>
          <p:nvPr>
            <p:ph idx="3" type="subTitle"/>
          </p:nvPr>
        </p:nvSpPr>
        <p:spPr>
          <a:xfrm>
            <a:off x="7191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2" name="Google Shape;172;p23"/>
          <p:cNvSpPr txBox="1"/>
          <p:nvPr>
            <p:ph idx="4" type="subTitle"/>
          </p:nvPr>
        </p:nvSpPr>
        <p:spPr>
          <a:xfrm>
            <a:off x="7191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3" name="Google Shape;173;p23"/>
          <p:cNvSpPr txBox="1"/>
          <p:nvPr>
            <p:ph idx="5" type="subTitle"/>
          </p:nvPr>
        </p:nvSpPr>
        <p:spPr>
          <a:xfrm>
            <a:off x="32267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4" name="Google Shape;174;p23"/>
          <p:cNvSpPr txBox="1"/>
          <p:nvPr>
            <p:ph idx="6" type="subTitle"/>
          </p:nvPr>
        </p:nvSpPr>
        <p:spPr>
          <a:xfrm>
            <a:off x="322670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5" name="Google Shape;175;p23"/>
          <p:cNvSpPr txBox="1"/>
          <p:nvPr>
            <p:ph idx="7" type="subTitle"/>
          </p:nvPr>
        </p:nvSpPr>
        <p:spPr>
          <a:xfrm>
            <a:off x="7191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6" name="Google Shape;176;p23"/>
          <p:cNvSpPr txBox="1"/>
          <p:nvPr>
            <p:ph idx="8" type="subTitle"/>
          </p:nvPr>
        </p:nvSpPr>
        <p:spPr>
          <a:xfrm>
            <a:off x="71915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77" name="Google Shape;177;p2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78" name="Google Shape;178;p2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8">
    <p:spTree>
      <p:nvGrpSpPr>
        <p:cNvPr id="179" name="Shape 179"/>
        <p:cNvGrpSpPr/>
        <p:nvPr/>
      </p:nvGrpSpPr>
      <p:grpSpPr>
        <a:xfrm>
          <a:off x="0" y="0"/>
          <a:ext cx="0" cy="0"/>
          <a:chOff x="0" y="0"/>
          <a:chExt cx="0" cy="0"/>
        </a:xfrm>
      </p:grpSpPr>
      <p:cxnSp>
        <p:nvCxnSpPr>
          <p:cNvPr id="180" name="Google Shape;180;p2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1" name="Google Shape;181;p2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2" name="Google Shape;182;p2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83" name="Google Shape;183;p2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84" name="Google Shape;184;p24"/>
          <p:cNvSpPr txBox="1"/>
          <p:nvPr>
            <p:ph idx="1" type="body"/>
          </p:nvPr>
        </p:nvSpPr>
        <p:spPr>
          <a:xfrm>
            <a:off x="5547900" y="3007750"/>
            <a:ext cx="2883000" cy="1595400"/>
          </a:xfrm>
          <a:prstGeom prst="rect">
            <a:avLst/>
          </a:prstGeom>
        </p:spPr>
        <p:txBody>
          <a:bodyPr anchorCtr="0" anchor="t" bIns="91425" lIns="91425" spcFirstLastPara="1" rIns="91425" wrap="square" tIns="91425">
            <a:noAutofit/>
          </a:bodyPr>
          <a:lstStyle>
            <a:lvl1pPr indent="-342900" lvl="0" marL="457200" rtl="0">
              <a:lnSpc>
                <a:spcPct val="100000"/>
              </a:lnSpc>
              <a:spcBef>
                <a:spcPts val="0"/>
              </a:spcBef>
              <a:spcAft>
                <a:spcPts val="0"/>
              </a:spcAft>
              <a:buSzPts val="1800"/>
              <a:buChar char="●"/>
              <a:defRPr sz="3000">
                <a:solidFill>
                  <a:schemeClr val="dk1"/>
                </a:solidFill>
                <a:latin typeface="Vidaloka"/>
                <a:ea typeface="Vidaloka"/>
                <a:cs typeface="Vidaloka"/>
                <a:sym typeface="Vidaloka"/>
              </a:defRPr>
            </a:lvl1pPr>
            <a:lvl2pPr indent="-317500" lvl="1" marL="914400" rtl="0">
              <a:lnSpc>
                <a:spcPct val="100000"/>
              </a:lnSpc>
              <a:spcBef>
                <a:spcPts val="0"/>
              </a:spcBef>
              <a:spcAft>
                <a:spcPts val="0"/>
              </a:spcAft>
              <a:buSzPts val="1400"/>
              <a:buChar char="○"/>
              <a:defRPr sz="3000">
                <a:latin typeface="Vidaloka"/>
                <a:ea typeface="Vidaloka"/>
                <a:cs typeface="Vidaloka"/>
                <a:sym typeface="Vidaloka"/>
              </a:defRPr>
            </a:lvl2pPr>
            <a:lvl3pPr indent="-317500" lvl="2" marL="1371600" rtl="0">
              <a:lnSpc>
                <a:spcPct val="100000"/>
              </a:lnSpc>
              <a:spcBef>
                <a:spcPts val="0"/>
              </a:spcBef>
              <a:spcAft>
                <a:spcPts val="0"/>
              </a:spcAft>
              <a:buSzPts val="1400"/>
              <a:buChar char="■"/>
              <a:defRPr sz="3000">
                <a:latin typeface="Vidaloka"/>
                <a:ea typeface="Vidaloka"/>
                <a:cs typeface="Vidaloka"/>
                <a:sym typeface="Vidaloka"/>
              </a:defRPr>
            </a:lvl3pPr>
            <a:lvl4pPr indent="-317500" lvl="3" marL="1828800" rtl="0">
              <a:lnSpc>
                <a:spcPct val="100000"/>
              </a:lnSpc>
              <a:spcBef>
                <a:spcPts val="0"/>
              </a:spcBef>
              <a:spcAft>
                <a:spcPts val="0"/>
              </a:spcAft>
              <a:buSzPts val="1400"/>
              <a:buChar char="●"/>
              <a:defRPr sz="3000">
                <a:latin typeface="Vidaloka"/>
                <a:ea typeface="Vidaloka"/>
                <a:cs typeface="Vidaloka"/>
                <a:sym typeface="Vidaloka"/>
              </a:defRPr>
            </a:lvl4pPr>
            <a:lvl5pPr indent="-317500" lvl="4" marL="2286000" rtl="0">
              <a:lnSpc>
                <a:spcPct val="100000"/>
              </a:lnSpc>
              <a:spcBef>
                <a:spcPts val="0"/>
              </a:spcBef>
              <a:spcAft>
                <a:spcPts val="0"/>
              </a:spcAft>
              <a:buSzPts val="1400"/>
              <a:buChar char="○"/>
              <a:defRPr sz="3000">
                <a:latin typeface="Vidaloka"/>
                <a:ea typeface="Vidaloka"/>
                <a:cs typeface="Vidaloka"/>
                <a:sym typeface="Vidaloka"/>
              </a:defRPr>
            </a:lvl5pPr>
            <a:lvl6pPr indent="-317500" lvl="5" marL="2743200" rtl="0">
              <a:lnSpc>
                <a:spcPct val="100000"/>
              </a:lnSpc>
              <a:spcBef>
                <a:spcPts val="0"/>
              </a:spcBef>
              <a:spcAft>
                <a:spcPts val="0"/>
              </a:spcAft>
              <a:buSzPts val="1400"/>
              <a:buChar char="■"/>
              <a:defRPr sz="3000">
                <a:latin typeface="Vidaloka"/>
                <a:ea typeface="Vidaloka"/>
                <a:cs typeface="Vidaloka"/>
                <a:sym typeface="Vidaloka"/>
              </a:defRPr>
            </a:lvl6pPr>
            <a:lvl7pPr indent="-317500" lvl="6" marL="3200400" rtl="0">
              <a:lnSpc>
                <a:spcPct val="100000"/>
              </a:lnSpc>
              <a:spcBef>
                <a:spcPts val="0"/>
              </a:spcBef>
              <a:spcAft>
                <a:spcPts val="0"/>
              </a:spcAft>
              <a:buSzPts val="1400"/>
              <a:buChar char="●"/>
              <a:defRPr sz="3000">
                <a:latin typeface="Vidaloka"/>
                <a:ea typeface="Vidaloka"/>
                <a:cs typeface="Vidaloka"/>
                <a:sym typeface="Vidaloka"/>
              </a:defRPr>
            </a:lvl7pPr>
            <a:lvl8pPr indent="-317500" lvl="7" marL="3657600" rtl="0">
              <a:lnSpc>
                <a:spcPct val="100000"/>
              </a:lnSpc>
              <a:spcBef>
                <a:spcPts val="0"/>
              </a:spcBef>
              <a:spcAft>
                <a:spcPts val="0"/>
              </a:spcAft>
              <a:buSzPts val="1400"/>
              <a:buChar char="○"/>
              <a:defRPr sz="3000">
                <a:latin typeface="Vidaloka"/>
                <a:ea typeface="Vidaloka"/>
                <a:cs typeface="Vidaloka"/>
                <a:sym typeface="Vidaloka"/>
              </a:defRPr>
            </a:lvl8pPr>
            <a:lvl9pPr indent="-317500" lvl="8" marL="4114800" rtl="0">
              <a:lnSpc>
                <a:spcPct val="100000"/>
              </a:lnSpc>
              <a:spcBef>
                <a:spcPts val="0"/>
              </a:spcBef>
              <a:spcAft>
                <a:spcPts val="0"/>
              </a:spcAft>
              <a:buSzPts val="1400"/>
              <a:buChar char="■"/>
              <a:defRPr sz="3000">
                <a:latin typeface="Vidaloka"/>
                <a:ea typeface="Vidaloka"/>
                <a:cs typeface="Vidaloka"/>
                <a:sym typeface="Vidaloka"/>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CUSTOM_19">
    <p:spTree>
      <p:nvGrpSpPr>
        <p:cNvPr id="185" name="Shape 185"/>
        <p:cNvGrpSpPr/>
        <p:nvPr/>
      </p:nvGrpSpPr>
      <p:grpSpPr>
        <a:xfrm>
          <a:off x="0" y="0"/>
          <a:ext cx="0" cy="0"/>
          <a:chOff x="0" y="0"/>
          <a:chExt cx="0" cy="0"/>
        </a:xfrm>
      </p:grpSpPr>
      <p:sp>
        <p:nvSpPr>
          <p:cNvPr id="186" name="Google Shape;186;p25"/>
          <p:cNvSpPr txBox="1"/>
          <p:nvPr>
            <p:ph hasCustomPrompt="1" type="title"/>
          </p:nvPr>
        </p:nvSpPr>
        <p:spPr>
          <a:xfrm>
            <a:off x="713225" y="1345375"/>
            <a:ext cx="6120300" cy="1644300"/>
          </a:xfrm>
          <a:prstGeom prst="rect">
            <a:avLst/>
          </a:prstGeom>
        </p:spPr>
        <p:txBody>
          <a:bodyPr anchorCtr="0" anchor="t" bIns="91425" lIns="91425" spcFirstLastPara="1" rIns="91425" wrap="square" tIns="91425">
            <a:noAutofit/>
          </a:bodyPr>
          <a:lstStyle>
            <a:lvl1pPr lvl="0" rtl="0">
              <a:spcBef>
                <a:spcPts val="0"/>
              </a:spcBef>
              <a:spcAft>
                <a:spcPts val="0"/>
              </a:spcAft>
              <a:buSzPts val="12000"/>
              <a:buNone/>
              <a:defRPr sz="12000">
                <a:solidFill>
                  <a:schemeClr val="accent1"/>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87" name="Google Shape;187;p25"/>
          <p:cNvSpPr txBox="1"/>
          <p:nvPr>
            <p:ph idx="1" type="subTitle"/>
          </p:nvPr>
        </p:nvSpPr>
        <p:spPr>
          <a:xfrm>
            <a:off x="713225" y="3188648"/>
            <a:ext cx="6120300" cy="375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cxnSp>
        <p:nvCxnSpPr>
          <p:cNvPr id="188" name="Google Shape;188;p2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9" name="Google Shape;189;p2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0" name="Google Shape;190;p25"/>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91" name="Google Shape;191;p25"/>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spTree>
      <p:nvGrpSpPr>
        <p:cNvPr id="192" name="Shape 192"/>
        <p:cNvGrpSpPr/>
        <p:nvPr/>
      </p:nvGrpSpPr>
      <p:grpSpPr>
        <a:xfrm>
          <a:off x="0" y="0"/>
          <a:ext cx="0" cy="0"/>
          <a:chOff x="0" y="0"/>
          <a:chExt cx="0" cy="0"/>
        </a:xfrm>
      </p:grpSpPr>
      <p:sp>
        <p:nvSpPr>
          <p:cNvPr id="193" name="Google Shape;193;p26"/>
          <p:cNvSpPr txBox="1"/>
          <p:nvPr>
            <p:ph type="title"/>
          </p:nvPr>
        </p:nvSpPr>
        <p:spPr>
          <a:xfrm>
            <a:off x="4956100" y="2467375"/>
            <a:ext cx="2475300" cy="648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94" name="Google Shape;194;p26"/>
          <p:cNvSpPr txBox="1"/>
          <p:nvPr>
            <p:ph hasCustomPrompt="1" idx="2" type="title"/>
          </p:nvPr>
        </p:nvSpPr>
        <p:spPr>
          <a:xfrm>
            <a:off x="4956100" y="1402325"/>
            <a:ext cx="1650900" cy="9783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195" name="Google Shape;195;p26"/>
          <p:cNvSpPr txBox="1"/>
          <p:nvPr>
            <p:ph idx="1" type="subTitle"/>
          </p:nvPr>
        </p:nvSpPr>
        <p:spPr>
          <a:xfrm>
            <a:off x="4956100" y="3116275"/>
            <a:ext cx="24753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196" name="Google Shape;196;p2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7" name="Google Shape;197;p2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8" name="Google Shape;198;p26"/>
          <p:cNvCxnSpPr/>
          <p:nvPr/>
        </p:nvCxnSpPr>
        <p:spPr>
          <a:xfrm>
            <a:off x="-209600" y="2402450"/>
            <a:ext cx="3144300" cy="27897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20">
    <p:spTree>
      <p:nvGrpSpPr>
        <p:cNvPr id="199" name="Shape 199"/>
        <p:cNvGrpSpPr/>
        <p:nvPr/>
      </p:nvGrpSpPr>
      <p:grpSpPr>
        <a:xfrm>
          <a:off x="0" y="0"/>
          <a:ext cx="0" cy="0"/>
          <a:chOff x="0" y="0"/>
          <a:chExt cx="0" cy="0"/>
        </a:xfrm>
      </p:grpSpPr>
      <p:sp>
        <p:nvSpPr>
          <p:cNvPr id="200" name="Google Shape;200;p27"/>
          <p:cNvSpPr txBox="1"/>
          <p:nvPr>
            <p:ph type="title"/>
          </p:nvPr>
        </p:nvSpPr>
        <p:spPr>
          <a:xfrm>
            <a:off x="4373850" y="944250"/>
            <a:ext cx="2475300" cy="648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01" name="Google Shape;201;p27"/>
          <p:cNvSpPr txBox="1"/>
          <p:nvPr>
            <p:ph hasCustomPrompt="1" idx="2" type="title"/>
          </p:nvPr>
        </p:nvSpPr>
        <p:spPr>
          <a:xfrm>
            <a:off x="2294850" y="1096650"/>
            <a:ext cx="1650900" cy="978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202" name="Google Shape;202;p27"/>
          <p:cNvSpPr txBox="1"/>
          <p:nvPr>
            <p:ph idx="1" type="subTitle"/>
          </p:nvPr>
        </p:nvSpPr>
        <p:spPr>
          <a:xfrm>
            <a:off x="4373850" y="1593150"/>
            <a:ext cx="24753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03" name="Google Shape;203;p2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4" name="Google Shape;204;p2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5" name="Google Shape;205;p2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06" name="Google Shape;206;p2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07" name="Google Shape;207;p27"/>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08" name="Google Shape;208;p27"/>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3_1">
    <p:spTree>
      <p:nvGrpSpPr>
        <p:cNvPr id="209" name="Shape 209"/>
        <p:cNvGrpSpPr/>
        <p:nvPr/>
      </p:nvGrpSpPr>
      <p:grpSpPr>
        <a:xfrm>
          <a:off x="0" y="0"/>
          <a:ext cx="0" cy="0"/>
          <a:chOff x="0" y="0"/>
          <a:chExt cx="0" cy="0"/>
        </a:xfrm>
      </p:grpSpPr>
      <p:sp>
        <p:nvSpPr>
          <p:cNvPr id="210" name="Google Shape;210;p28"/>
          <p:cNvSpPr txBox="1"/>
          <p:nvPr>
            <p:ph type="title"/>
          </p:nvPr>
        </p:nvSpPr>
        <p:spPr>
          <a:xfrm>
            <a:off x="1043725" y="922567"/>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1" name="Google Shape;211;p28"/>
          <p:cNvSpPr txBox="1"/>
          <p:nvPr>
            <p:ph idx="1" type="subTitle"/>
          </p:nvPr>
        </p:nvSpPr>
        <p:spPr>
          <a:xfrm>
            <a:off x="1043725" y="3360938"/>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212" name="Google Shape;212;p2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3" name="Google Shape;213;p2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4" name="Google Shape;214;p28"/>
          <p:cNvCxnSpPr/>
          <p:nvPr/>
        </p:nvCxnSpPr>
        <p:spPr>
          <a:xfrm>
            <a:off x="5322650" y="-80625"/>
            <a:ext cx="4005000" cy="20073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1">
    <p:spTree>
      <p:nvGrpSpPr>
        <p:cNvPr id="215" name="Shape 215"/>
        <p:cNvGrpSpPr/>
        <p:nvPr/>
      </p:nvGrpSpPr>
      <p:grpSpPr>
        <a:xfrm>
          <a:off x="0" y="0"/>
          <a:ext cx="0" cy="0"/>
          <a:chOff x="0" y="0"/>
          <a:chExt cx="0" cy="0"/>
        </a:xfrm>
      </p:grpSpPr>
      <p:sp>
        <p:nvSpPr>
          <p:cNvPr id="216" name="Google Shape;216;p29"/>
          <p:cNvSpPr txBox="1"/>
          <p:nvPr>
            <p:ph type="title"/>
          </p:nvPr>
        </p:nvSpPr>
        <p:spPr>
          <a:xfrm>
            <a:off x="5310925" y="962565"/>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7" name="Google Shape;217;p29"/>
          <p:cNvSpPr txBox="1"/>
          <p:nvPr>
            <p:ph idx="1" type="subTitle"/>
          </p:nvPr>
        </p:nvSpPr>
        <p:spPr>
          <a:xfrm>
            <a:off x="5310925" y="3400935"/>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solidFill>
                  <a:schemeClr val="dk1"/>
                </a:solidFill>
              </a:defRPr>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218" name="Google Shape;218;p2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9" name="Google Shape;219;p2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0" name="Google Shape;220;p29"/>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1" name="Google Shape;221;p29"/>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2" name="Google Shape;222;p29"/>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3" name="Google Shape;223;p29"/>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224" name="Shape 224"/>
        <p:cNvGrpSpPr/>
        <p:nvPr/>
      </p:nvGrpSpPr>
      <p:grpSpPr>
        <a:xfrm>
          <a:off x="0" y="0"/>
          <a:ext cx="0" cy="0"/>
          <a:chOff x="0" y="0"/>
          <a:chExt cx="0" cy="0"/>
        </a:xfrm>
      </p:grpSpPr>
      <p:sp>
        <p:nvSpPr>
          <p:cNvPr id="225" name="Google Shape;225;p30"/>
          <p:cNvSpPr txBox="1"/>
          <p:nvPr>
            <p:ph idx="1" type="subTitle"/>
          </p:nvPr>
        </p:nvSpPr>
        <p:spPr>
          <a:xfrm>
            <a:off x="3509000"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26" name="Google Shape;226;p30"/>
          <p:cNvSpPr txBox="1"/>
          <p:nvPr>
            <p:ph idx="2" type="subTitle"/>
          </p:nvPr>
        </p:nvSpPr>
        <p:spPr>
          <a:xfrm>
            <a:off x="35090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27" name="Google Shape;227;p30"/>
          <p:cNvSpPr txBox="1"/>
          <p:nvPr>
            <p:ph idx="3" type="subTitle"/>
          </p:nvPr>
        </p:nvSpPr>
        <p:spPr>
          <a:xfrm>
            <a:off x="95302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28" name="Google Shape;228;p30"/>
          <p:cNvSpPr txBox="1"/>
          <p:nvPr>
            <p:ph idx="4" type="subTitle"/>
          </p:nvPr>
        </p:nvSpPr>
        <p:spPr>
          <a:xfrm>
            <a:off x="9531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29" name="Google Shape;229;p30"/>
          <p:cNvSpPr txBox="1"/>
          <p:nvPr>
            <p:ph idx="5" type="subTitle"/>
          </p:nvPr>
        </p:nvSpPr>
        <p:spPr>
          <a:xfrm>
            <a:off x="606487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0" name="Google Shape;230;p30"/>
          <p:cNvSpPr txBox="1"/>
          <p:nvPr>
            <p:ph idx="6" type="subTitle"/>
          </p:nvPr>
        </p:nvSpPr>
        <p:spPr>
          <a:xfrm>
            <a:off x="606487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1" name="Google Shape;231;p30"/>
          <p:cNvSpPr txBox="1"/>
          <p:nvPr>
            <p:ph type="title"/>
          </p:nvPr>
        </p:nvSpPr>
        <p:spPr>
          <a:xfrm>
            <a:off x="713225" y="445025"/>
            <a:ext cx="665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32" name="Google Shape;232;p3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33" name="Google Shape;233;p3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2">
    <p:spTree>
      <p:nvGrpSpPr>
        <p:cNvPr id="234" name="Shape 234"/>
        <p:cNvGrpSpPr/>
        <p:nvPr/>
      </p:nvGrpSpPr>
      <p:grpSpPr>
        <a:xfrm>
          <a:off x="0" y="0"/>
          <a:ext cx="0" cy="0"/>
          <a:chOff x="0" y="0"/>
          <a:chExt cx="0" cy="0"/>
        </a:xfrm>
      </p:grpSpPr>
      <p:sp>
        <p:nvSpPr>
          <p:cNvPr id="235" name="Google Shape;235;p31"/>
          <p:cNvSpPr txBox="1"/>
          <p:nvPr>
            <p:ph idx="1" type="subTitle"/>
          </p:nvPr>
        </p:nvSpPr>
        <p:spPr>
          <a:xfrm>
            <a:off x="3509000"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6" name="Google Shape;236;p31"/>
          <p:cNvSpPr txBox="1"/>
          <p:nvPr>
            <p:ph idx="2" type="subTitle"/>
          </p:nvPr>
        </p:nvSpPr>
        <p:spPr>
          <a:xfrm>
            <a:off x="35090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7" name="Google Shape;237;p31"/>
          <p:cNvSpPr txBox="1"/>
          <p:nvPr>
            <p:ph idx="3" type="subTitle"/>
          </p:nvPr>
        </p:nvSpPr>
        <p:spPr>
          <a:xfrm>
            <a:off x="95302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8" name="Google Shape;238;p31"/>
          <p:cNvSpPr txBox="1"/>
          <p:nvPr>
            <p:ph idx="4" type="subTitle"/>
          </p:nvPr>
        </p:nvSpPr>
        <p:spPr>
          <a:xfrm>
            <a:off x="9531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9" name="Google Shape;239;p31"/>
          <p:cNvSpPr txBox="1"/>
          <p:nvPr>
            <p:ph idx="5" type="subTitle"/>
          </p:nvPr>
        </p:nvSpPr>
        <p:spPr>
          <a:xfrm>
            <a:off x="606487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0" name="Google Shape;240;p31"/>
          <p:cNvSpPr txBox="1"/>
          <p:nvPr>
            <p:ph idx="6" type="subTitle"/>
          </p:nvPr>
        </p:nvSpPr>
        <p:spPr>
          <a:xfrm>
            <a:off x="606487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1" name="Google Shape;241;p31"/>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242" name="Google Shape;242;p31"/>
          <p:cNvSpPr txBox="1"/>
          <p:nvPr>
            <p:ph idx="7"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3" name="Google Shape;243;p31"/>
          <p:cNvSpPr txBox="1"/>
          <p:nvPr>
            <p:ph idx="8" type="subTitle"/>
          </p:nvPr>
        </p:nvSpPr>
        <p:spPr>
          <a:xfrm>
            <a:off x="35090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4" name="Google Shape;244;p31"/>
          <p:cNvSpPr txBox="1"/>
          <p:nvPr>
            <p:ph idx="9"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5" name="Google Shape;245;p31"/>
          <p:cNvSpPr txBox="1"/>
          <p:nvPr>
            <p:ph idx="13" type="subTitle"/>
          </p:nvPr>
        </p:nvSpPr>
        <p:spPr>
          <a:xfrm>
            <a:off x="9531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6" name="Google Shape;246;p31"/>
          <p:cNvSpPr txBox="1"/>
          <p:nvPr>
            <p:ph idx="14"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7" name="Google Shape;247;p31"/>
          <p:cNvSpPr txBox="1"/>
          <p:nvPr>
            <p:ph idx="15" type="subTitle"/>
          </p:nvPr>
        </p:nvSpPr>
        <p:spPr>
          <a:xfrm>
            <a:off x="606487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248" name="Google Shape;248;p3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49" name="Google Shape;249;p3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50" name="Google Shape;250;p3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51" name="Google Shape;251;p3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
  <p:cSld name="CUSTOM_32">
    <p:spTree>
      <p:nvGrpSpPr>
        <p:cNvPr id="252" name="Shape 252"/>
        <p:cNvGrpSpPr/>
        <p:nvPr/>
      </p:nvGrpSpPr>
      <p:grpSpPr>
        <a:xfrm>
          <a:off x="0" y="0"/>
          <a:ext cx="0" cy="0"/>
          <a:chOff x="0" y="0"/>
          <a:chExt cx="0" cy="0"/>
        </a:xfrm>
      </p:grpSpPr>
      <p:sp>
        <p:nvSpPr>
          <p:cNvPr id="253" name="Google Shape;253;p32"/>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54" name="Google Shape;254;p32"/>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5" name="Google Shape;255;p32"/>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56" name="Google Shape;256;p32"/>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7" name="Google Shape;257;p32"/>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58" name="Google Shape;258;p32"/>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9" name="Google Shape;259;p32"/>
          <p:cNvSpPr txBox="1"/>
          <p:nvPr>
            <p:ph idx="7" type="subTitle"/>
          </p:nvPr>
        </p:nvSpPr>
        <p:spPr>
          <a:xfrm>
            <a:off x="3414050"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0" name="Google Shape;260;p32"/>
          <p:cNvSpPr txBox="1"/>
          <p:nvPr>
            <p:ph idx="8" type="subTitle"/>
          </p:nvPr>
        </p:nvSpPr>
        <p:spPr>
          <a:xfrm>
            <a:off x="3564200"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1" name="Google Shape;261;p32"/>
          <p:cNvSpPr txBox="1"/>
          <p:nvPr>
            <p:ph idx="9" type="subTitle"/>
          </p:nvPr>
        </p:nvSpPr>
        <p:spPr>
          <a:xfrm>
            <a:off x="7057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2" name="Google Shape;262;p32"/>
          <p:cNvSpPr txBox="1"/>
          <p:nvPr>
            <p:ph idx="13" type="subTitle"/>
          </p:nvPr>
        </p:nvSpPr>
        <p:spPr>
          <a:xfrm>
            <a:off x="8558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3" name="Google Shape;263;p32"/>
          <p:cNvSpPr txBox="1"/>
          <p:nvPr>
            <p:ph idx="14" type="subTitle"/>
          </p:nvPr>
        </p:nvSpPr>
        <p:spPr>
          <a:xfrm>
            <a:off x="61223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4" name="Google Shape;264;p32"/>
          <p:cNvSpPr txBox="1"/>
          <p:nvPr>
            <p:ph idx="15" type="subTitle"/>
          </p:nvPr>
        </p:nvSpPr>
        <p:spPr>
          <a:xfrm>
            <a:off x="62724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5" name="Google Shape;265;p32"/>
          <p:cNvSpPr txBox="1"/>
          <p:nvPr>
            <p:ph type="title"/>
          </p:nvPr>
        </p:nvSpPr>
        <p:spPr>
          <a:xfrm>
            <a:off x="713225" y="445025"/>
            <a:ext cx="6080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66" name="Google Shape;266;p3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67" name="Google Shape;267;p3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33">
    <p:spTree>
      <p:nvGrpSpPr>
        <p:cNvPr id="268" name="Shape 268"/>
        <p:cNvGrpSpPr/>
        <p:nvPr/>
      </p:nvGrpSpPr>
      <p:grpSpPr>
        <a:xfrm>
          <a:off x="0" y="0"/>
          <a:ext cx="0" cy="0"/>
          <a:chOff x="0" y="0"/>
          <a:chExt cx="0" cy="0"/>
        </a:xfrm>
      </p:grpSpPr>
      <p:sp>
        <p:nvSpPr>
          <p:cNvPr id="269" name="Google Shape;269;p33"/>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0" name="Google Shape;270;p33"/>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1" name="Google Shape;271;p33"/>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2" name="Google Shape;272;p33"/>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3" name="Google Shape;273;p33"/>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4" name="Google Shape;274;p33"/>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5" name="Google Shape;275;p33"/>
          <p:cNvSpPr txBox="1"/>
          <p:nvPr>
            <p:ph idx="7" type="subTitle"/>
          </p:nvPr>
        </p:nvSpPr>
        <p:spPr>
          <a:xfrm>
            <a:off x="2059863"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6" name="Google Shape;276;p33"/>
          <p:cNvSpPr txBox="1"/>
          <p:nvPr>
            <p:ph idx="8" type="subTitle"/>
          </p:nvPr>
        </p:nvSpPr>
        <p:spPr>
          <a:xfrm>
            <a:off x="2210013"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7" name="Google Shape;277;p33"/>
          <p:cNvSpPr txBox="1"/>
          <p:nvPr>
            <p:ph idx="9" type="subTitle"/>
          </p:nvPr>
        </p:nvSpPr>
        <p:spPr>
          <a:xfrm>
            <a:off x="4768138"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8" name="Google Shape;278;p33"/>
          <p:cNvSpPr txBox="1"/>
          <p:nvPr>
            <p:ph idx="13" type="subTitle"/>
          </p:nvPr>
        </p:nvSpPr>
        <p:spPr>
          <a:xfrm>
            <a:off x="4918288"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9" name="Google Shape;279;p33"/>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80" name="Google Shape;280;p3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1" name="Google Shape;281;p3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2" name="Google Shape;282;p3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83" name="Google Shape;283;p3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34">
    <p:spTree>
      <p:nvGrpSpPr>
        <p:cNvPr id="284" name="Shape 284"/>
        <p:cNvGrpSpPr/>
        <p:nvPr/>
      </p:nvGrpSpPr>
      <p:grpSpPr>
        <a:xfrm>
          <a:off x="0" y="0"/>
          <a:ext cx="0" cy="0"/>
          <a:chOff x="0" y="0"/>
          <a:chExt cx="0" cy="0"/>
        </a:xfrm>
      </p:grpSpPr>
      <p:sp>
        <p:nvSpPr>
          <p:cNvPr id="285" name="Google Shape;285;p34"/>
          <p:cNvSpPr txBox="1"/>
          <p:nvPr>
            <p:ph type="title"/>
          </p:nvPr>
        </p:nvSpPr>
        <p:spPr>
          <a:xfrm>
            <a:off x="716225" y="1073000"/>
            <a:ext cx="5640600" cy="28566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286" name="Google Shape;286;p3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7" name="Google Shape;287;p3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8" name="Google Shape;288;p3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89" name="Google Shape;289;p3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0" name="Google Shape;290;p34"/>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1" name="Google Shape;291;p34"/>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35">
    <p:spTree>
      <p:nvGrpSpPr>
        <p:cNvPr id="292" name="Shape 292"/>
        <p:cNvGrpSpPr/>
        <p:nvPr/>
      </p:nvGrpSpPr>
      <p:grpSpPr>
        <a:xfrm>
          <a:off x="0" y="0"/>
          <a:ext cx="0" cy="0"/>
          <a:chOff x="0" y="0"/>
          <a:chExt cx="0" cy="0"/>
        </a:xfrm>
      </p:grpSpPr>
      <p:sp>
        <p:nvSpPr>
          <p:cNvPr id="293" name="Google Shape;293;p35"/>
          <p:cNvSpPr txBox="1"/>
          <p:nvPr>
            <p:ph idx="1" type="subTitle"/>
          </p:nvPr>
        </p:nvSpPr>
        <p:spPr>
          <a:xfrm>
            <a:off x="49168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94" name="Google Shape;294;p35"/>
          <p:cNvSpPr txBox="1"/>
          <p:nvPr>
            <p:ph idx="2" type="subTitle"/>
          </p:nvPr>
        </p:nvSpPr>
        <p:spPr>
          <a:xfrm>
            <a:off x="50589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95" name="Google Shape;295;p35"/>
          <p:cNvSpPr txBox="1"/>
          <p:nvPr>
            <p:ph idx="3" type="subTitle"/>
          </p:nvPr>
        </p:nvSpPr>
        <p:spPr>
          <a:xfrm>
            <a:off x="19111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96" name="Google Shape;296;p35"/>
          <p:cNvSpPr txBox="1"/>
          <p:nvPr>
            <p:ph idx="4" type="subTitle"/>
          </p:nvPr>
        </p:nvSpPr>
        <p:spPr>
          <a:xfrm>
            <a:off x="20533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97" name="Google Shape;297;p35"/>
          <p:cNvSpPr txBox="1"/>
          <p:nvPr>
            <p:ph idx="5" type="subTitle"/>
          </p:nvPr>
        </p:nvSpPr>
        <p:spPr>
          <a:xfrm>
            <a:off x="49168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98" name="Google Shape;298;p35"/>
          <p:cNvSpPr txBox="1"/>
          <p:nvPr>
            <p:ph idx="6" type="subTitle"/>
          </p:nvPr>
        </p:nvSpPr>
        <p:spPr>
          <a:xfrm>
            <a:off x="50589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99" name="Google Shape;299;p35"/>
          <p:cNvSpPr txBox="1"/>
          <p:nvPr>
            <p:ph idx="7" type="subTitle"/>
          </p:nvPr>
        </p:nvSpPr>
        <p:spPr>
          <a:xfrm>
            <a:off x="19111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0" name="Google Shape;300;p35"/>
          <p:cNvSpPr txBox="1"/>
          <p:nvPr>
            <p:ph idx="8" type="subTitle"/>
          </p:nvPr>
        </p:nvSpPr>
        <p:spPr>
          <a:xfrm>
            <a:off x="20532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1" name="Google Shape;301;p35"/>
          <p:cNvSpPr txBox="1"/>
          <p:nvPr>
            <p:ph type="title"/>
          </p:nvPr>
        </p:nvSpPr>
        <p:spPr>
          <a:xfrm>
            <a:off x="713225" y="445025"/>
            <a:ext cx="648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02" name="Google Shape;302;p3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03" name="Google Shape;303;p3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36">
    <p:spTree>
      <p:nvGrpSpPr>
        <p:cNvPr id="304" name="Shape 304"/>
        <p:cNvGrpSpPr/>
        <p:nvPr/>
      </p:nvGrpSpPr>
      <p:grpSpPr>
        <a:xfrm>
          <a:off x="0" y="0"/>
          <a:ext cx="0" cy="0"/>
          <a:chOff x="0" y="0"/>
          <a:chExt cx="0" cy="0"/>
        </a:xfrm>
      </p:grpSpPr>
      <p:sp>
        <p:nvSpPr>
          <p:cNvPr id="305" name="Google Shape;305;p36"/>
          <p:cNvSpPr txBox="1"/>
          <p:nvPr>
            <p:ph idx="1" type="subTitle"/>
          </p:nvPr>
        </p:nvSpPr>
        <p:spPr>
          <a:xfrm>
            <a:off x="3571925"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6" name="Google Shape;306;p36"/>
          <p:cNvSpPr txBox="1"/>
          <p:nvPr>
            <p:ph idx="2" type="subTitle"/>
          </p:nvPr>
        </p:nvSpPr>
        <p:spPr>
          <a:xfrm>
            <a:off x="3571925"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7" name="Google Shape;307;p36"/>
          <p:cNvSpPr txBox="1"/>
          <p:nvPr>
            <p:ph idx="3" type="subTitle"/>
          </p:nvPr>
        </p:nvSpPr>
        <p:spPr>
          <a:xfrm>
            <a:off x="108840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8" name="Google Shape;308;p36"/>
          <p:cNvSpPr txBox="1"/>
          <p:nvPr>
            <p:ph idx="4" type="subTitle"/>
          </p:nvPr>
        </p:nvSpPr>
        <p:spPr>
          <a:xfrm>
            <a:off x="108840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9" name="Google Shape;309;p36"/>
          <p:cNvSpPr txBox="1"/>
          <p:nvPr>
            <p:ph idx="5" type="subTitle"/>
          </p:nvPr>
        </p:nvSpPr>
        <p:spPr>
          <a:xfrm>
            <a:off x="605545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10" name="Google Shape;310;p36"/>
          <p:cNvSpPr txBox="1"/>
          <p:nvPr>
            <p:ph idx="6" type="subTitle"/>
          </p:nvPr>
        </p:nvSpPr>
        <p:spPr>
          <a:xfrm>
            <a:off x="605545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11" name="Google Shape;311;p36"/>
          <p:cNvSpPr txBox="1"/>
          <p:nvPr>
            <p:ph type="title"/>
          </p:nvPr>
        </p:nvSpPr>
        <p:spPr>
          <a:xfrm>
            <a:off x="713225" y="445025"/>
            <a:ext cx="5517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12" name="Google Shape;312;p3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3" name="Google Shape;313;p3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4" name="Google Shape;314;p36"/>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
  <p:cSld name="CUSTOM_23">
    <p:spTree>
      <p:nvGrpSpPr>
        <p:cNvPr id="315" name="Shape 315"/>
        <p:cNvGrpSpPr/>
        <p:nvPr/>
      </p:nvGrpSpPr>
      <p:grpSpPr>
        <a:xfrm>
          <a:off x="0" y="0"/>
          <a:ext cx="0" cy="0"/>
          <a:chOff x="0" y="0"/>
          <a:chExt cx="0" cy="0"/>
        </a:xfrm>
      </p:grpSpPr>
      <p:cxnSp>
        <p:nvCxnSpPr>
          <p:cNvPr id="316" name="Google Shape;316;p3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7" name="Google Shape;317;p3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8" name="Google Shape;318;p3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19" name="Google Shape;319;p3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0" name="Google Shape;320;p37"/>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1" name="Google Shape;321;p37"/>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22" name="Google Shape;322;p37"/>
          <p:cNvSpPr txBox="1"/>
          <p:nvPr>
            <p:ph type="title"/>
          </p:nvPr>
        </p:nvSpPr>
        <p:spPr>
          <a:xfrm>
            <a:off x="2780100" y="445025"/>
            <a:ext cx="35838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3" name="Google Shape;323;p37"/>
          <p:cNvSpPr txBox="1"/>
          <p:nvPr>
            <p:ph idx="1" type="subTitle"/>
          </p:nvPr>
        </p:nvSpPr>
        <p:spPr>
          <a:xfrm>
            <a:off x="53066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24" name="Google Shape;324;p37"/>
          <p:cNvSpPr txBox="1"/>
          <p:nvPr>
            <p:ph idx="2" type="subTitle"/>
          </p:nvPr>
        </p:nvSpPr>
        <p:spPr>
          <a:xfrm>
            <a:off x="53066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25" name="Google Shape;325;p37"/>
          <p:cNvSpPr txBox="1"/>
          <p:nvPr>
            <p:ph idx="3" type="subTitle"/>
          </p:nvPr>
        </p:nvSpPr>
        <p:spPr>
          <a:xfrm>
            <a:off x="13512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26" name="Google Shape;326;p37"/>
          <p:cNvSpPr txBox="1"/>
          <p:nvPr>
            <p:ph idx="4" type="subTitle"/>
          </p:nvPr>
        </p:nvSpPr>
        <p:spPr>
          <a:xfrm>
            <a:off x="13512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27" name="Google Shape;327;p37"/>
          <p:cNvSpPr txBox="1"/>
          <p:nvPr>
            <p:ph idx="5" type="subTitle"/>
          </p:nvPr>
        </p:nvSpPr>
        <p:spPr>
          <a:xfrm>
            <a:off x="53066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28" name="Google Shape;328;p37"/>
          <p:cNvSpPr txBox="1"/>
          <p:nvPr>
            <p:ph idx="6" type="subTitle"/>
          </p:nvPr>
        </p:nvSpPr>
        <p:spPr>
          <a:xfrm>
            <a:off x="530665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29" name="Google Shape;329;p37"/>
          <p:cNvSpPr txBox="1"/>
          <p:nvPr>
            <p:ph idx="7" type="subTitle"/>
          </p:nvPr>
        </p:nvSpPr>
        <p:spPr>
          <a:xfrm>
            <a:off x="13512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0" name="Google Shape;330;p37"/>
          <p:cNvSpPr txBox="1"/>
          <p:nvPr>
            <p:ph idx="8" type="subTitle"/>
          </p:nvPr>
        </p:nvSpPr>
        <p:spPr>
          <a:xfrm>
            <a:off x="135130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1" name="Google Shape;331;p37"/>
          <p:cNvSpPr txBox="1"/>
          <p:nvPr>
            <p:ph hasCustomPrompt="1" idx="9" type="title"/>
          </p:nvPr>
        </p:nvSpPr>
        <p:spPr>
          <a:xfrm>
            <a:off x="13512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2" name="Google Shape;332;p37"/>
          <p:cNvSpPr txBox="1"/>
          <p:nvPr>
            <p:ph hasCustomPrompt="1" idx="13" type="title"/>
          </p:nvPr>
        </p:nvSpPr>
        <p:spPr>
          <a:xfrm>
            <a:off x="53066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3" name="Google Shape;333;p37"/>
          <p:cNvSpPr txBox="1"/>
          <p:nvPr>
            <p:ph hasCustomPrompt="1" idx="14" type="title"/>
          </p:nvPr>
        </p:nvSpPr>
        <p:spPr>
          <a:xfrm>
            <a:off x="135130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4" name="Google Shape;334;p37"/>
          <p:cNvSpPr txBox="1"/>
          <p:nvPr>
            <p:ph hasCustomPrompt="1" idx="15" type="title"/>
          </p:nvPr>
        </p:nvSpPr>
        <p:spPr>
          <a:xfrm>
            <a:off x="530665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4_2_1">
    <p:spTree>
      <p:nvGrpSpPr>
        <p:cNvPr id="335" name="Shape 335"/>
        <p:cNvGrpSpPr/>
        <p:nvPr/>
      </p:nvGrpSpPr>
      <p:grpSpPr>
        <a:xfrm>
          <a:off x="0" y="0"/>
          <a:ext cx="0" cy="0"/>
          <a:chOff x="0" y="0"/>
          <a:chExt cx="0" cy="0"/>
        </a:xfrm>
      </p:grpSpPr>
      <p:sp>
        <p:nvSpPr>
          <p:cNvPr id="336" name="Google Shape;336;p38"/>
          <p:cNvSpPr txBox="1"/>
          <p:nvPr>
            <p:ph idx="1" type="subTitle"/>
          </p:nvPr>
        </p:nvSpPr>
        <p:spPr>
          <a:xfrm>
            <a:off x="37183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37" name="Google Shape;337;p38"/>
          <p:cNvSpPr txBox="1"/>
          <p:nvPr>
            <p:ph idx="2" type="subTitle"/>
          </p:nvPr>
        </p:nvSpPr>
        <p:spPr>
          <a:xfrm>
            <a:off x="3617675"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38" name="Google Shape;338;p38"/>
          <p:cNvSpPr txBox="1"/>
          <p:nvPr>
            <p:ph idx="3" type="subTitle"/>
          </p:nvPr>
        </p:nvSpPr>
        <p:spPr>
          <a:xfrm>
            <a:off x="13280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39" name="Google Shape;339;p38"/>
          <p:cNvSpPr txBox="1"/>
          <p:nvPr>
            <p:ph idx="4" type="subTitle"/>
          </p:nvPr>
        </p:nvSpPr>
        <p:spPr>
          <a:xfrm>
            <a:off x="1227426"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0" name="Google Shape;340;p38"/>
          <p:cNvSpPr txBox="1"/>
          <p:nvPr>
            <p:ph idx="5" type="subTitle"/>
          </p:nvPr>
        </p:nvSpPr>
        <p:spPr>
          <a:xfrm>
            <a:off x="6108550" y="3294199"/>
            <a:ext cx="16431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1" name="Google Shape;341;p38"/>
          <p:cNvSpPr txBox="1"/>
          <p:nvPr>
            <p:ph idx="6" type="subTitle"/>
          </p:nvPr>
        </p:nvSpPr>
        <p:spPr>
          <a:xfrm>
            <a:off x="6008050"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2" name="Google Shape;342;p38"/>
          <p:cNvSpPr txBox="1"/>
          <p:nvPr>
            <p:ph type="title"/>
          </p:nvPr>
        </p:nvSpPr>
        <p:spPr>
          <a:xfrm>
            <a:off x="713225" y="445025"/>
            <a:ext cx="3188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43" name="Google Shape;343;p3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44" name="Google Shape;344;p3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3">
  <p:cSld name="CUSTOM_5">
    <p:spTree>
      <p:nvGrpSpPr>
        <p:cNvPr id="345" name="Shape 345"/>
        <p:cNvGrpSpPr/>
        <p:nvPr/>
      </p:nvGrpSpPr>
      <p:grpSpPr>
        <a:xfrm>
          <a:off x="0" y="0"/>
          <a:ext cx="0" cy="0"/>
          <a:chOff x="0" y="0"/>
          <a:chExt cx="0" cy="0"/>
        </a:xfrm>
      </p:grpSpPr>
      <p:sp>
        <p:nvSpPr>
          <p:cNvPr id="346" name="Google Shape;346;p39"/>
          <p:cNvSpPr txBox="1"/>
          <p:nvPr>
            <p:ph idx="1" type="subTitle"/>
          </p:nvPr>
        </p:nvSpPr>
        <p:spPr>
          <a:xfrm>
            <a:off x="4750175" y="163274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7" name="Google Shape;347;p39"/>
          <p:cNvSpPr txBox="1"/>
          <p:nvPr>
            <p:ph idx="2" type="subTitle"/>
          </p:nvPr>
        </p:nvSpPr>
        <p:spPr>
          <a:xfrm>
            <a:off x="4750184" y="2035022"/>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48" name="Google Shape;348;p39"/>
          <p:cNvSpPr txBox="1"/>
          <p:nvPr>
            <p:ph idx="3" type="subTitle"/>
          </p:nvPr>
        </p:nvSpPr>
        <p:spPr>
          <a:xfrm>
            <a:off x="2306450" y="1632746"/>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9" name="Google Shape;349;p39"/>
          <p:cNvSpPr txBox="1"/>
          <p:nvPr>
            <p:ph idx="4" type="subTitle"/>
          </p:nvPr>
        </p:nvSpPr>
        <p:spPr>
          <a:xfrm>
            <a:off x="2306462" y="2035022"/>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0" name="Google Shape;350;p39"/>
          <p:cNvSpPr txBox="1"/>
          <p:nvPr>
            <p:ph idx="5" type="subTitle"/>
          </p:nvPr>
        </p:nvSpPr>
        <p:spPr>
          <a:xfrm>
            <a:off x="4750175" y="3062273"/>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1" name="Google Shape;351;p39"/>
          <p:cNvSpPr txBox="1"/>
          <p:nvPr>
            <p:ph idx="6" type="subTitle"/>
          </p:nvPr>
        </p:nvSpPr>
        <p:spPr>
          <a:xfrm>
            <a:off x="4750184" y="3471047"/>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2" name="Google Shape;352;p39"/>
          <p:cNvSpPr txBox="1"/>
          <p:nvPr>
            <p:ph idx="7" type="subTitle"/>
          </p:nvPr>
        </p:nvSpPr>
        <p:spPr>
          <a:xfrm>
            <a:off x="2306450" y="3062273"/>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3" name="Google Shape;353;p39"/>
          <p:cNvSpPr txBox="1"/>
          <p:nvPr>
            <p:ph idx="8" type="subTitle"/>
          </p:nvPr>
        </p:nvSpPr>
        <p:spPr>
          <a:xfrm>
            <a:off x="2306462" y="3471047"/>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4" name="Google Shape;354;p39"/>
          <p:cNvSpPr txBox="1"/>
          <p:nvPr>
            <p:ph type="title"/>
          </p:nvPr>
        </p:nvSpPr>
        <p:spPr>
          <a:xfrm>
            <a:off x="713225" y="445025"/>
            <a:ext cx="2785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55" name="Google Shape;355;p3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56" name="Google Shape;356;p3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26">
    <p:spTree>
      <p:nvGrpSpPr>
        <p:cNvPr id="357" name="Shape 357"/>
        <p:cNvGrpSpPr/>
        <p:nvPr/>
      </p:nvGrpSpPr>
      <p:grpSpPr>
        <a:xfrm>
          <a:off x="0" y="0"/>
          <a:ext cx="0" cy="0"/>
          <a:chOff x="0" y="0"/>
          <a:chExt cx="0" cy="0"/>
        </a:xfrm>
      </p:grpSpPr>
      <p:cxnSp>
        <p:nvCxnSpPr>
          <p:cNvPr id="358" name="Google Shape;358;p4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59" name="Google Shape;359;p4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0" name="Google Shape;360;p40"/>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1" name="Google Shape;361;p40"/>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2" name="Google Shape;362;p40"/>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3" name="Google Shape;363;p40"/>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64" name="Google Shape;364;p40"/>
          <p:cNvSpPr txBox="1"/>
          <p:nvPr>
            <p:ph idx="1" type="subTitle"/>
          </p:nvPr>
        </p:nvSpPr>
        <p:spPr>
          <a:xfrm>
            <a:off x="728750" y="1112872"/>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65" name="Google Shape;365;p40"/>
          <p:cNvSpPr txBox="1"/>
          <p:nvPr>
            <p:ph idx="2" type="subTitle"/>
          </p:nvPr>
        </p:nvSpPr>
        <p:spPr>
          <a:xfrm>
            <a:off x="728762" y="151514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66" name="Google Shape;366;p40"/>
          <p:cNvSpPr txBox="1"/>
          <p:nvPr>
            <p:ph idx="3" type="subTitle"/>
          </p:nvPr>
        </p:nvSpPr>
        <p:spPr>
          <a:xfrm>
            <a:off x="728750" y="203638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67" name="Google Shape;367;p40"/>
          <p:cNvSpPr txBox="1"/>
          <p:nvPr>
            <p:ph idx="4" type="subTitle"/>
          </p:nvPr>
        </p:nvSpPr>
        <p:spPr>
          <a:xfrm>
            <a:off x="728762" y="2445160"/>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68" name="Google Shape;368;p40"/>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369" name="Google Shape;369;p40"/>
          <p:cNvSpPr txBox="1"/>
          <p:nvPr>
            <p:ph idx="5" type="subTitle"/>
          </p:nvPr>
        </p:nvSpPr>
        <p:spPr>
          <a:xfrm>
            <a:off x="728750" y="2997225"/>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70" name="Google Shape;370;p40"/>
          <p:cNvSpPr txBox="1"/>
          <p:nvPr>
            <p:ph idx="6" type="subTitle"/>
          </p:nvPr>
        </p:nvSpPr>
        <p:spPr>
          <a:xfrm>
            <a:off x="728762" y="340599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6">
    <p:spTree>
      <p:nvGrpSpPr>
        <p:cNvPr id="371" name="Shape 371"/>
        <p:cNvGrpSpPr/>
        <p:nvPr/>
      </p:nvGrpSpPr>
      <p:grpSpPr>
        <a:xfrm>
          <a:off x="0" y="0"/>
          <a:ext cx="0" cy="0"/>
          <a:chOff x="0" y="0"/>
          <a:chExt cx="0" cy="0"/>
        </a:xfrm>
      </p:grpSpPr>
      <p:sp>
        <p:nvSpPr>
          <p:cNvPr id="372" name="Google Shape;372;p41"/>
          <p:cNvSpPr txBox="1"/>
          <p:nvPr>
            <p:ph hasCustomPrompt="1" type="title"/>
          </p:nvPr>
        </p:nvSpPr>
        <p:spPr>
          <a:xfrm>
            <a:off x="2592925" y="71460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3" name="Google Shape;373;p41"/>
          <p:cNvSpPr txBox="1"/>
          <p:nvPr>
            <p:ph idx="1" type="subTitle"/>
          </p:nvPr>
        </p:nvSpPr>
        <p:spPr>
          <a:xfrm>
            <a:off x="2364984" y="134640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74" name="Google Shape;374;p41"/>
          <p:cNvSpPr txBox="1"/>
          <p:nvPr>
            <p:ph hasCustomPrompt="1" idx="2" type="title"/>
          </p:nvPr>
        </p:nvSpPr>
        <p:spPr>
          <a:xfrm>
            <a:off x="2592925" y="2063025"/>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5" name="Google Shape;375;p41"/>
          <p:cNvSpPr txBox="1"/>
          <p:nvPr>
            <p:ph idx="3" type="subTitle"/>
          </p:nvPr>
        </p:nvSpPr>
        <p:spPr>
          <a:xfrm>
            <a:off x="2364984" y="2694825"/>
            <a:ext cx="4414200" cy="37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76" name="Google Shape;376;p41"/>
          <p:cNvSpPr txBox="1"/>
          <p:nvPr>
            <p:ph hasCustomPrompt="1" idx="4" type="title"/>
          </p:nvPr>
        </p:nvSpPr>
        <p:spPr>
          <a:xfrm>
            <a:off x="2592925" y="341145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7" name="Google Shape;377;p41"/>
          <p:cNvSpPr txBox="1"/>
          <p:nvPr>
            <p:ph idx="5" type="subTitle"/>
          </p:nvPr>
        </p:nvSpPr>
        <p:spPr>
          <a:xfrm>
            <a:off x="2364950" y="404325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78" name="Google Shape;378;p4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79" name="Google Shape;379;p4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28">
    <p:spTree>
      <p:nvGrpSpPr>
        <p:cNvPr id="380" name="Shape 380"/>
        <p:cNvGrpSpPr/>
        <p:nvPr/>
      </p:nvGrpSpPr>
      <p:grpSpPr>
        <a:xfrm>
          <a:off x="0" y="0"/>
          <a:ext cx="0" cy="0"/>
          <a:chOff x="0" y="0"/>
          <a:chExt cx="0" cy="0"/>
        </a:xfrm>
      </p:grpSpPr>
      <p:sp>
        <p:nvSpPr>
          <p:cNvPr id="381" name="Google Shape;381;p42"/>
          <p:cNvSpPr txBox="1"/>
          <p:nvPr>
            <p:ph idx="1" type="subTitle"/>
          </p:nvPr>
        </p:nvSpPr>
        <p:spPr>
          <a:xfrm>
            <a:off x="5700609" y="2084269"/>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2" name="Google Shape;382;p42"/>
          <p:cNvSpPr txBox="1"/>
          <p:nvPr>
            <p:ph idx="2" type="subTitle"/>
          </p:nvPr>
        </p:nvSpPr>
        <p:spPr>
          <a:xfrm>
            <a:off x="5700621" y="2486544"/>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3" name="Google Shape;383;p42"/>
          <p:cNvSpPr txBox="1"/>
          <p:nvPr>
            <p:ph idx="3" type="subTitle"/>
          </p:nvPr>
        </p:nvSpPr>
        <p:spPr>
          <a:xfrm>
            <a:off x="1973988" y="902134"/>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4" name="Google Shape;384;p42"/>
          <p:cNvSpPr txBox="1"/>
          <p:nvPr>
            <p:ph idx="4" type="subTitle"/>
          </p:nvPr>
        </p:nvSpPr>
        <p:spPr>
          <a:xfrm>
            <a:off x="1973988" y="1304410"/>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5" name="Google Shape;385;p42"/>
          <p:cNvSpPr txBox="1"/>
          <p:nvPr>
            <p:ph idx="5" type="subTitle"/>
          </p:nvPr>
        </p:nvSpPr>
        <p:spPr>
          <a:xfrm>
            <a:off x="1973988" y="3290875"/>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6" name="Google Shape;386;p42"/>
          <p:cNvSpPr txBox="1"/>
          <p:nvPr>
            <p:ph idx="6" type="subTitle"/>
          </p:nvPr>
        </p:nvSpPr>
        <p:spPr>
          <a:xfrm>
            <a:off x="1973988" y="3699649"/>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87" name="Google Shape;387;p4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88" name="Google Shape;388;p4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89" name="Google Shape;389;p42"/>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90" name="Google Shape;390;p42"/>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91" name="Google Shape;391;p42"/>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92" name="Google Shape;392;p42"/>
          <p:cNvSpPr txBox="1"/>
          <p:nvPr>
            <p:ph hasCustomPrompt="1" type="title"/>
          </p:nvPr>
        </p:nvSpPr>
        <p:spPr>
          <a:xfrm>
            <a:off x="733000" y="1114450"/>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3" name="Google Shape;393;p42"/>
          <p:cNvSpPr txBox="1"/>
          <p:nvPr>
            <p:ph hasCustomPrompt="1" idx="7" type="title"/>
          </p:nvPr>
        </p:nvSpPr>
        <p:spPr>
          <a:xfrm>
            <a:off x="733000" y="3503175"/>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4" name="Google Shape;394;p42"/>
          <p:cNvSpPr txBox="1"/>
          <p:nvPr>
            <p:ph hasCustomPrompt="1" idx="8" type="title"/>
          </p:nvPr>
        </p:nvSpPr>
        <p:spPr>
          <a:xfrm>
            <a:off x="4441002" y="2276488"/>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7_1">
    <p:spTree>
      <p:nvGrpSpPr>
        <p:cNvPr id="395" name="Shape 395"/>
        <p:cNvGrpSpPr/>
        <p:nvPr/>
      </p:nvGrpSpPr>
      <p:grpSpPr>
        <a:xfrm>
          <a:off x="0" y="0"/>
          <a:ext cx="0" cy="0"/>
          <a:chOff x="0" y="0"/>
          <a:chExt cx="0" cy="0"/>
        </a:xfrm>
      </p:grpSpPr>
      <p:sp>
        <p:nvSpPr>
          <p:cNvPr id="396" name="Google Shape;396;p43"/>
          <p:cNvSpPr txBox="1"/>
          <p:nvPr>
            <p:ph type="title"/>
          </p:nvPr>
        </p:nvSpPr>
        <p:spPr>
          <a:xfrm>
            <a:off x="803750" y="2040496"/>
            <a:ext cx="4087500" cy="6732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97" name="Google Shape;397;p43"/>
          <p:cNvSpPr txBox="1"/>
          <p:nvPr>
            <p:ph idx="1" type="subTitle"/>
          </p:nvPr>
        </p:nvSpPr>
        <p:spPr>
          <a:xfrm>
            <a:off x="803750" y="2693525"/>
            <a:ext cx="3159300" cy="55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Font typeface="Josefin Sans"/>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398" name="Google Shape;398;p4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99" name="Google Shape;399;p4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7_2">
    <p:spTree>
      <p:nvGrpSpPr>
        <p:cNvPr id="400" name="Shape 400"/>
        <p:cNvGrpSpPr/>
        <p:nvPr/>
      </p:nvGrpSpPr>
      <p:grpSpPr>
        <a:xfrm>
          <a:off x="0" y="0"/>
          <a:ext cx="0" cy="0"/>
          <a:chOff x="0" y="0"/>
          <a:chExt cx="0" cy="0"/>
        </a:xfrm>
      </p:grpSpPr>
      <p:sp>
        <p:nvSpPr>
          <p:cNvPr id="401" name="Google Shape;401;p44"/>
          <p:cNvSpPr txBox="1"/>
          <p:nvPr>
            <p:ph type="title"/>
          </p:nvPr>
        </p:nvSpPr>
        <p:spPr>
          <a:xfrm>
            <a:off x="4490150" y="2047725"/>
            <a:ext cx="3364200" cy="628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p:txBody>
      </p:sp>
      <p:sp>
        <p:nvSpPr>
          <p:cNvPr id="402" name="Google Shape;402;p44"/>
          <p:cNvSpPr txBox="1"/>
          <p:nvPr>
            <p:ph idx="1" type="subTitle"/>
          </p:nvPr>
        </p:nvSpPr>
        <p:spPr>
          <a:xfrm>
            <a:off x="4855550" y="2694825"/>
            <a:ext cx="2998800" cy="558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Font typeface="Josefin Sans"/>
              <a:buNone/>
              <a:defRPr sz="1400">
                <a:solidFill>
                  <a:schemeClr val="dk1"/>
                </a:solidFill>
              </a:defRPr>
            </a:lvl1pPr>
            <a:lvl2pPr lvl="1" rtl="0">
              <a:spcBef>
                <a:spcPts val="0"/>
              </a:spcBef>
              <a:spcAft>
                <a:spcPts val="0"/>
              </a:spcAft>
              <a:buSzPts val="1500"/>
              <a:buNone/>
              <a:defRPr sz="1500"/>
            </a:lvl2pPr>
            <a:lvl3pPr lvl="2" rtl="0">
              <a:spcBef>
                <a:spcPts val="0"/>
              </a:spcBef>
              <a:spcAft>
                <a:spcPts val="0"/>
              </a:spcAft>
              <a:buSzPts val="1500"/>
              <a:buNone/>
              <a:defRPr sz="1500"/>
            </a:lvl3pPr>
            <a:lvl4pPr lvl="3" rtl="0">
              <a:spcBef>
                <a:spcPts val="0"/>
              </a:spcBef>
              <a:spcAft>
                <a:spcPts val="0"/>
              </a:spcAft>
              <a:buSzPts val="1500"/>
              <a:buNone/>
              <a:defRPr sz="1500"/>
            </a:lvl4pPr>
            <a:lvl5pPr lvl="4" rtl="0">
              <a:spcBef>
                <a:spcPts val="0"/>
              </a:spcBef>
              <a:spcAft>
                <a:spcPts val="0"/>
              </a:spcAft>
              <a:buSzPts val="1500"/>
              <a:buNone/>
              <a:defRPr sz="1500"/>
            </a:lvl5pPr>
            <a:lvl6pPr lvl="5" rtl="0">
              <a:spcBef>
                <a:spcPts val="0"/>
              </a:spcBef>
              <a:spcAft>
                <a:spcPts val="0"/>
              </a:spcAft>
              <a:buSzPts val="1500"/>
              <a:buNone/>
              <a:defRPr sz="1500"/>
            </a:lvl6pPr>
            <a:lvl7pPr lvl="6" rtl="0">
              <a:spcBef>
                <a:spcPts val="0"/>
              </a:spcBef>
              <a:spcAft>
                <a:spcPts val="0"/>
              </a:spcAft>
              <a:buSzPts val="1500"/>
              <a:buNone/>
              <a:defRPr sz="1500"/>
            </a:lvl7pPr>
            <a:lvl8pPr lvl="7" rtl="0">
              <a:spcBef>
                <a:spcPts val="0"/>
              </a:spcBef>
              <a:spcAft>
                <a:spcPts val="0"/>
              </a:spcAft>
              <a:buSzPts val="1500"/>
              <a:buNone/>
              <a:defRPr sz="1500"/>
            </a:lvl8pPr>
            <a:lvl9pPr lvl="8" rtl="0">
              <a:spcBef>
                <a:spcPts val="0"/>
              </a:spcBef>
              <a:spcAft>
                <a:spcPts val="0"/>
              </a:spcAft>
              <a:buSzPts val="1500"/>
              <a:buNone/>
              <a:defRPr sz="1500"/>
            </a:lvl9pPr>
          </a:lstStyle>
          <a:p/>
        </p:txBody>
      </p:sp>
      <p:cxnSp>
        <p:nvCxnSpPr>
          <p:cNvPr id="403" name="Google Shape;403;p4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04" name="Google Shape;404;p4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8">
    <p:spTree>
      <p:nvGrpSpPr>
        <p:cNvPr id="405" name="Shape 405"/>
        <p:cNvGrpSpPr/>
        <p:nvPr/>
      </p:nvGrpSpPr>
      <p:grpSpPr>
        <a:xfrm>
          <a:off x="0" y="0"/>
          <a:ext cx="0" cy="0"/>
          <a:chOff x="0" y="0"/>
          <a:chExt cx="0" cy="0"/>
        </a:xfrm>
      </p:grpSpPr>
      <p:sp>
        <p:nvSpPr>
          <p:cNvPr id="406" name="Google Shape;406;p45"/>
          <p:cNvSpPr txBox="1"/>
          <p:nvPr>
            <p:ph idx="1" type="subTitle"/>
          </p:nvPr>
        </p:nvSpPr>
        <p:spPr>
          <a:xfrm>
            <a:off x="4166800" y="1453525"/>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407" name="Google Shape;407;p45"/>
          <p:cNvSpPr txBox="1"/>
          <p:nvPr>
            <p:ph type="title"/>
          </p:nvPr>
        </p:nvSpPr>
        <p:spPr>
          <a:xfrm>
            <a:off x="713225" y="445025"/>
            <a:ext cx="4502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08" name="Google Shape;408;p4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09" name="Google Shape;409;p4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0" name="Google Shape;410;p45"/>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9">
    <p:spTree>
      <p:nvGrpSpPr>
        <p:cNvPr id="411" name="Shape 411"/>
        <p:cNvGrpSpPr/>
        <p:nvPr/>
      </p:nvGrpSpPr>
      <p:grpSpPr>
        <a:xfrm>
          <a:off x="0" y="0"/>
          <a:ext cx="0" cy="0"/>
          <a:chOff x="0" y="0"/>
          <a:chExt cx="0" cy="0"/>
        </a:xfrm>
      </p:grpSpPr>
      <p:cxnSp>
        <p:nvCxnSpPr>
          <p:cNvPr id="412" name="Google Shape;412;p4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3" name="Google Shape;413;p4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4" name="Google Shape;414;p46"/>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15" name="Google Shape;415;p46"/>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16" name="Google Shape;416;p4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17" name="Google Shape;417;p46"/>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418" name="Google Shape;418;p46"/>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19" name="Google Shape;419;p46"/>
          <p:cNvSpPr txBox="1"/>
          <p:nvPr>
            <p:ph idx="1" type="subTitle"/>
          </p:nvPr>
        </p:nvSpPr>
        <p:spPr>
          <a:xfrm>
            <a:off x="4525188"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420" name="Google Shape;420;p46"/>
          <p:cNvSpPr txBox="1"/>
          <p:nvPr>
            <p:ph idx="2" type="subTitle"/>
          </p:nvPr>
        </p:nvSpPr>
        <p:spPr>
          <a:xfrm>
            <a:off x="661213"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9">
    <p:spTree>
      <p:nvGrpSpPr>
        <p:cNvPr id="421" name="Shape 421"/>
        <p:cNvGrpSpPr/>
        <p:nvPr/>
      </p:nvGrpSpPr>
      <p:grpSpPr>
        <a:xfrm>
          <a:off x="0" y="0"/>
          <a:ext cx="0" cy="0"/>
          <a:chOff x="0" y="0"/>
          <a:chExt cx="0" cy="0"/>
        </a:xfrm>
      </p:grpSpPr>
      <p:sp>
        <p:nvSpPr>
          <p:cNvPr id="422" name="Google Shape;422;p47"/>
          <p:cNvSpPr txBox="1"/>
          <p:nvPr>
            <p:ph idx="1" type="subTitle"/>
          </p:nvPr>
        </p:nvSpPr>
        <p:spPr>
          <a:xfrm>
            <a:off x="4816075"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23" name="Google Shape;423;p47"/>
          <p:cNvSpPr txBox="1"/>
          <p:nvPr>
            <p:ph idx="2" type="subTitle"/>
          </p:nvPr>
        </p:nvSpPr>
        <p:spPr>
          <a:xfrm>
            <a:off x="4816200"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24" name="Google Shape;424;p47"/>
          <p:cNvSpPr txBox="1"/>
          <p:nvPr>
            <p:ph idx="3" type="subTitle"/>
          </p:nvPr>
        </p:nvSpPr>
        <p:spPr>
          <a:xfrm>
            <a:off x="1385829"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25" name="Google Shape;425;p47"/>
          <p:cNvSpPr txBox="1"/>
          <p:nvPr>
            <p:ph idx="4" type="subTitle"/>
          </p:nvPr>
        </p:nvSpPr>
        <p:spPr>
          <a:xfrm>
            <a:off x="1386025"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26" name="Google Shape;426;p47"/>
          <p:cNvSpPr txBox="1"/>
          <p:nvPr>
            <p:ph type="title"/>
          </p:nvPr>
        </p:nvSpPr>
        <p:spPr>
          <a:xfrm>
            <a:off x="713225" y="445025"/>
            <a:ext cx="2729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27" name="Google Shape;427;p4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28" name="Google Shape;428;p4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4">
  <p:cSld name="CUSTOM_31">
    <p:spTree>
      <p:nvGrpSpPr>
        <p:cNvPr id="429" name="Shape 429"/>
        <p:cNvGrpSpPr/>
        <p:nvPr/>
      </p:nvGrpSpPr>
      <p:grpSpPr>
        <a:xfrm>
          <a:off x="0" y="0"/>
          <a:ext cx="0" cy="0"/>
          <a:chOff x="0" y="0"/>
          <a:chExt cx="0" cy="0"/>
        </a:xfrm>
      </p:grpSpPr>
      <p:sp>
        <p:nvSpPr>
          <p:cNvPr id="430" name="Google Shape;430;p48"/>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31" name="Google Shape;431;p48"/>
          <p:cNvSpPr txBox="1"/>
          <p:nvPr>
            <p:ph idx="1"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2" name="Google Shape;432;p48"/>
          <p:cNvSpPr txBox="1"/>
          <p:nvPr>
            <p:ph idx="2" type="subTitle"/>
          </p:nvPr>
        </p:nvSpPr>
        <p:spPr>
          <a:xfrm>
            <a:off x="350902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3" name="Google Shape;433;p48"/>
          <p:cNvSpPr txBox="1"/>
          <p:nvPr>
            <p:ph idx="3"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4" name="Google Shape;434;p48"/>
          <p:cNvSpPr txBox="1"/>
          <p:nvPr>
            <p:ph idx="4" type="subTitle"/>
          </p:nvPr>
        </p:nvSpPr>
        <p:spPr>
          <a:xfrm>
            <a:off x="953125" y="3814951"/>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5" name="Google Shape;435;p48"/>
          <p:cNvSpPr txBox="1"/>
          <p:nvPr>
            <p:ph idx="5"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6" name="Google Shape;436;p48"/>
          <p:cNvSpPr txBox="1"/>
          <p:nvPr>
            <p:ph idx="6" type="subTitle"/>
          </p:nvPr>
        </p:nvSpPr>
        <p:spPr>
          <a:xfrm>
            <a:off x="606487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437" name="Google Shape;437;p4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38" name="Google Shape;438;p4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39" name="Google Shape;439;p48"/>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40" name="Google Shape;440;p48"/>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441" name="Shape 441"/>
        <p:cNvGrpSpPr/>
        <p:nvPr/>
      </p:nvGrpSpPr>
      <p:grpSpPr>
        <a:xfrm>
          <a:off x="0" y="0"/>
          <a:ext cx="0" cy="0"/>
          <a:chOff x="0" y="0"/>
          <a:chExt cx="0" cy="0"/>
        </a:xfrm>
      </p:grpSpPr>
      <p:sp>
        <p:nvSpPr>
          <p:cNvPr id="442" name="Google Shape;442;p49"/>
          <p:cNvSpPr txBox="1"/>
          <p:nvPr>
            <p:ph type="title"/>
          </p:nvPr>
        </p:nvSpPr>
        <p:spPr>
          <a:xfrm>
            <a:off x="2832900" y="791200"/>
            <a:ext cx="3478200" cy="922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300"/>
              <a:buNone/>
              <a:defRPr sz="7000"/>
            </a:lvl1pPr>
            <a:lvl2pPr lvl="1" rtl="0" algn="ctr">
              <a:spcBef>
                <a:spcPts val="0"/>
              </a:spcBef>
              <a:spcAft>
                <a:spcPts val="0"/>
              </a:spcAft>
              <a:buSzPts val="3000"/>
              <a:buNone/>
              <a:defRPr>
                <a:latin typeface="Open Sans"/>
                <a:ea typeface="Open Sans"/>
                <a:cs typeface="Open Sans"/>
                <a:sym typeface="Open Sans"/>
              </a:defRPr>
            </a:lvl2pPr>
            <a:lvl3pPr lvl="2" rtl="0" algn="ctr">
              <a:spcBef>
                <a:spcPts val="0"/>
              </a:spcBef>
              <a:spcAft>
                <a:spcPts val="0"/>
              </a:spcAft>
              <a:buSzPts val="3000"/>
              <a:buNone/>
              <a:defRPr>
                <a:latin typeface="Open Sans"/>
                <a:ea typeface="Open Sans"/>
                <a:cs typeface="Open Sans"/>
                <a:sym typeface="Open Sans"/>
              </a:defRPr>
            </a:lvl3pPr>
            <a:lvl4pPr lvl="3" rtl="0" algn="ctr">
              <a:spcBef>
                <a:spcPts val="0"/>
              </a:spcBef>
              <a:spcAft>
                <a:spcPts val="0"/>
              </a:spcAft>
              <a:buSzPts val="3000"/>
              <a:buNone/>
              <a:defRPr>
                <a:latin typeface="Open Sans"/>
                <a:ea typeface="Open Sans"/>
                <a:cs typeface="Open Sans"/>
                <a:sym typeface="Open Sans"/>
              </a:defRPr>
            </a:lvl4pPr>
            <a:lvl5pPr lvl="4" rtl="0" algn="ctr">
              <a:spcBef>
                <a:spcPts val="0"/>
              </a:spcBef>
              <a:spcAft>
                <a:spcPts val="0"/>
              </a:spcAft>
              <a:buSzPts val="3000"/>
              <a:buNone/>
              <a:defRPr>
                <a:latin typeface="Open Sans"/>
                <a:ea typeface="Open Sans"/>
                <a:cs typeface="Open Sans"/>
                <a:sym typeface="Open Sans"/>
              </a:defRPr>
            </a:lvl5pPr>
            <a:lvl6pPr lvl="5" rtl="0" algn="ctr">
              <a:spcBef>
                <a:spcPts val="0"/>
              </a:spcBef>
              <a:spcAft>
                <a:spcPts val="0"/>
              </a:spcAft>
              <a:buSzPts val="3000"/>
              <a:buNone/>
              <a:defRPr>
                <a:latin typeface="Open Sans"/>
                <a:ea typeface="Open Sans"/>
                <a:cs typeface="Open Sans"/>
                <a:sym typeface="Open Sans"/>
              </a:defRPr>
            </a:lvl6pPr>
            <a:lvl7pPr lvl="6" rtl="0" algn="ctr">
              <a:spcBef>
                <a:spcPts val="0"/>
              </a:spcBef>
              <a:spcAft>
                <a:spcPts val="0"/>
              </a:spcAft>
              <a:buSzPts val="3000"/>
              <a:buNone/>
              <a:defRPr>
                <a:latin typeface="Open Sans"/>
                <a:ea typeface="Open Sans"/>
                <a:cs typeface="Open Sans"/>
                <a:sym typeface="Open Sans"/>
              </a:defRPr>
            </a:lvl7pPr>
            <a:lvl8pPr lvl="7" rtl="0" algn="ctr">
              <a:spcBef>
                <a:spcPts val="0"/>
              </a:spcBef>
              <a:spcAft>
                <a:spcPts val="0"/>
              </a:spcAft>
              <a:buSzPts val="3000"/>
              <a:buNone/>
              <a:defRPr>
                <a:latin typeface="Open Sans"/>
                <a:ea typeface="Open Sans"/>
                <a:cs typeface="Open Sans"/>
                <a:sym typeface="Open Sans"/>
              </a:defRPr>
            </a:lvl8pPr>
            <a:lvl9pPr lvl="8" rtl="0" algn="ctr">
              <a:spcBef>
                <a:spcPts val="0"/>
              </a:spcBef>
              <a:spcAft>
                <a:spcPts val="0"/>
              </a:spcAft>
              <a:buSzPts val="3000"/>
              <a:buNone/>
              <a:defRPr>
                <a:latin typeface="Open Sans"/>
                <a:ea typeface="Open Sans"/>
                <a:cs typeface="Open Sans"/>
                <a:sym typeface="Open Sans"/>
              </a:defRPr>
            </a:lvl9pPr>
          </a:lstStyle>
          <a:p/>
        </p:txBody>
      </p:sp>
      <p:sp>
        <p:nvSpPr>
          <p:cNvPr id="443" name="Google Shape;443;p49"/>
          <p:cNvSpPr txBox="1"/>
          <p:nvPr>
            <p:ph idx="1" type="subTitle"/>
          </p:nvPr>
        </p:nvSpPr>
        <p:spPr>
          <a:xfrm>
            <a:off x="2983350" y="1749425"/>
            <a:ext cx="3177300" cy="92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44" name="Google Shape;444;p49"/>
          <p:cNvSpPr txBox="1"/>
          <p:nvPr/>
        </p:nvSpPr>
        <p:spPr>
          <a:xfrm>
            <a:off x="2900450" y="3438275"/>
            <a:ext cx="3343200" cy="71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2"/>
                </a:solidFill>
                <a:latin typeface="Montserrat"/>
                <a:ea typeface="Montserrat"/>
                <a:cs typeface="Montserrat"/>
                <a:sym typeface="Montserrat"/>
              </a:rPr>
              <a:t>CREDITS</a:t>
            </a:r>
            <a:r>
              <a:rPr lang="en" sz="1100">
                <a:solidFill>
                  <a:schemeClr val="dk2"/>
                </a:solidFill>
                <a:latin typeface="Montserrat"/>
                <a:ea typeface="Montserrat"/>
                <a:cs typeface="Montserrat"/>
                <a:sym typeface="Montserrat"/>
              </a:rPr>
              <a:t>: This presentation template was created by </a:t>
            </a:r>
            <a:r>
              <a:rPr b="1" lang="en" sz="1100">
                <a:solidFill>
                  <a:schemeClr val="dk2"/>
                </a:solidFill>
                <a:uFill>
                  <a:noFill/>
                </a:uFill>
                <a:latin typeface="Montserrat"/>
                <a:ea typeface="Montserrat"/>
                <a:cs typeface="Montserrat"/>
                <a:sym typeface="Montserrat"/>
                <a:hlinkClick r:id="rId2">
                  <a:extLst>
                    <a:ext uri="{A12FA001-AC4F-418D-AE19-62706E023703}">
                      <ahyp:hlinkClr val="tx"/>
                    </a:ext>
                  </a:extLst>
                </a:hlinkClick>
              </a:rPr>
              <a:t>Slidesgo</a:t>
            </a:r>
            <a:r>
              <a:rPr lang="en" sz="1100">
                <a:solidFill>
                  <a:schemeClr val="dk2"/>
                </a:solidFill>
                <a:latin typeface="Montserrat"/>
                <a:ea typeface="Montserrat"/>
                <a:cs typeface="Montserrat"/>
                <a:sym typeface="Montserrat"/>
              </a:rPr>
              <a:t>, including icons by </a:t>
            </a:r>
            <a:r>
              <a:rPr b="1" lang="en" sz="1100">
                <a:solidFill>
                  <a:schemeClr val="dk2"/>
                </a:solidFill>
                <a:uFill>
                  <a:noFill/>
                </a:uFill>
                <a:latin typeface="Montserrat"/>
                <a:ea typeface="Montserrat"/>
                <a:cs typeface="Montserrat"/>
                <a:sym typeface="Montserrat"/>
                <a:hlinkClick r:id="rId3">
                  <a:extLst>
                    <a:ext uri="{A12FA001-AC4F-418D-AE19-62706E023703}">
                      <ahyp:hlinkClr val="tx"/>
                    </a:ext>
                  </a:extLst>
                </a:hlinkClick>
              </a:rPr>
              <a:t>Flaticon</a:t>
            </a:r>
            <a:r>
              <a:rPr lang="en" sz="1100">
                <a:solidFill>
                  <a:schemeClr val="dk2"/>
                </a:solidFill>
                <a:latin typeface="Montserrat"/>
                <a:ea typeface="Montserrat"/>
                <a:cs typeface="Montserrat"/>
                <a:sym typeface="Montserrat"/>
              </a:rPr>
              <a:t>, infographics &amp; images by </a:t>
            </a:r>
            <a:r>
              <a:rPr b="1" lang="en" sz="1100">
                <a:solidFill>
                  <a:schemeClr val="dk2"/>
                </a:solidFill>
                <a:uFill>
                  <a:noFill/>
                </a:uFill>
                <a:latin typeface="Montserrat"/>
                <a:ea typeface="Montserrat"/>
                <a:cs typeface="Montserrat"/>
                <a:sym typeface="Montserrat"/>
                <a:hlinkClick r:id="rId4">
                  <a:extLst>
                    <a:ext uri="{A12FA001-AC4F-418D-AE19-62706E023703}">
                      <ahyp:hlinkClr val="tx"/>
                    </a:ext>
                  </a:extLst>
                </a:hlinkClick>
              </a:rPr>
              <a:t>Freepik</a:t>
            </a:r>
            <a:endParaRPr b="1" sz="1100">
              <a:solidFill>
                <a:schemeClr val="dk2"/>
              </a:solidFill>
              <a:latin typeface="Montserrat"/>
              <a:ea typeface="Montserrat"/>
              <a:cs typeface="Montserrat"/>
              <a:sym typeface="Montserrat"/>
            </a:endParaRPr>
          </a:p>
        </p:txBody>
      </p:sp>
      <p:cxnSp>
        <p:nvCxnSpPr>
          <p:cNvPr id="445" name="Google Shape;445;p4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46" name="Google Shape;446;p49"/>
          <p:cNvCxnSpPr/>
          <p:nvPr/>
        </p:nvCxnSpPr>
        <p:spPr>
          <a:xfrm>
            <a:off x="-257975"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47" name="Google Shape;447;p4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48" name="Google Shape;448;p49"/>
          <p:cNvCxnSpPr/>
          <p:nvPr/>
        </p:nvCxnSpPr>
        <p:spPr>
          <a:xfrm>
            <a:off x="6467450"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spTree>
      <p:nvGrpSpPr>
        <p:cNvPr id="449" name="Shape 449"/>
        <p:cNvGrpSpPr/>
        <p:nvPr/>
      </p:nvGrpSpPr>
      <p:grpSpPr>
        <a:xfrm>
          <a:off x="0" y="0"/>
          <a:ext cx="0" cy="0"/>
          <a:chOff x="0" y="0"/>
          <a:chExt cx="0" cy="0"/>
        </a:xfrm>
      </p:grpSpPr>
      <p:cxnSp>
        <p:nvCxnSpPr>
          <p:cNvPr id="450" name="Google Shape;450;p5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1" name="Google Shape;451;p5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_1">
    <p:spTree>
      <p:nvGrpSpPr>
        <p:cNvPr id="452" name="Shape 452"/>
        <p:cNvGrpSpPr/>
        <p:nvPr/>
      </p:nvGrpSpPr>
      <p:grpSpPr>
        <a:xfrm>
          <a:off x="0" y="0"/>
          <a:ext cx="0" cy="0"/>
          <a:chOff x="0" y="0"/>
          <a:chExt cx="0" cy="0"/>
        </a:xfrm>
      </p:grpSpPr>
      <p:cxnSp>
        <p:nvCxnSpPr>
          <p:cNvPr id="453" name="Google Shape;453;p5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4" name="Google Shape;454;p5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5" name="Google Shape;455;p51"/>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56" name="Google Shape;456;p51"/>
          <p:cNvCxnSpPr/>
          <p:nvPr/>
        </p:nvCxnSpPr>
        <p:spPr>
          <a:xfrm>
            <a:off x="-147275" y="3943475"/>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0_1_1">
    <p:spTree>
      <p:nvGrpSpPr>
        <p:cNvPr id="457" name="Shape 457"/>
        <p:cNvGrpSpPr/>
        <p:nvPr/>
      </p:nvGrpSpPr>
      <p:grpSpPr>
        <a:xfrm>
          <a:off x="0" y="0"/>
          <a:ext cx="0" cy="0"/>
          <a:chOff x="0" y="0"/>
          <a:chExt cx="0" cy="0"/>
        </a:xfrm>
      </p:grpSpPr>
      <p:cxnSp>
        <p:nvCxnSpPr>
          <p:cNvPr id="458" name="Google Shape;458;p5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9" name="Google Shape;459;p5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0" name="Google Shape;460;p52"/>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30">
    <p:spTree>
      <p:nvGrpSpPr>
        <p:cNvPr id="461" name="Shape 461"/>
        <p:cNvGrpSpPr/>
        <p:nvPr/>
      </p:nvGrpSpPr>
      <p:grpSpPr>
        <a:xfrm>
          <a:off x="0" y="0"/>
          <a:ext cx="0" cy="0"/>
          <a:chOff x="0" y="0"/>
          <a:chExt cx="0" cy="0"/>
        </a:xfrm>
      </p:grpSpPr>
      <p:cxnSp>
        <p:nvCxnSpPr>
          <p:cNvPr id="462" name="Google Shape;462;p5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3" name="Google Shape;463;p5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4" name="Google Shape;464;p53"/>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65" name="Google Shape;465;p5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66" name="Google Shape;466;p5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67" name="Google Shape;467;p53"/>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71" name="Shape 471"/>
        <p:cNvGrpSpPr/>
        <p:nvPr/>
      </p:nvGrpSpPr>
      <p:grpSpPr>
        <a:xfrm>
          <a:off x="0" y="0"/>
          <a:ext cx="0" cy="0"/>
          <a:chOff x="0" y="0"/>
          <a:chExt cx="0" cy="0"/>
        </a:xfrm>
      </p:grpSpPr>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75" name="Shape 475"/>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476" name="Shape 476"/>
        <p:cNvGrpSpPr/>
        <p:nvPr/>
      </p:nvGrpSpPr>
      <p:grpSpPr>
        <a:xfrm>
          <a:off x="0" y="0"/>
          <a:ext cx="0" cy="0"/>
          <a:chOff x="0" y="0"/>
          <a:chExt cx="0" cy="0"/>
        </a:xfrm>
      </p:grpSpPr>
      <p:sp>
        <p:nvSpPr>
          <p:cNvPr id="477" name="Google Shape;477;p58"/>
          <p:cNvSpPr txBox="1"/>
          <p:nvPr>
            <p:ph type="title"/>
          </p:nvPr>
        </p:nvSpPr>
        <p:spPr>
          <a:xfrm>
            <a:off x="1048350" y="323850"/>
            <a:ext cx="70473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Arial"/>
              <a:buNone/>
              <a:defRPr>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slideLayout" Target="../slideLayouts/slideLayout55.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i="1" sz="3000">
                <a:solidFill>
                  <a:schemeClr val="dk1"/>
                </a:solidFill>
              </a:defRPr>
            </a:lvl2pPr>
            <a:lvl3pPr lvl="2">
              <a:spcBef>
                <a:spcPts val="0"/>
              </a:spcBef>
              <a:spcAft>
                <a:spcPts val="0"/>
              </a:spcAft>
              <a:buClr>
                <a:schemeClr val="dk1"/>
              </a:buClr>
              <a:buSzPts val="3000"/>
              <a:buNone/>
              <a:defRPr i="1" sz="3000">
                <a:solidFill>
                  <a:schemeClr val="dk1"/>
                </a:solidFill>
              </a:defRPr>
            </a:lvl3pPr>
            <a:lvl4pPr lvl="3">
              <a:spcBef>
                <a:spcPts val="0"/>
              </a:spcBef>
              <a:spcAft>
                <a:spcPts val="0"/>
              </a:spcAft>
              <a:buClr>
                <a:schemeClr val="dk1"/>
              </a:buClr>
              <a:buSzPts val="3000"/>
              <a:buNone/>
              <a:defRPr i="1" sz="3000">
                <a:solidFill>
                  <a:schemeClr val="dk1"/>
                </a:solidFill>
              </a:defRPr>
            </a:lvl4pPr>
            <a:lvl5pPr lvl="4">
              <a:spcBef>
                <a:spcPts val="0"/>
              </a:spcBef>
              <a:spcAft>
                <a:spcPts val="0"/>
              </a:spcAft>
              <a:buClr>
                <a:schemeClr val="dk1"/>
              </a:buClr>
              <a:buSzPts val="3000"/>
              <a:buNone/>
              <a:defRPr i="1" sz="3000">
                <a:solidFill>
                  <a:schemeClr val="dk1"/>
                </a:solidFill>
              </a:defRPr>
            </a:lvl5pPr>
            <a:lvl6pPr lvl="5">
              <a:spcBef>
                <a:spcPts val="0"/>
              </a:spcBef>
              <a:spcAft>
                <a:spcPts val="0"/>
              </a:spcAft>
              <a:buClr>
                <a:schemeClr val="dk1"/>
              </a:buClr>
              <a:buSzPts val="3000"/>
              <a:buNone/>
              <a:defRPr i="1" sz="3000">
                <a:solidFill>
                  <a:schemeClr val="dk1"/>
                </a:solidFill>
              </a:defRPr>
            </a:lvl6pPr>
            <a:lvl7pPr lvl="6">
              <a:spcBef>
                <a:spcPts val="0"/>
              </a:spcBef>
              <a:spcAft>
                <a:spcPts val="0"/>
              </a:spcAft>
              <a:buClr>
                <a:schemeClr val="dk1"/>
              </a:buClr>
              <a:buSzPts val="3000"/>
              <a:buNone/>
              <a:defRPr i="1" sz="3000">
                <a:solidFill>
                  <a:schemeClr val="dk1"/>
                </a:solidFill>
              </a:defRPr>
            </a:lvl7pPr>
            <a:lvl8pPr lvl="7">
              <a:spcBef>
                <a:spcPts val="0"/>
              </a:spcBef>
              <a:spcAft>
                <a:spcPts val="0"/>
              </a:spcAft>
              <a:buClr>
                <a:schemeClr val="dk1"/>
              </a:buClr>
              <a:buSzPts val="3000"/>
              <a:buNone/>
              <a:defRPr i="1" sz="3000">
                <a:solidFill>
                  <a:schemeClr val="dk1"/>
                </a:solidFill>
              </a:defRPr>
            </a:lvl8pPr>
            <a:lvl9pPr lvl="8">
              <a:spcBef>
                <a:spcPts val="0"/>
              </a:spcBef>
              <a:spcAft>
                <a:spcPts val="0"/>
              </a:spcAft>
              <a:buClr>
                <a:schemeClr val="dk1"/>
              </a:buClr>
              <a:buSzPts val="3000"/>
              <a:buNone/>
              <a:defRPr i="1" sz="3000">
                <a:solidFill>
                  <a:schemeClr val="dk1"/>
                </a:solidFill>
              </a:defRPr>
            </a:lvl9pPr>
          </a:lstStyle>
          <a:p/>
        </p:txBody>
      </p:sp>
      <p:sp>
        <p:nvSpPr>
          <p:cNvPr id="7" name="Google Shape;7;p1"/>
          <p:cNvSpPr txBox="1"/>
          <p:nvPr>
            <p:ph idx="1" type="body"/>
          </p:nvPr>
        </p:nvSpPr>
        <p:spPr>
          <a:xfrm>
            <a:off x="713250" y="1152475"/>
            <a:ext cx="77175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468" name="Shape 468"/>
        <p:cNvGrpSpPr/>
        <p:nvPr/>
      </p:nvGrpSpPr>
      <p:grpSpPr>
        <a:xfrm>
          <a:off x="0" y="0"/>
          <a:ext cx="0" cy="0"/>
          <a:chOff x="0" y="0"/>
          <a:chExt cx="0" cy="0"/>
        </a:xfrm>
      </p:grpSpPr>
      <p:sp>
        <p:nvSpPr>
          <p:cNvPr id="469" name="Google Shape;469;p54"/>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470" name="Google Shape;470;p54"/>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70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472" name="Shape 472"/>
        <p:cNvGrpSpPr/>
        <p:nvPr/>
      </p:nvGrpSpPr>
      <p:grpSpPr>
        <a:xfrm>
          <a:off x="0" y="0"/>
          <a:ext cx="0" cy="0"/>
          <a:chOff x="0" y="0"/>
          <a:chExt cx="0" cy="0"/>
        </a:xfrm>
      </p:grpSpPr>
      <p:sp>
        <p:nvSpPr>
          <p:cNvPr id="473" name="Google Shape;473;p56"/>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474" name="Google Shape;474;p56"/>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701" r:id="rId1"/>
    <p:sldLayoutId id="2147483702"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4000"/>
              <a:t>Three Shareholders, Three Contributions, One Company</a:t>
            </a:r>
          </a:p>
        </p:txBody>
      </p:sp>
      <p:sp>
        <p:nvSpPr>
          <p:cNvPr id="3" name="Subtitle 2"/>
          <p:cNvSpPr>
            <a:spLocks noGrp="1"/>
          </p:cNvSpPr>
          <p:nvPr>
            <p:ph type="subTitle" idx="1"/>
          </p:nvPr>
        </p:nvSpPr>
        <p:spPr/>
        <p:txBody>
          <a:bodyPr/>
          <a:lstStyle/>
          <a:p>
            <a:r>
              <a:t>Where does shareholder liability stop?  ·  English Part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Case Summary</a:t>
            </a:r>
          </a:p>
        </p:txBody>
      </p:sp>
      <p:sp>
        <p:nvSpPr>
          <p:cNvPr id="3" name="Rectangle 2"/>
          <p:cNvSpPr/>
          <p:nvPr/>
        </p:nvSpPr>
        <p:spPr>
          <a:xfrm>
            <a:off x="713232" y="1207008"/>
            <a:ext cx="2103120" cy="603504"/>
          </a:xfrm>
          <a:prstGeom prst="rect">
            <a:avLst/>
          </a:prstGeom>
          <a:solidFill>
            <a:srgbClr val="F6F7FB"/>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22960" y="1316736"/>
            <a:ext cx="384048" cy="384048"/>
          </a:xfrm>
          <a:prstGeom prst="ellipse">
            <a:avLst/>
          </a:prstGeom>
          <a:solidFill>
            <a:srgbClr val="3F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316736"/>
            <a:ext cx="384048" cy="384048"/>
          </a:xfrm>
          <a:prstGeom prst="rect">
            <a:avLst/>
          </a:prstGeom>
          <a:noFill/>
        </p:spPr>
        <p:txBody>
          <a:bodyPr wrap="square" anchor="ctr" lIns="0" rIns="0" tIns="0" bIns="0">
            <a:spAutoFit/>
          </a:bodyPr>
          <a:lstStyle/>
          <a:p>
            <a:pPr algn="ctr">
              <a:spcAft>
                <a:spcPts val="400"/>
              </a:spcAft>
            </a:pPr>
            <a:r>
              <a:rPr sz="1300" b="1" i="0">
                <a:solidFill>
                  <a:srgbClr val="FFFFFF"/>
                </a:solidFill>
                <a:latin typeface="Arial"/>
              </a:rPr>
              <a:t>A</a:t>
            </a:r>
          </a:p>
        </p:txBody>
      </p:sp>
      <p:sp>
        <p:nvSpPr>
          <p:cNvPr id="6" name="TextBox 5"/>
          <p:cNvSpPr txBox="1"/>
          <p:nvPr/>
        </p:nvSpPr>
        <p:spPr>
          <a:xfrm>
            <a:off x="1316736" y="1261872"/>
            <a:ext cx="1463040" cy="512064"/>
          </a:xfrm>
          <a:prstGeom prst="rect">
            <a:avLst/>
          </a:prstGeom>
          <a:noFill/>
        </p:spPr>
        <p:txBody>
          <a:bodyPr wrap="square" anchor="ctr" lIns="0" rIns="0" tIns="0" bIns="0">
            <a:spAutoFit/>
          </a:bodyPr>
          <a:lstStyle/>
          <a:p>
            <a:pPr algn="l">
              <a:spcAft>
                <a:spcPts val="100"/>
              </a:spcAft>
            </a:pPr>
            <a:r>
              <a:rPr sz="1400" b="1" i="0">
                <a:solidFill>
                  <a:srgbClr val="3F3533"/>
                </a:solidFill>
                <a:latin typeface="Arial"/>
              </a:rPr>
              <a:t>Cash</a:t>
            </a:r>
          </a:p>
          <a:p>
            <a:pPr algn="l">
              <a:spcAft>
                <a:spcPts val="400"/>
              </a:spcAft>
            </a:pPr>
            <a:r>
              <a:rPr sz="1200" b="0" i="0">
                <a:solidFill>
                  <a:srgbClr val="5E5755"/>
                </a:solidFill>
                <a:latin typeface="Arial"/>
              </a:rPr>
              <a:t>¥300,000  ·  50%</a:t>
            </a:r>
          </a:p>
        </p:txBody>
      </p:sp>
      <p:cxnSp>
        <p:nvCxnSpPr>
          <p:cNvPr id="7" name="Connector 6"/>
          <p:cNvCxnSpPr/>
          <p:nvPr/>
        </p:nvCxnSpPr>
        <p:spPr>
          <a:xfrm>
            <a:off x="2816352" y="1508760"/>
            <a:ext cx="704088" cy="548640"/>
          </a:xfrm>
          <a:prstGeom prst="line">
            <a:avLst/>
          </a:prstGeom>
          <a:ln w="15875">
            <a:solidFill>
              <a:srgbClr val="3F35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713232" y="1938528"/>
            <a:ext cx="2103120" cy="603504"/>
          </a:xfrm>
          <a:prstGeom prst="rect">
            <a:avLst/>
          </a:prstGeom>
          <a:solidFill>
            <a:srgbClr val="F6F7FB"/>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048256"/>
            <a:ext cx="384048" cy="384048"/>
          </a:xfrm>
          <a:prstGeom prst="ellipse">
            <a:avLst/>
          </a:prstGeom>
          <a:solidFill>
            <a:srgbClr val="3F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60" y="2048256"/>
            <a:ext cx="384048" cy="384048"/>
          </a:xfrm>
          <a:prstGeom prst="rect">
            <a:avLst/>
          </a:prstGeom>
          <a:noFill/>
        </p:spPr>
        <p:txBody>
          <a:bodyPr wrap="square" anchor="ctr" lIns="0" rIns="0" tIns="0" bIns="0">
            <a:spAutoFit/>
          </a:bodyPr>
          <a:lstStyle/>
          <a:p>
            <a:pPr algn="ctr">
              <a:spcAft>
                <a:spcPts val="400"/>
              </a:spcAft>
            </a:pPr>
            <a:r>
              <a:rPr sz="1300" b="1" i="0">
                <a:solidFill>
                  <a:srgbClr val="FFFFFF"/>
                </a:solidFill>
                <a:latin typeface="Arial"/>
              </a:rPr>
              <a:t>B</a:t>
            </a:r>
          </a:p>
        </p:txBody>
      </p:sp>
      <p:sp>
        <p:nvSpPr>
          <p:cNvPr id="11" name="TextBox 10"/>
          <p:cNvSpPr txBox="1"/>
          <p:nvPr/>
        </p:nvSpPr>
        <p:spPr>
          <a:xfrm>
            <a:off x="1316736" y="1993392"/>
            <a:ext cx="1463040" cy="512064"/>
          </a:xfrm>
          <a:prstGeom prst="rect">
            <a:avLst/>
          </a:prstGeom>
          <a:noFill/>
        </p:spPr>
        <p:txBody>
          <a:bodyPr wrap="square" anchor="ctr" lIns="0" rIns="0" tIns="0" bIns="0">
            <a:spAutoFit/>
          </a:bodyPr>
          <a:lstStyle/>
          <a:p>
            <a:pPr algn="l">
              <a:spcAft>
                <a:spcPts val="100"/>
              </a:spcAft>
            </a:pPr>
            <a:r>
              <a:rPr sz="1400" b="1" i="0">
                <a:solidFill>
                  <a:srgbClr val="3F3533"/>
                </a:solidFill>
                <a:latin typeface="Arial"/>
              </a:rPr>
              <a:t>Patent</a:t>
            </a:r>
          </a:p>
          <a:p>
            <a:pPr algn="l">
              <a:spcAft>
                <a:spcPts val="400"/>
              </a:spcAft>
            </a:pPr>
            <a:r>
              <a:rPr sz="1200" b="0" i="0">
                <a:solidFill>
                  <a:srgbClr val="5E5755"/>
                </a:solidFill>
                <a:latin typeface="Arial"/>
              </a:rPr>
              <a:t>¥200,000  ·  33.3%</a:t>
            </a:r>
          </a:p>
        </p:txBody>
      </p:sp>
      <p:cxnSp>
        <p:nvCxnSpPr>
          <p:cNvPr id="12" name="Connector 11"/>
          <p:cNvCxnSpPr/>
          <p:nvPr/>
        </p:nvCxnSpPr>
        <p:spPr>
          <a:xfrm flipV="1">
            <a:off x="2816352" y="2057400"/>
            <a:ext cx="704088" cy="182880"/>
          </a:xfrm>
          <a:prstGeom prst="line">
            <a:avLst/>
          </a:prstGeom>
          <a:ln w="15875">
            <a:solidFill>
              <a:srgbClr val="3F35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13232" y="2670048"/>
            <a:ext cx="2103120" cy="603504"/>
          </a:xfrm>
          <a:prstGeom prst="rect">
            <a:avLst/>
          </a:prstGeom>
          <a:solidFill>
            <a:srgbClr val="F6F7FB"/>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22960" y="2779776"/>
            <a:ext cx="384048" cy="384048"/>
          </a:xfrm>
          <a:prstGeom prst="ellipse">
            <a:avLst/>
          </a:prstGeom>
          <a:solidFill>
            <a:srgbClr val="3F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960" y="2779776"/>
            <a:ext cx="384048" cy="384048"/>
          </a:xfrm>
          <a:prstGeom prst="rect">
            <a:avLst/>
          </a:prstGeom>
          <a:noFill/>
        </p:spPr>
        <p:txBody>
          <a:bodyPr wrap="square" anchor="ctr" lIns="0" rIns="0" tIns="0" bIns="0">
            <a:spAutoFit/>
          </a:bodyPr>
          <a:lstStyle/>
          <a:p>
            <a:pPr algn="ctr">
              <a:spcAft>
                <a:spcPts val="400"/>
              </a:spcAft>
            </a:pPr>
            <a:r>
              <a:rPr sz="1300" b="1" i="0">
                <a:solidFill>
                  <a:srgbClr val="FFFFFF"/>
                </a:solidFill>
                <a:latin typeface="Arial"/>
              </a:rPr>
              <a:t>C</a:t>
            </a:r>
          </a:p>
        </p:txBody>
      </p:sp>
      <p:sp>
        <p:nvSpPr>
          <p:cNvPr id="16" name="TextBox 15"/>
          <p:cNvSpPr txBox="1"/>
          <p:nvPr/>
        </p:nvSpPr>
        <p:spPr>
          <a:xfrm>
            <a:off x="1316736" y="2724912"/>
            <a:ext cx="1463040" cy="512064"/>
          </a:xfrm>
          <a:prstGeom prst="rect">
            <a:avLst/>
          </a:prstGeom>
          <a:noFill/>
        </p:spPr>
        <p:txBody>
          <a:bodyPr wrap="square" anchor="ctr" lIns="0" rIns="0" tIns="0" bIns="0">
            <a:spAutoFit/>
          </a:bodyPr>
          <a:lstStyle/>
          <a:p>
            <a:pPr algn="l">
              <a:spcAft>
                <a:spcPts val="100"/>
              </a:spcAft>
            </a:pPr>
            <a:r>
              <a:rPr sz="1400" b="1" i="0">
                <a:solidFill>
                  <a:srgbClr val="3F3533"/>
                </a:solidFill>
                <a:latin typeface="Arial"/>
              </a:rPr>
              <a:t>Equipment</a:t>
            </a:r>
          </a:p>
          <a:p>
            <a:pPr algn="l">
              <a:spcAft>
                <a:spcPts val="400"/>
              </a:spcAft>
            </a:pPr>
            <a:r>
              <a:rPr sz="1200" b="0" i="0">
                <a:solidFill>
                  <a:srgbClr val="5E5755"/>
                </a:solidFill>
                <a:latin typeface="Arial"/>
              </a:rPr>
              <a:t>¥100,000  ·  16.7%</a:t>
            </a:r>
          </a:p>
        </p:txBody>
      </p:sp>
      <p:cxnSp>
        <p:nvCxnSpPr>
          <p:cNvPr id="17" name="Connector 16"/>
          <p:cNvCxnSpPr/>
          <p:nvPr/>
        </p:nvCxnSpPr>
        <p:spPr>
          <a:xfrm flipV="1">
            <a:off x="2816352" y="2057400"/>
            <a:ext cx="704088" cy="914400"/>
          </a:xfrm>
          <a:prstGeom prst="line">
            <a:avLst/>
          </a:prstGeom>
          <a:ln w="15875">
            <a:solidFill>
              <a:srgbClr val="3F35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3520440" y="1554480"/>
            <a:ext cx="2194560" cy="1005840"/>
          </a:xfrm>
          <a:prstGeom prst="rect">
            <a:avLst/>
          </a:prstGeom>
          <a:solidFill>
            <a:srgbClr val="3F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520440" y="1554480"/>
            <a:ext cx="2194560" cy="1005840"/>
          </a:xfrm>
          <a:prstGeom prst="rect">
            <a:avLst/>
          </a:prstGeom>
          <a:noFill/>
        </p:spPr>
        <p:txBody>
          <a:bodyPr wrap="square" anchor="ctr" lIns="73152" rIns="73152" tIns="73152" bIns="73152">
            <a:spAutoFit/>
          </a:bodyPr>
          <a:lstStyle/>
          <a:p>
            <a:pPr algn="ctr">
              <a:spcAft>
                <a:spcPts val="200"/>
              </a:spcAft>
            </a:pPr>
            <a:r>
              <a:rPr sz="1400" b="1" i="0">
                <a:solidFill>
                  <a:srgbClr val="FFFFFF"/>
                </a:solidFill>
                <a:latin typeface="Arial"/>
              </a:rPr>
              <a:t>Sanyou Technology Co., Ltd.</a:t>
            </a:r>
          </a:p>
          <a:p>
            <a:pPr algn="ctr">
              <a:spcAft>
                <a:spcPts val="400"/>
              </a:spcAft>
            </a:pPr>
            <a:r>
              <a:rPr sz="1200" b="0" i="0">
                <a:solidFill>
                  <a:srgbClr val="FFFFFF"/>
                </a:solidFill>
                <a:latin typeface="Arial"/>
              </a:rPr>
              <a:t>Registered capital ¥600,000</a:t>
            </a:r>
          </a:p>
        </p:txBody>
      </p:sp>
      <p:sp>
        <p:nvSpPr>
          <p:cNvPr id="20" name="Rectangle 19"/>
          <p:cNvSpPr/>
          <p:nvPr/>
        </p:nvSpPr>
        <p:spPr>
          <a:xfrm>
            <a:off x="6327648" y="1554480"/>
            <a:ext cx="2103120" cy="1005840"/>
          </a:xfrm>
          <a:prstGeom prst="rect">
            <a:avLst/>
          </a:prstGeom>
          <a:solidFill>
            <a:srgbClr val="F6F7FB"/>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27648" y="1554480"/>
            <a:ext cx="2103120" cy="1005840"/>
          </a:xfrm>
          <a:prstGeom prst="rect">
            <a:avLst/>
          </a:prstGeom>
          <a:noFill/>
        </p:spPr>
        <p:txBody>
          <a:bodyPr wrap="square" anchor="ctr" tIns="91440" bIns="91440">
            <a:spAutoFit/>
          </a:bodyPr>
          <a:lstStyle/>
          <a:p>
            <a:pPr algn="ctr">
              <a:spcAft>
                <a:spcPts val="200"/>
              </a:spcAft>
            </a:pPr>
            <a:r>
              <a:rPr sz="1400" b="1" i="0">
                <a:solidFill>
                  <a:srgbClr val="3F3533"/>
                </a:solidFill>
                <a:latin typeface="Arial"/>
              </a:rPr>
              <a:t>Supplier (creditor)</a:t>
            </a:r>
          </a:p>
          <a:p>
            <a:pPr algn="ctr">
              <a:spcAft>
                <a:spcPts val="400"/>
              </a:spcAft>
            </a:pPr>
            <a:r>
              <a:rPr sz="1200" b="0" i="0">
                <a:solidFill>
                  <a:srgbClr val="5E5755"/>
                </a:solidFill>
                <a:latin typeface="Arial"/>
              </a:rPr>
              <a:t>Demands A, B and C pay with personal assets</a:t>
            </a:r>
          </a:p>
        </p:txBody>
      </p:sp>
      <p:cxnSp>
        <p:nvCxnSpPr>
          <p:cNvPr id="22" name="Connector 21"/>
          <p:cNvCxnSpPr/>
          <p:nvPr/>
        </p:nvCxnSpPr>
        <p:spPr>
          <a:xfrm flipH="1">
            <a:off x="5715000" y="2057400"/>
            <a:ext cx="612648" cy="0"/>
          </a:xfrm>
          <a:prstGeom prst="line">
            <a:avLst/>
          </a:prstGeom>
          <a:ln w="15875">
            <a:solidFill>
              <a:srgbClr val="3F35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715000" y="1755648"/>
            <a:ext cx="612648" cy="274320"/>
          </a:xfrm>
          <a:prstGeom prst="rect">
            <a:avLst/>
          </a:prstGeom>
          <a:noFill/>
        </p:spPr>
        <p:txBody>
          <a:bodyPr wrap="square" anchor="t" lIns="0" rIns="0" tIns="0" bIns="0">
            <a:spAutoFit/>
          </a:bodyPr>
          <a:lstStyle/>
          <a:p>
            <a:pPr algn="ctr">
              <a:spcAft>
                <a:spcPts val="400"/>
              </a:spcAft>
            </a:pPr>
            <a:r>
              <a:rPr sz="1000" b="0" i="0">
                <a:solidFill>
                  <a:srgbClr val="5E5755"/>
                </a:solidFill>
                <a:latin typeface="Arial"/>
              </a:rPr>
              <a:t>unpaid</a:t>
            </a:r>
          </a:p>
        </p:txBody>
      </p:sp>
      <p:sp>
        <p:nvSpPr>
          <p:cNvPr id="24" name="Rectangle 23"/>
          <p:cNvSpPr/>
          <p:nvPr/>
        </p:nvSpPr>
        <p:spPr>
          <a:xfrm>
            <a:off x="713232" y="3611880"/>
            <a:ext cx="3767328" cy="868680"/>
          </a:xfrm>
          <a:prstGeom prst="rect">
            <a:avLst/>
          </a:prstGeom>
          <a:solidFill>
            <a:srgbClr val="FFFFFF"/>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850392" y="3854196"/>
            <a:ext cx="384048" cy="384048"/>
          </a:xfrm>
          <a:prstGeom prst="ellipse">
            <a:avLst/>
          </a:prstGeom>
          <a:solidFill>
            <a:srgbClr val="3F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50392" y="3854196"/>
            <a:ext cx="384048" cy="384048"/>
          </a:xfrm>
          <a:prstGeom prst="rect">
            <a:avLst/>
          </a:prstGeom>
          <a:noFill/>
        </p:spPr>
        <p:txBody>
          <a:bodyPr wrap="square" anchor="ctr" lIns="0" rIns="0" tIns="0" bIns="0">
            <a:spAutoFit/>
          </a:bodyPr>
          <a:lstStyle/>
          <a:p>
            <a:pPr algn="ctr">
              <a:spcAft>
                <a:spcPts val="400"/>
              </a:spcAft>
            </a:pPr>
            <a:r>
              <a:rPr sz="1300" b="1" i="0">
                <a:solidFill>
                  <a:srgbClr val="FFFFFF"/>
                </a:solidFill>
                <a:latin typeface="Arial"/>
              </a:rPr>
              <a:t>B</a:t>
            </a:r>
          </a:p>
        </p:txBody>
      </p:sp>
      <p:sp>
        <p:nvSpPr>
          <p:cNvPr id="27" name="TextBox 26"/>
          <p:cNvSpPr txBox="1"/>
          <p:nvPr/>
        </p:nvSpPr>
        <p:spPr>
          <a:xfrm>
            <a:off x="1371600" y="3611880"/>
            <a:ext cx="3017520" cy="868680"/>
          </a:xfrm>
          <a:prstGeom prst="rect">
            <a:avLst/>
          </a:prstGeom>
          <a:noFill/>
        </p:spPr>
        <p:txBody>
          <a:bodyPr wrap="square" anchor="ctr" lIns="0" rIns="0" tIns="0" bIns="0">
            <a:spAutoFit/>
          </a:bodyPr>
          <a:lstStyle/>
          <a:p>
            <a:pPr algn="l">
              <a:spcAft>
                <a:spcPts val="400"/>
              </a:spcAft>
            </a:pPr>
            <a:r>
              <a:rPr sz="1500" b="0" i="1">
                <a:solidFill>
                  <a:srgbClr val="3F3533"/>
                </a:solidFill>
                <a:latin typeface="Arial"/>
              </a:rPr>
              <a:t>“My patent already belongs to the company.”</a:t>
            </a:r>
          </a:p>
        </p:txBody>
      </p:sp>
      <p:sp>
        <p:nvSpPr>
          <p:cNvPr id="28" name="Rectangle 27"/>
          <p:cNvSpPr/>
          <p:nvPr/>
        </p:nvSpPr>
        <p:spPr>
          <a:xfrm>
            <a:off x="4663440" y="3611880"/>
            <a:ext cx="3767328" cy="868680"/>
          </a:xfrm>
          <a:prstGeom prst="rect">
            <a:avLst/>
          </a:prstGeom>
          <a:solidFill>
            <a:srgbClr val="FFFFFF"/>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800600" y="3854196"/>
            <a:ext cx="384048" cy="384048"/>
          </a:xfrm>
          <a:prstGeom prst="ellipse">
            <a:avLst/>
          </a:prstGeom>
          <a:solidFill>
            <a:srgbClr val="3F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800600" y="3854196"/>
            <a:ext cx="384048" cy="384048"/>
          </a:xfrm>
          <a:prstGeom prst="rect">
            <a:avLst/>
          </a:prstGeom>
          <a:noFill/>
        </p:spPr>
        <p:txBody>
          <a:bodyPr wrap="square" anchor="ctr" lIns="0" rIns="0" tIns="0" bIns="0">
            <a:spAutoFit/>
          </a:bodyPr>
          <a:lstStyle/>
          <a:p>
            <a:pPr algn="ctr">
              <a:spcAft>
                <a:spcPts val="400"/>
              </a:spcAft>
            </a:pPr>
            <a:r>
              <a:rPr sz="1300" b="1" i="0">
                <a:solidFill>
                  <a:srgbClr val="FFFFFF"/>
                </a:solidFill>
                <a:latin typeface="Arial"/>
              </a:rPr>
              <a:t>C</a:t>
            </a:r>
          </a:p>
        </p:txBody>
      </p:sp>
      <p:sp>
        <p:nvSpPr>
          <p:cNvPr id="31" name="TextBox 30"/>
          <p:cNvSpPr txBox="1"/>
          <p:nvPr/>
        </p:nvSpPr>
        <p:spPr>
          <a:xfrm>
            <a:off x="5321808" y="3611880"/>
            <a:ext cx="3017520" cy="868680"/>
          </a:xfrm>
          <a:prstGeom prst="rect">
            <a:avLst/>
          </a:prstGeom>
          <a:noFill/>
        </p:spPr>
        <p:txBody>
          <a:bodyPr wrap="square" anchor="ctr" lIns="0" rIns="0" tIns="0" bIns="0">
            <a:spAutoFit/>
          </a:bodyPr>
          <a:lstStyle/>
          <a:p>
            <a:pPr algn="l">
              <a:spcAft>
                <a:spcPts val="400"/>
              </a:spcAft>
            </a:pPr>
            <a:r>
              <a:rPr sz="1500" b="0" i="1">
                <a:solidFill>
                  <a:srgbClr val="3F3533"/>
                </a:solidFill>
                <a:latin typeface="Arial"/>
              </a:rPr>
              <a:t>“The equipment is with the company too.”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Answers at a Glance</a:t>
            </a:r>
          </a:p>
        </p:txBody>
      </p:sp>
      <p:sp>
        <p:nvSpPr>
          <p:cNvPr id="3" name="Rectangle 2"/>
          <p:cNvSpPr/>
          <p:nvPr/>
        </p:nvSpPr>
        <p:spPr>
          <a:xfrm>
            <a:off x="713232" y="1188720"/>
            <a:ext cx="2450592" cy="2788920"/>
          </a:xfrm>
          <a:prstGeom prst="rect">
            <a:avLst/>
          </a:prstGeom>
          <a:solidFill>
            <a:srgbClr val="F6F7FB"/>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77824" y="1353312"/>
            <a:ext cx="475488" cy="475488"/>
          </a:xfrm>
          <a:prstGeom prst="ellipse">
            <a:avLst/>
          </a:prstGeom>
          <a:solidFill>
            <a:srgbClr val="3F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77824" y="1353312"/>
            <a:ext cx="475488" cy="475488"/>
          </a:xfrm>
          <a:prstGeom prst="rect">
            <a:avLst/>
          </a:prstGeom>
          <a:noFill/>
        </p:spPr>
        <p:txBody>
          <a:bodyPr wrap="square" anchor="ctr" lIns="0" rIns="0" tIns="0" bIns="0">
            <a:spAutoFit/>
          </a:bodyPr>
          <a:lstStyle/>
          <a:p>
            <a:pPr algn="ctr">
              <a:spcAft>
                <a:spcPts val="400"/>
              </a:spcAft>
            </a:pPr>
            <a:r>
              <a:rPr sz="1400" b="1" i="0">
                <a:solidFill>
                  <a:srgbClr val="FFFFFF"/>
                </a:solidFill>
                <a:latin typeface="Arial"/>
              </a:rPr>
              <a:t>Q1</a:t>
            </a:r>
          </a:p>
        </p:txBody>
      </p:sp>
      <p:sp>
        <p:nvSpPr>
          <p:cNvPr id="6" name="TextBox 5"/>
          <p:cNvSpPr txBox="1"/>
          <p:nvPr/>
        </p:nvSpPr>
        <p:spPr>
          <a:xfrm>
            <a:off x="877824" y="1920240"/>
            <a:ext cx="2148840" cy="365760"/>
          </a:xfrm>
          <a:prstGeom prst="rect">
            <a:avLst/>
          </a:prstGeom>
          <a:noFill/>
        </p:spPr>
        <p:txBody>
          <a:bodyPr wrap="square" anchor="t" lIns="0" rIns="0" tIns="0" bIns="0">
            <a:spAutoFit/>
          </a:bodyPr>
          <a:lstStyle/>
          <a:p>
            <a:pPr algn="l">
              <a:spcAft>
                <a:spcPts val="400"/>
              </a:spcAft>
            </a:pPr>
            <a:r>
              <a:rPr sz="1500" b="1" i="0">
                <a:solidFill>
                  <a:srgbClr val="3F3533"/>
                </a:solidFill>
                <a:latin typeface="Arial"/>
              </a:rPr>
              <a:t>Forms of contribution</a:t>
            </a:r>
          </a:p>
        </p:txBody>
      </p:sp>
      <p:sp>
        <p:nvSpPr>
          <p:cNvPr id="7" name="TextBox 6"/>
          <p:cNvSpPr txBox="1"/>
          <p:nvPr/>
        </p:nvSpPr>
        <p:spPr>
          <a:xfrm>
            <a:off x="877824" y="2331720"/>
            <a:ext cx="2176272" cy="1600200"/>
          </a:xfrm>
          <a:prstGeom prst="rect">
            <a:avLst/>
          </a:prstGeom>
          <a:noFill/>
        </p:spPr>
        <p:txBody>
          <a:bodyPr wrap="square" anchor="t" lIns="0" rIns="0" tIns="0" bIns="0">
            <a:spAutoFit/>
          </a:bodyPr>
          <a:lstStyle/>
          <a:p>
            <a:pPr algn="l" marL="182880" indent="-182880">
              <a:spcAft>
                <a:spcPts val="500"/>
              </a:spcAft>
              <a:buFont typeface="Arial"/>
              <a:buChar char="•"/>
            </a:pPr>
            <a:r>
              <a:rPr sz="1300" b="0" i="0">
                <a:solidFill>
                  <a:srgbClr val="3F3533"/>
                </a:solidFill>
                <a:latin typeface="Arial"/>
              </a:rPr>
              <a:t>Cash (A)</a:t>
            </a:r>
          </a:p>
          <a:p>
            <a:pPr algn="l" marL="182880" indent="-182880">
              <a:spcAft>
                <a:spcPts val="500"/>
              </a:spcAft>
              <a:buFont typeface="Arial"/>
              <a:buChar char="•"/>
            </a:pPr>
            <a:r>
              <a:rPr sz="1300" b="0" i="0">
                <a:solidFill>
                  <a:srgbClr val="3F3533"/>
                </a:solidFill>
                <a:latin typeface="Arial"/>
              </a:rPr>
              <a:t>Intellectual property (B)</a:t>
            </a:r>
          </a:p>
          <a:p>
            <a:pPr algn="l" marL="182880" indent="-182880">
              <a:spcAft>
                <a:spcPts val="500"/>
              </a:spcAft>
              <a:buFont typeface="Arial"/>
              <a:buChar char="•"/>
            </a:pPr>
            <a:r>
              <a:rPr sz="1300" b="0" i="0">
                <a:solidFill>
                  <a:srgbClr val="3F3533"/>
                </a:solidFill>
                <a:latin typeface="Arial"/>
              </a:rPr>
              <a:t>Property in kind (C)</a:t>
            </a:r>
          </a:p>
          <a:p>
            <a:pPr algn="l" marL="182880" indent="-182880">
              <a:spcAft>
                <a:spcPts val="500"/>
              </a:spcAft>
              <a:buFont typeface="Arial"/>
              <a:buChar char="•"/>
            </a:pPr>
            <a:r>
              <a:rPr sz="1300" b="0" i="0">
                <a:solidFill>
                  <a:srgbClr val="3F3533"/>
                </a:solidFill>
                <a:latin typeface="Arial"/>
              </a:rPr>
              <a:t>Non-cash assets must be valued and transferred — Company Law Arts 48–49</a:t>
            </a:r>
          </a:p>
        </p:txBody>
      </p:sp>
      <p:sp>
        <p:nvSpPr>
          <p:cNvPr id="8" name="Rectangle 7"/>
          <p:cNvSpPr/>
          <p:nvPr/>
        </p:nvSpPr>
        <p:spPr>
          <a:xfrm>
            <a:off x="3346704" y="1188720"/>
            <a:ext cx="2450592" cy="2788920"/>
          </a:xfrm>
          <a:prstGeom prst="rect">
            <a:avLst/>
          </a:prstGeom>
          <a:solidFill>
            <a:srgbClr val="F6F7FB"/>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3511296" y="1353312"/>
            <a:ext cx="475488" cy="475488"/>
          </a:xfrm>
          <a:prstGeom prst="ellipse">
            <a:avLst/>
          </a:prstGeom>
          <a:solidFill>
            <a:srgbClr val="3F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511296" y="1353312"/>
            <a:ext cx="475488" cy="475488"/>
          </a:xfrm>
          <a:prstGeom prst="rect">
            <a:avLst/>
          </a:prstGeom>
          <a:noFill/>
        </p:spPr>
        <p:txBody>
          <a:bodyPr wrap="square" anchor="ctr" lIns="0" rIns="0" tIns="0" bIns="0">
            <a:spAutoFit/>
          </a:bodyPr>
          <a:lstStyle/>
          <a:p>
            <a:pPr algn="ctr">
              <a:spcAft>
                <a:spcPts val="400"/>
              </a:spcAft>
            </a:pPr>
            <a:r>
              <a:rPr sz="1400" b="1" i="0">
                <a:solidFill>
                  <a:srgbClr val="FFFFFF"/>
                </a:solidFill>
                <a:latin typeface="Arial"/>
              </a:rPr>
              <a:t>Q2</a:t>
            </a:r>
          </a:p>
        </p:txBody>
      </p:sp>
      <p:sp>
        <p:nvSpPr>
          <p:cNvPr id="11" name="TextBox 10"/>
          <p:cNvSpPr txBox="1"/>
          <p:nvPr/>
        </p:nvSpPr>
        <p:spPr>
          <a:xfrm>
            <a:off x="3511296" y="1920240"/>
            <a:ext cx="2148840" cy="365760"/>
          </a:xfrm>
          <a:prstGeom prst="rect">
            <a:avLst/>
          </a:prstGeom>
          <a:noFill/>
        </p:spPr>
        <p:txBody>
          <a:bodyPr wrap="square" anchor="t" lIns="0" rIns="0" tIns="0" bIns="0">
            <a:spAutoFit/>
          </a:bodyPr>
          <a:lstStyle/>
          <a:p>
            <a:pPr algn="l">
              <a:spcAft>
                <a:spcPts val="400"/>
              </a:spcAft>
            </a:pPr>
            <a:r>
              <a:rPr sz="1500" b="1" i="0">
                <a:solidFill>
                  <a:srgbClr val="3F3533"/>
                </a:solidFill>
                <a:latin typeface="Arial"/>
              </a:rPr>
              <a:t>Who owns the assets?</a:t>
            </a:r>
          </a:p>
        </p:txBody>
      </p:sp>
      <p:sp>
        <p:nvSpPr>
          <p:cNvPr id="12" name="TextBox 11"/>
          <p:cNvSpPr txBox="1"/>
          <p:nvPr/>
        </p:nvSpPr>
        <p:spPr>
          <a:xfrm>
            <a:off x="3511296" y="2331720"/>
            <a:ext cx="2176272" cy="1600200"/>
          </a:xfrm>
          <a:prstGeom prst="rect">
            <a:avLst/>
          </a:prstGeom>
          <a:noFill/>
        </p:spPr>
        <p:txBody>
          <a:bodyPr wrap="square" anchor="t" lIns="0" rIns="0" tIns="0" bIns="0">
            <a:spAutoFit/>
          </a:bodyPr>
          <a:lstStyle/>
          <a:p>
            <a:pPr algn="l" marL="182880" indent="-182880">
              <a:spcAft>
                <a:spcPts val="500"/>
              </a:spcAft>
              <a:buFont typeface="Arial"/>
              <a:buChar char="•"/>
            </a:pPr>
            <a:r>
              <a:rPr sz="1300" b="0" i="0">
                <a:solidFill>
                  <a:srgbClr val="3F3533"/>
                </a:solidFill>
                <a:latin typeface="Arial"/>
              </a:rPr>
              <a:t>The patent and equipment now belong to the company</a:t>
            </a:r>
          </a:p>
          <a:p>
            <a:pPr algn="l" marL="182880" indent="-182880">
              <a:spcAft>
                <a:spcPts val="500"/>
              </a:spcAft>
              <a:buFont typeface="Arial"/>
              <a:buChar char="•"/>
            </a:pPr>
            <a:r>
              <a:rPr sz="1300" b="0" i="0">
                <a:solidFill>
                  <a:srgbClr val="3F3533"/>
                </a:solidFill>
                <a:latin typeface="Arial"/>
              </a:rPr>
              <a:t>The company pays first, with all of its assets — Art. 3</a:t>
            </a:r>
          </a:p>
        </p:txBody>
      </p:sp>
      <p:sp>
        <p:nvSpPr>
          <p:cNvPr id="13" name="Rectangle 12"/>
          <p:cNvSpPr/>
          <p:nvPr/>
        </p:nvSpPr>
        <p:spPr>
          <a:xfrm>
            <a:off x="5980176" y="1188720"/>
            <a:ext cx="2450592" cy="2788920"/>
          </a:xfrm>
          <a:prstGeom prst="rect">
            <a:avLst/>
          </a:prstGeom>
          <a:solidFill>
            <a:srgbClr val="F6F7FB"/>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44768" y="1353312"/>
            <a:ext cx="475488" cy="475488"/>
          </a:xfrm>
          <a:prstGeom prst="ellipse">
            <a:avLst/>
          </a:prstGeom>
          <a:solidFill>
            <a:srgbClr val="3F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144768" y="1353312"/>
            <a:ext cx="475488" cy="475488"/>
          </a:xfrm>
          <a:prstGeom prst="rect">
            <a:avLst/>
          </a:prstGeom>
          <a:noFill/>
        </p:spPr>
        <p:txBody>
          <a:bodyPr wrap="square" anchor="ctr" lIns="0" rIns="0" tIns="0" bIns="0">
            <a:spAutoFit/>
          </a:bodyPr>
          <a:lstStyle/>
          <a:p>
            <a:pPr algn="ctr">
              <a:spcAft>
                <a:spcPts val="400"/>
              </a:spcAft>
            </a:pPr>
            <a:r>
              <a:rPr sz="1400" b="1" i="0">
                <a:solidFill>
                  <a:srgbClr val="FFFFFF"/>
                </a:solidFill>
                <a:latin typeface="Arial"/>
              </a:rPr>
              <a:t>Q3</a:t>
            </a:r>
          </a:p>
        </p:txBody>
      </p:sp>
      <p:sp>
        <p:nvSpPr>
          <p:cNvPr id="16" name="TextBox 15"/>
          <p:cNvSpPr txBox="1"/>
          <p:nvPr/>
        </p:nvSpPr>
        <p:spPr>
          <a:xfrm>
            <a:off x="6144768" y="1920240"/>
            <a:ext cx="2148840" cy="365760"/>
          </a:xfrm>
          <a:prstGeom prst="rect">
            <a:avLst/>
          </a:prstGeom>
          <a:noFill/>
        </p:spPr>
        <p:txBody>
          <a:bodyPr wrap="square" anchor="t" lIns="0" rIns="0" tIns="0" bIns="0">
            <a:spAutoFit/>
          </a:bodyPr>
          <a:lstStyle/>
          <a:p>
            <a:pPr algn="l">
              <a:spcAft>
                <a:spcPts val="400"/>
              </a:spcAft>
            </a:pPr>
            <a:r>
              <a:rPr sz="1500" b="1" i="0">
                <a:solidFill>
                  <a:srgbClr val="3F3533"/>
                </a:solidFill>
                <a:latin typeface="Arial"/>
              </a:rPr>
              <a:t>Personal liability?</a:t>
            </a:r>
          </a:p>
        </p:txBody>
      </p:sp>
      <p:sp>
        <p:nvSpPr>
          <p:cNvPr id="17" name="TextBox 16"/>
          <p:cNvSpPr txBox="1"/>
          <p:nvPr/>
        </p:nvSpPr>
        <p:spPr>
          <a:xfrm>
            <a:off x="6144768" y="2331720"/>
            <a:ext cx="2176272" cy="1600200"/>
          </a:xfrm>
          <a:prstGeom prst="rect">
            <a:avLst/>
          </a:prstGeom>
          <a:noFill/>
        </p:spPr>
        <p:txBody>
          <a:bodyPr wrap="square" anchor="t" lIns="0" rIns="0" tIns="0" bIns="0">
            <a:spAutoFit/>
          </a:bodyPr>
          <a:lstStyle/>
          <a:p>
            <a:pPr algn="l" marL="182880" indent="-182880">
              <a:spcAft>
                <a:spcPts val="500"/>
              </a:spcAft>
              <a:buFont typeface="Arial"/>
              <a:buChar char="•"/>
            </a:pPr>
            <a:r>
              <a:rPr sz="1300" b="0" i="0">
                <a:solidFill>
                  <a:srgbClr val="3F3533"/>
                </a:solidFill>
                <a:latin typeface="Arial"/>
              </a:rPr>
              <a:t>Generally no: liability is capped at the subscribed contribution — Art. 4</a:t>
            </a:r>
          </a:p>
          <a:p>
            <a:pPr algn="l" marL="182880" indent="-182880">
              <a:spcAft>
                <a:spcPts val="500"/>
              </a:spcAft>
              <a:buFont typeface="Arial"/>
              <a:buChar char="•"/>
            </a:pPr>
            <a:r>
              <a:rPr sz="1300" b="0" i="0">
                <a:solidFill>
                  <a:srgbClr val="3F3533"/>
                </a:solidFill>
                <a:latin typeface="Arial"/>
              </a:rPr>
              <a:t>…but there are exceptions</a:t>
            </a:r>
          </a:p>
        </p:txBody>
      </p:sp>
      <p:sp>
        <p:nvSpPr>
          <p:cNvPr id="18" name="TextBox 17"/>
          <p:cNvSpPr txBox="1"/>
          <p:nvPr/>
        </p:nvSpPr>
        <p:spPr>
          <a:xfrm>
            <a:off x="713232" y="4114800"/>
            <a:ext cx="7717536" cy="457200"/>
          </a:xfrm>
          <a:prstGeom prst="rect">
            <a:avLst/>
          </a:prstGeom>
          <a:noFill/>
        </p:spPr>
        <p:txBody>
          <a:bodyPr wrap="square" anchor="ctr" lIns="0" rIns="0" tIns="0" bIns="0">
            <a:spAutoFit/>
          </a:bodyPr>
          <a:lstStyle/>
          <a:p>
            <a:pPr algn="ctr">
              <a:spcAft>
                <a:spcPts val="400"/>
              </a:spcAft>
            </a:pPr>
            <a:r>
              <a:rPr sz="1400" b="0" i="1">
                <a:solidFill>
                  <a:srgbClr val="5E5755"/>
                </a:solidFill>
                <a:latin typeface="Arial"/>
              </a:rPr>
              <a:t>The answers are clear. Now: why does the law draw the line here — and when does it move?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Core Issue</a:t>
            </a:r>
          </a:p>
        </p:txBody>
      </p:sp>
      <p:sp>
        <p:nvSpPr>
          <p:cNvPr id="3" name="TextBox 2"/>
          <p:cNvSpPr txBox="1"/>
          <p:nvPr/>
        </p:nvSpPr>
        <p:spPr>
          <a:xfrm>
            <a:off x="713232" y="1097280"/>
            <a:ext cx="7717536" cy="685800"/>
          </a:xfrm>
          <a:prstGeom prst="rect">
            <a:avLst/>
          </a:prstGeom>
          <a:noFill/>
        </p:spPr>
        <p:txBody>
          <a:bodyPr wrap="square" anchor="ctr" lIns="0" rIns="0" tIns="0" bIns="0">
            <a:spAutoFit/>
          </a:bodyPr>
          <a:lstStyle/>
          <a:p>
            <a:pPr algn="ctr">
              <a:spcAft>
                <a:spcPts val="400"/>
              </a:spcAft>
            </a:pPr>
            <a:r>
              <a:rPr sz="1900" b="1" i="0">
                <a:solidFill>
                  <a:srgbClr val="3F3533"/>
                </a:solidFill>
                <a:latin typeface="Arial"/>
              </a:rPr>
              <a:t>Where is the boundary between the company’s debts and the shareholders’ personal wealth?</a:t>
            </a:r>
          </a:p>
        </p:txBody>
      </p:sp>
      <p:sp>
        <p:nvSpPr>
          <p:cNvPr id="4" name="Rectangle 3"/>
          <p:cNvSpPr/>
          <p:nvPr/>
        </p:nvSpPr>
        <p:spPr>
          <a:xfrm>
            <a:off x="713232" y="1965960"/>
            <a:ext cx="2450592" cy="1444752"/>
          </a:xfrm>
          <a:prstGeom prst="rect">
            <a:avLst/>
          </a:prstGeom>
          <a:solidFill>
            <a:srgbClr val="F6F7FB"/>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96112" y="2029968"/>
            <a:ext cx="914400" cy="411480"/>
          </a:xfrm>
          <a:prstGeom prst="rect">
            <a:avLst/>
          </a:prstGeom>
          <a:noFill/>
        </p:spPr>
        <p:txBody>
          <a:bodyPr wrap="square" anchor="t" lIns="0" rIns="0" tIns="0" bIns="0">
            <a:spAutoFit/>
          </a:bodyPr>
          <a:lstStyle/>
          <a:p>
            <a:pPr algn="l">
              <a:spcAft>
                <a:spcPts val="400"/>
              </a:spcAft>
            </a:pPr>
            <a:r>
              <a:rPr sz="2200" b="1" i="0">
                <a:solidFill>
                  <a:srgbClr val="3F3533"/>
                </a:solidFill>
                <a:latin typeface="Arial"/>
              </a:rPr>
              <a:t>01</a:t>
            </a:r>
          </a:p>
        </p:txBody>
      </p:sp>
      <p:sp>
        <p:nvSpPr>
          <p:cNvPr id="6" name="TextBox 5"/>
          <p:cNvSpPr txBox="1"/>
          <p:nvPr/>
        </p:nvSpPr>
        <p:spPr>
          <a:xfrm>
            <a:off x="896112" y="2450592"/>
            <a:ext cx="2148840" cy="457200"/>
          </a:xfrm>
          <a:prstGeom prst="rect">
            <a:avLst/>
          </a:prstGeom>
          <a:noFill/>
        </p:spPr>
        <p:txBody>
          <a:bodyPr wrap="square" anchor="t" lIns="0" rIns="0" tIns="0" bIns="0">
            <a:spAutoFit/>
          </a:bodyPr>
          <a:lstStyle/>
          <a:p>
            <a:pPr algn="l">
              <a:spcAft>
                <a:spcPts val="400"/>
              </a:spcAft>
            </a:pPr>
            <a:r>
              <a:rPr sz="1400" b="1" i="0">
                <a:solidFill>
                  <a:srgbClr val="3F3533"/>
                </a:solidFill>
                <a:latin typeface="Arial"/>
              </a:rPr>
              <a:t>Separate Legal Personality</a:t>
            </a:r>
          </a:p>
        </p:txBody>
      </p:sp>
      <p:sp>
        <p:nvSpPr>
          <p:cNvPr id="7" name="TextBox 6"/>
          <p:cNvSpPr txBox="1"/>
          <p:nvPr/>
        </p:nvSpPr>
        <p:spPr>
          <a:xfrm>
            <a:off x="896112" y="2971800"/>
            <a:ext cx="2148840" cy="365760"/>
          </a:xfrm>
          <a:prstGeom prst="rect">
            <a:avLst/>
          </a:prstGeom>
          <a:noFill/>
        </p:spPr>
        <p:txBody>
          <a:bodyPr wrap="square" anchor="t" lIns="0" rIns="0" tIns="0" bIns="0">
            <a:spAutoFit/>
          </a:bodyPr>
          <a:lstStyle/>
          <a:p>
            <a:pPr algn="l">
              <a:spcAft>
                <a:spcPts val="400"/>
              </a:spcAft>
            </a:pPr>
            <a:r>
              <a:rPr sz="1300" b="0" i="0">
                <a:solidFill>
                  <a:srgbClr val="5E5755"/>
                </a:solidFill>
                <a:latin typeface="Arial"/>
              </a:rPr>
              <a:t>The company is a person of its own</a:t>
            </a:r>
          </a:p>
        </p:txBody>
      </p:sp>
      <p:cxnSp>
        <p:nvCxnSpPr>
          <p:cNvPr id="8" name="Connector 7"/>
          <p:cNvCxnSpPr/>
          <p:nvPr/>
        </p:nvCxnSpPr>
        <p:spPr>
          <a:xfrm>
            <a:off x="3163824" y="2651760"/>
            <a:ext cx="182880" cy="0"/>
          </a:xfrm>
          <a:prstGeom prst="line">
            <a:avLst/>
          </a:prstGeom>
          <a:ln w="15875">
            <a:solidFill>
              <a:srgbClr val="3F35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346704" y="1965960"/>
            <a:ext cx="2450592" cy="1444752"/>
          </a:xfrm>
          <a:prstGeom prst="rect">
            <a:avLst/>
          </a:prstGeom>
          <a:solidFill>
            <a:srgbClr val="F6F7FB"/>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529584" y="2029968"/>
            <a:ext cx="914400" cy="411480"/>
          </a:xfrm>
          <a:prstGeom prst="rect">
            <a:avLst/>
          </a:prstGeom>
          <a:noFill/>
        </p:spPr>
        <p:txBody>
          <a:bodyPr wrap="square" anchor="t" lIns="0" rIns="0" tIns="0" bIns="0">
            <a:spAutoFit/>
          </a:bodyPr>
          <a:lstStyle/>
          <a:p>
            <a:pPr algn="l">
              <a:spcAft>
                <a:spcPts val="400"/>
              </a:spcAft>
            </a:pPr>
            <a:r>
              <a:rPr sz="2200" b="1" i="0">
                <a:solidFill>
                  <a:srgbClr val="3F3533"/>
                </a:solidFill>
                <a:latin typeface="Arial"/>
              </a:rPr>
              <a:t>02</a:t>
            </a:r>
          </a:p>
        </p:txBody>
      </p:sp>
      <p:sp>
        <p:nvSpPr>
          <p:cNvPr id="11" name="TextBox 10"/>
          <p:cNvSpPr txBox="1"/>
          <p:nvPr/>
        </p:nvSpPr>
        <p:spPr>
          <a:xfrm>
            <a:off x="3529584" y="2450592"/>
            <a:ext cx="2148840" cy="457200"/>
          </a:xfrm>
          <a:prstGeom prst="rect">
            <a:avLst/>
          </a:prstGeom>
          <a:noFill/>
        </p:spPr>
        <p:txBody>
          <a:bodyPr wrap="square" anchor="t" lIns="0" rIns="0" tIns="0" bIns="0">
            <a:spAutoFit/>
          </a:bodyPr>
          <a:lstStyle/>
          <a:p>
            <a:pPr algn="l">
              <a:spcAft>
                <a:spcPts val="400"/>
              </a:spcAft>
            </a:pPr>
            <a:r>
              <a:rPr sz="1400" b="1" i="0">
                <a:solidFill>
                  <a:srgbClr val="3F3533"/>
                </a:solidFill>
                <a:latin typeface="Arial"/>
              </a:rPr>
              <a:t>Limited Liability</a:t>
            </a:r>
          </a:p>
        </p:txBody>
      </p:sp>
      <p:sp>
        <p:nvSpPr>
          <p:cNvPr id="12" name="TextBox 11"/>
          <p:cNvSpPr txBox="1"/>
          <p:nvPr/>
        </p:nvSpPr>
        <p:spPr>
          <a:xfrm>
            <a:off x="3529584" y="2971800"/>
            <a:ext cx="2148840" cy="365760"/>
          </a:xfrm>
          <a:prstGeom prst="rect">
            <a:avLst/>
          </a:prstGeom>
          <a:noFill/>
        </p:spPr>
        <p:txBody>
          <a:bodyPr wrap="square" anchor="t" lIns="0" rIns="0" tIns="0" bIns="0">
            <a:spAutoFit/>
          </a:bodyPr>
          <a:lstStyle/>
          <a:p>
            <a:pPr algn="l">
              <a:spcAft>
                <a:spcPts val="400"/>
              </a:spcAft>
            </a:pPr>
            <a:r>
              <a:rPr sz="1300" b="0" i="0">
                <a:solidFill>
                  <a:srgbClr val="5E5755"/>
                </a:solidFill>
                <a:latin typeface="Arial"/>
              </a:rPr>
              <a:t>The boundary is the contribution</a:t>
            </a:r>
          </a:p>
        </p:txBody>
      </p:sp>
      <p:cxnSp>
        <p:nvCxnSpPr>
          <p:cNvPr id="13" name="Connector 12"/>
          <p:cNvCxnSpPr/>
          <p:nvPr/>
        </p:nvCxnSpPr>
        <p:spPr>
          <a:xfrm>
            <a:off x="5797296" y="2651760"/>
            <a:ext cx="182880" cy="0"/>
          </a:xfrm>
          <a:prstGeom prst="line">
            <a:avLst/>
          </a:prstGeom>
          <a:ln w="15875">
            <a:solidFill>
              <a:srgbClr val="3F35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5980176" y="1965960"/>
            <a:ext cx="2450592" cy="1444752"/>
          </a:xfrm>
          <a:prstGeom prst="rect">
            <a:avLst/>
          </a:prstGeom>
          <a:solidFill>
            <a:srgbClr val="F6F7FB"/>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163056" y="2029968"/>
            <a:ext cx="914400" cy="411480"/>
          </a:xfrm>
          <a:prstGeom prst="rect">
            <a:avLst/>
          </a:prstGeom>
          <a:noFill/>
        </p:spPr>
        <p:txBody>
          <a:bodyPr wrap="square" anchor="t" lIns="0" rIns="0" tIns="0" bIns="0">
            <a:spAutoFit/>
          </a:bodyPr>
          <a:lstStyle/>
          <a:p>
            <a:pPr algn="l">
              <a:spcAft>
                <a:spcPts val="400"/>
              </a:spcAft>
            </a:pPr>
            <a:r>
              <a:rPr sz="2200" b="1" i="0">
                <a:solidFill>
                  <a:srgbClr val="3F3533"/>
                </a:solidFill>
                <a:latin typeface="Arial"/>
              </a:rPr>
              <a:t>03</a:t>
            </a:r>
          </a:p>
        </p:txBody>
      </p:sp>
      <p:sp>
        <p:nvSpPr>
          <p:cNvPr id="16" name="TextBox 15"/>
          <p:cNvSpPr txBox="1"/>
          <p:nvPr/>
        </p:nvSpPr>
        <p:spPr>
          <a:xfrm>
            <a:off x="6163056" y="2450592"/>
            <a:ext cx="2148840" cy="457200"/>
          </a:xfrm>
          <a:prstGeom prst="rect">
            <a:avLst/>
          </a:prstGeom>
          <a:noFill/>
        </p:spPr>
        <p:txBody>
          <a:bodyPr wrap="square" anchor="t" lIns="0" rIns="0" tIns="0" bIns="0">
            <a:spAutoFit/>
          </a:bodyPr>
          <a:lstStyle/>
          <a:p>
            <a:pPr algn="l">
              <a:spcAft>
                <a:spcPts val="400"/>
              </a:spcAft>
            </a:pPr>
            <a:r>
              <a:rPr sz="1400" b="1" i="0">
                <a:solidFill>
                  <a:srgbClr val="3F3533"/>
                </a:solidFill>
                <a:latin typeface="Arial"/>
              </a:rPr>
              <a:t>Piercing the Veil</a:t>
            </a:r>
          </a:p>
        </p:txBody>
      </p:sp>
      <p:sp>
        <p:nvSpPr>
          <p:cNvPr id="17" name="TextBox 16"/>
          <p:cNvSpPr txBox="1"/>
          <p:nvPr/>
        </p:nvSpPr>
        <p:spPr>
          <a:xfrm>
            <a:off x="6163056" y="2971800"/>
            <a:ext cx="2148840" cy="365760"/>
          </a:xfrm>
          <a:prstGeom prst="rect">
            <a:avLst/>
          </a:prstGeom>
          <a:noFill/>
        </p:spPr>
        <p:txBody>
          <a:bodyPr wrap="square" anchor="t" lIns="0" rIns="0" tIns="0" bIns="0">
            <a:spAutoFit/>
          </a:bodyPr>
          <a:lstStyle/>
          <a:p>
            <a:pPr algn="l">
              <a:spcAft>
                <a:spcPts val="400"/>
              </a:spcAft>
            </a:pPr>
            <a:r>
              <a:rPr sz="1300" b="0" i="0">
                <a:solidFill>
                  <a:srgbClr val="5E5755"/>
                </a:solidFill>
                <a:latin typeface="Arial"/>
              </a:rPr>
              <a:t>When the boundary breaks</a:t>
            </a:r>
          </a:p>
        </p:txBody>
      </p:sp>
      <p:sp>
        <p:nvSpPr>
          <p:cNvPr id="18" name="Rectangle 17"/>
          <p:cNvSpPr/>
          <p:nvPr/>
        </p:nvSpPr>
        <p:spPr>
          <a:xfrm>
            <a:off x="713232" y="3547872"/>
            <a:ext cx="7717536" cy="1024128"/>
          </a:xfrm>
          <a:prstGeom prst="rect">
            <a:avLst/>
          </a:prstGeom>
          <a:solidFill>
            <a:srgbClr val="3F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41832" y="3547872"/>
            <a:ext cx="7260336" cy="1024128"/>
          </a:xfrm>
          <a:prstGeom prst="rect">
            <a:avLst/>
          </a:prstGeom>
          <a:noFill/>
        </p:spPr>
        <p:txBody>
          <a:bodyPr wrap="square" anchor="ctr" lIns="0" rIns="0" tIns="0" bIns="0">
            <a:spAutoFit/>
          </a:bodyPr>
          <a:lstStyle/>
          <a:p>
            <a:pPr algn="l">
              <a:spcAft>
                <a:spcPts val="300"/>
              </a:spcAft>
            </a:pPr>
            <a:r>
              <a:rPr sz="1300" b="1" i="0">
                <a:solidFill>
                  <a:srgbClr val="FFFFFF"/>
                </a:solidFill>
                <a:latin typeface="Arial"/>
              </a:rPr>
              <a:t>Asset partitioning </a:t>
            </a:r>
            <a:r>
              <a:rPr sz="1300" b="0" i="0">
                <a:solidFill>
                  <a:srgbClr val="FFFFFF"/>
                </a:solidFill>
                <a:latin typeface="Arial"/>
              </a:rPr>
              <a:t>(Hansmann &amp; Kraakman, 2000)</a:t>
            </a:r>
          </a:p>
          <a:p>
            <a:pPr algn="l">
              <a:spcAft>
                <a:spcPts val="400"/>
              </a:spcAft>
            </a:pPr>
            <a:r>
              <a:rPr sz="1300" b="1" i="0">
                <a:solidFill>
                  <a:srgbClr val="FFFFFF"/>
                </a:solidFill>
                <a:latin typeface="Arial"/>
              </a:rPr>
              <a:t>Entity shielding</a:t>
            </a:r>
            <a:r>
              <a:rPr sz="1300" b="0" i="0">
                <a:solidFill>
                  <a:srgbClr val="FFFFFF"/>
                </a:solidFill>
                <a:latin typeface="Arial"/>
              </a:rPr>
              <a:t> locks assets inside the company.  </a:t>
            </a:r>
            <a:r>
              <a:rPr sz="1300" b="1" i="0">
                <a:solidFill>
                  <a:srgbClr val="FFFFFF"/>
                </a:solidFill>
                <a:latin typeface="Arial"/>
              </a:rPr>
              <a:t>Owner shielding</a:t>
            </a:r>
            <a:r>
              <a:rPr sz="1300" b="0" i="0">
                <a:solidFill>
                  <a:srgbClr val="FFFFFF"/>
                </a:solidFill>
                <a:latin typeface="Arial"/>
              </a:rPr>
              <a:t> keeps company creditors away from shareholders’ pockets. B and C are describing entity shielding.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Layer 1 · Separate Legal Personality</a:t>
            </a:r>
          </a:p>
        </p:txBody>
      </p:sp>
      <p:sp>
        <p:nvSpPr>
          <p:cNvPr id="3" name="TextBox 2"/>
          <p:cNvSpPr txBox="1"/>
          <p:nvPr/>
        </p:nvSpPr>
        <p:spPr>
          <a:xfrm>
            <a:off x="713232" y="1143000"/>
            <a:ext cx="3383280" cy="320040"/>
          </a:xfrm>
          <a:prstGeom prst="rect">
            <a:avLst/>
          </a:prstGeom>
          <a:noFill/>
        </p:spPr>
        <p:txBody>
          <a:bodyPr wrap="square" anchor="t" lIns="0" rIns="0" tIns="0" bIns="0">
            <a:spAutoFit/>
          </a:bodyPr>
          <a:lstStyle/>
          <a:p>
            <a:pPr algn="l">
              <a:spcAft>
                <a:spcPts val="400"/>
              </a:spcAft>
            </a:pPr>
            <a:r>
              <a:rPr sz="1500" b="1" i="0">
                <a:solidFill>
                  <a:srgbClr val="3F3533"/>
                </a:solidFill>
                <a:latin typeface="Arial"/>
              </a:rPr>
              <a:t>The rule</a:t>
            </a:r>
          </a:p>
        </p:txBody>
      </p:sp>
      <p:sp>
        <p:nvSpPr>
          <p:cNvPr id="4" name="TextBox 3"/>
          <p:cNvSpPr txBox="1"/>
          <p:nvPr/>
        </p:nvSpPr>
        <p:spPr>
          <a:xfrm>
            <a:off x="713232" y="1508760"/>
            <a:ext cx="3383280" cy="2011680"/>
          </a:xfrm>
          <a:prstGeom prst="rect">
            <a:avLst/>
          </a:prstGeom>
          <a:noFill/>
        </p:spPr>
        <p:txBody>
          <a:bodyPr wrap="square" anchor="t" lIns="0" rIns="0" tIns="0" bIns="0">
            <a:spAutoFit/>
          </a:bodyPr>
          <a:lstStyle/>
          <a:p>
            <a:pPr algn="l" marL="182880" indent="-182880">
              <a:spcAft>
                <a:spcPts val="700"/>
              </a:spcAft>
              <a:buFont typeface="Arial"/>
              <a:buChar char="•"/>
            </a:pPr>
            <a:r>
              <a:rPr sz="1300" b="1" i="0">
                <a:solidFill>
                  <a:srgbClr val="3F3533"/>
                </a:solidFill>
                <a:latin typeface="Arial"/>
              </a:rPr>
              <a:t>Company Law Art. 3: </a:t>
            </a:r>
            <a:r>
              <a:rPr sz="1300" b="0" i="0">
                <a:solidFill>
                  <a:srgbClr val="3F3533"/>
                </a:solidFill>
                <a:latin typeface="Arial"/>
              </a:rPr>
              <a:t>the company owns independent property and answers for its debts with all of it</a:t>
            </a:r>
          </a:p>
          <a:p>
            <a:pPr algn="l" marL="182880" indent="-182880">
              <a:spcAft>
                <a:spcPts val="700"/>
              </a:spcAft>
              <a:buFont typeface="Arial"/>
              <a:buChar char="•"/>
            </a:pPr>
            <a:r>
              <a:rPr sz="1300" b="1" i="0">
                <a:solidFill>
                  <a:srgbClr val="3F3533"/>
                </a:solidFill>
                <a:latin typeface="Arial"/>
              </a:rPr>
              <a:t>Civil Code Art. 60: </a:t>
            </a:r>
            <a:r>
              <a:rPr sz="1300" b="0" i="0">
                <a:solidFill>
                  <a:srgbClr val="3F3533"/>
                </a:solidFill>
                <a:latin typeface="Arial"/>
              </a:rPr>
              <a:t>a legal person bears civil liability independently</a:t>
            </a:r>
          </a:p>
          <a:p>
            <a:pPr algn="l" marL="182880" indent="-182880">
              <a:spcAft>
                <a:spcPts val="700"/>
              </a:spcAft>
              <a:buFont typeface="Arial"/>
              <a:buChar char="•"/>
            </a:pPr>
            <a:r>
              <a:rPr sz="1300" b="1" i="1">
                <a:solidFill>
                  <a:srgbClr val="3F3533"/>
                </a:solidFill>
                <a:latin typeface="Arial"/>
              </a:rPr>
              <a:t>Salomon v A Salomon &amp; Co Ltd </a:t>
            </a:r>
            <a:r>
              <a:rPr sz="1300" b="0" i="0">
                <a:solidFill>
                  <a:srgbClr val="3F3533"/>
                </a:solidFill>
                <a:latin typeface="Arial"/>
              </a:rPr>
              <a:t>[1897] AC 22: a duly incorporated company is a separate person</a:t>
            </a:r>
          </a:p>
        </p:txBody>
      </p:sp>
      <p:sp>
        <p:nvSpPr>
          <p:cNvPr id="5" name="TextBox 4"/>
          <p:cNvSpPr txBox="1"/>
          <p:nvPr/>
        </p:nvSpPr>
        <p:spPr>
          <a:xfrm>
            <a:off x="4343400" y="1143000"/>
            <a:ext cx="4087368" cy="320040"/>
          </a:xfrm>
          <a:prstGeom prst="rect">
            <a:avLst/>
          </a:prstGeom>
          <a:noFill/>
        </p:spPr>
        <p:txBody>
          <a:bodyPr wrap="square" anchor="t" lIns="0" rIns="0" tIns="0" bIns="0">
            <a:spAutoFit/>
          </a:bodyPr>
          <a:lstStyle/>
          <a:p>
            <a:pPr algn="l">
              <a:spcAft>
                <a:spcPts val="400"/>
              </a:spcAft>
            </a:pPr>
            <a:r>
              <a:rPr sz="1500" b="1" i="0">
                <a:solidFill>
                  <a:srgbClr val="3F3533"/>
                </a:solidFill>
                <a:latin typeface="Arial"/>
              </a:rPr>
              <a:t>A contribution is a transfer, not a loan</a:t>
            </a:r>
          </a:p>
        </p:txBody>
      </p:sp>
      <p:graphicFrame>
        <p:nvGraphicFramePr>
          <p:cNvPr id="6" name="Table 5"/>
          <p:cNvGraphicFramePr>
            <a:graphicFrameLocks noGrp="1"/>
          </p:cNvGraphicFramePr>
          <p:nvPr/>
        </p:nvGraphicFramePr>
        <p:xfrm>
          <a:off x="4343400" y="1508760"/>
          <a:ext cx="4087368" cy="1828800"/>
        </p:xfrm>
        <a:graphic>
          <a:graphicData uri="http://schemas.openxmlformats.org/drawingml/2006/table">
            <a:tbl>
              <a:tblPr firstRow="0" bandRow="0">
                <a:tableStyleId>{5C22544A-7EE6-4342-B048-85BDC9FD1C3A}</a:tableStyleId>
              </a:tblPr>
              <a:tblGrid>
                <a:gridCol w="1051560"/>
                <a:gridCol w="1737360"/>
                <a:gridCol w="1298448"/>
              </a:tblGrid>
              <a:tr h="457200">
                <a:tc>
                  <a:txBody>
                    <a:bodyPr wrap="square"/>
                    <a:lstStyle/>
                    <a:p>
                      <a:r>
                        <a:rPr sz="1100" b="1" i="0">
                          <a:solidFill>
                            <a:srgbClr val="FFFFFF"/>
                          </a:solidFill>
                          <a:latin typeface="Arial"/>
                        </a:rPr>
                        <a:t>Asset</a:t>
                      </a:r>
                    </a:p>
                  </a:txBody>
                  <a:tcPr marL="73152" marR="73152" marT="45720" marB="45720" anchor="ctr">
                    <a:solidFill>
                      <a:srgbClr val="3F3533"/>
                    </a:solidFill>
                  </a:tcPr>
                </a:tc>
                <a:tc>
                  <a:txBody>
                    <a:bodyPr wrap="square"/>
                    <a:lstStyle/>
                    <a:p>
                      <a:r>
                        <a:rPr sz="1100" b="1" i="0">
                          <a:solidFill>
                            <a:srgbClr val="FFFFFF"/>
                          </a:solidFill>
                          <a:latin typeface="Arial"/>
                        </a:rPr>
                        <a:t>Ownership passes when…</a:t>
                      </a:r>
                    </a:p>
                  </a:txBody>
                  <a:tcPr marL="73152" marR="73152" marT="45720" marB="45720" anchor="ctr">
                    <a:solidFill>
                      <a:srgbClr val="3F3533"/>
                    </a:solidFill>
                  </a:tcPr>
                </a:tc>
                <a:tc>
                  <a:txBody>
                    <a:bodyPr wrap="square"/>
                    <a:lstStyle/>
                    <a:p>
                      <a:r>
                        <a:rPr sz="1100" b="1" i="0">
                          <a:solidFill>
                            <a:srgbClr val="FFFFFF"/>
                          </a:solidFill>
                          <a:latin typeface="Arial"/>
                        </a:rPr>
                        <a:t>Basis</a:t>
                      </a:r>
                    </a:p>
                  </a:txBody>
                  <a:tcPr marL="73152" marR="73152" marT="45720" marB="45720" anchor="ctr">
                    <a:solidFill>
                      <a:srgbClr val="3F3533"/>
                    </a:solidFill>
                  </a:tcPr>
                </a:tc>
              </a:tr>
              <a:tr h="457200">
                <a:tc>
                  <a:txBody>
                    <a:bodyPr wrap="square"/>
                    <a:lstStyle/>
                    <a:p>
                      <a:r>
                        <a:rPr sz="1100" b="1" i="0">
                          <a:solidFill>
                            <a:srgbClr val="3F3533"/>
                          </a:solidFill>
                          <a:latin typeface="Arial"/>
                        </a:rPr>
                        <a:t>Cash (A)</a:t>
                      </a:r>
                    </a:p>
                  </a:txBody>
                  <a:tcPr marL="73152" marR="73152" marT="45720" marB="45720" anchor="ctr">
                    <a:solidFill>
                      <a:srgbClr val="F6F7FB"/>
                    </a:solidFill>
                  </a:tcPr>
                </a:tc>
                <a:tc>
                  <a:txBody>
                    <a:bodyPr wrap="square"/>
                    <a:lstStyle/>
                    <a:p>
                      <a:r>
                        <a:rPr sz="1100" b="0" i="0">
                          <a:solidFill>
                            <a:srgbClr val="3F3533"/>
                          </a:solidFill>
                          <a:latin typeface="Arial"/>
                        </a:rPr>
                        <a:t>deposited in the company account</a:t>
                      </a:r>
                    </a:p>
                  </a:txBody>
                  <a:tcPr marL="73152" marR="73152" marT="45720" marB="45720" anchor="ctr">
                    <a:solidFill>
                      <a:srgbClr val="F6F7FB"/>
                    </a:solidFill>
                  </a:tcPr>
                </a:tc>
                <a:tc>
                  <a:txBody>
                    <a:bodyPr wrap="square"/>
                    <a:lstStyle/>
                    <a:p>
                      <a:r>
                        <a:rPr sz="1100" b="0" i="0">
                          <a:solidFill>
                            <a:srgbClr val="3F3533"/>
                          </a:solidFill>
                          <a:latin typeface="Arial"/>
                        </a:rPr>
                        <a:t>Company Law Art. 49</a:t>
                      </a:r>
                    </a:p>
                  </a:txBody>
                  <a:tcPr marL="73152" marR="73152" marT="45720" marB="45720" anchor="ctr">
                    <a:solidFill>
                      <a:srgbClr val="F6F7FB"/>
                    </a:solidFill>
                  </a:tcPr>
                </a:tc>
              </a:tr>
              <a:tr h="457200">
                <a:tc>
                  <a:txBody>
                    <a:bodyPr wrap="square"/>
                    <a:lstStyle/>
                    <a:p>
                      <a:r>
                        <a:rPr sz="1100" b="1" i="0">
                          <a:solidFill>
                            <a:srgbClr val="3F3533"/>
                          </a:solidFill>
                          <a:latin typeface="Arial"/>
                        </a:rPr>
                        <a:t>Patent (B)</a:t>
                      </a:r>
                    </a:p>
                  </a:txBody>
                  <a:tcPr marL="73152" marR="73152" marT="45720" marB="45720" anchor="ctr">
                    <a:solidFill>
                      <a:srgbClr val="FFFFFF"/>
                    </a:solidFill>
                  </a:tcPr>
                </a:tc>
                <a:tc>
                  <a:txBody>
                    <a:bodyPr wrap="square"/>
                    <a:lstStyle/>
                    <a:p>
                      <a:r>
                        <a:rPr sz="1100" b="0" i="0">
                          <a:solidFill>
                            <a:srgbClr val="3F3533"/>
                          </a:solidFill>
                          <a:latin typeface="Arial"/>
                        </a:rPr>
                        <a:t>transfer registered with CNIPA</a:t>
                      </a:r>
                    </a:p>
                  </a:txBody>
                  <a:tcPr marL="73152" marR="73152" marT="45720" marB="45720" anchor="ctr">
                    <a:solidFill>
                      <a:srgbClr val="FFFFFF"/>
                    </a:solidFill>
                  </a:tcPr>
                </a:tc>
                <a:tc>
                  <a:txBody>
                    <a:bodyPr wrap="square"/>
                    <a:lstStyle/>
                    <a:p>
                      <a:r>
                        <a:rPr sz="1100" b="0" i="0">
                          <a:solidFill>
                            <a:srgbClr val="3F3533"/>
                          </a:solidFill>
                          <a:latin typeface="Arial"/>
                        </a:rPr>
                        <a:t>Patent Law Art. 10</a:t>
                      </a:r>
                    </a:p>
                  </a:txBody>
                  <a:tcPr marL="73152" marR="73152" marT="45720" marB="45720" anchor="ctr">
                    <a:solidFill>
                      <a:srgbClr val="FFFFFF"/>
                    </a:solidFill>
                  </a:tcPr>
                </a:tc>
              </a:tr>
              <a:tr h="457200">
                <a:tc>
                  <a:txBody>
                    <a:bodyPr wrap="square"/>
                    <a:lstStyle/>
                    <a:p>
                      <a:r>
                        <a:rPr sz="1100" b="1" i="0">
                          <a:solidFill>
                            <a:srgbClr val="3F3533"/>
                          </a:solidFill>
                          <a:latin typeface="Arial"/>
                        </a:rPr>
                        <a:t>Equipment (C)</a:t>
                      </a:r>
                    </a:p>
                  </a:txBody>
                  <a:tcPr marL="73152" marR="73152" marT="45720" marB="45720" anchor="ctr">
                    <a:solidFill>
                      <a:srgbClr val="F6F7FB"/>
                    </a:solidFill>
                  </a:tcPr>
                </a:tc>
                <a:tc>
                  <a:txBody>
                    <a:bodyPr wrap="square"/>
                    <a:lstStyle/>
                    <a:p>
                      <a:r>
                        <a:rPr sz="1100" b="0" i="0">
                          <a:solidFill>
                            <a:srgbClr val="3F3533"/>
                          </a:solidFill>
                          <a:latin typeface="Arial"/>
                        </a:rPr>
                        <a:t>delivered to the company</a:t>
                      </a:r>
                    </a:p>
                  </a:txBody>
                  <a:tcPr marL="73152" marR="73152" marT="45720" marB="45720" anchor="ctr">
                    <a:solidFill>
                      <a:srgbClr val="F6F7FB"/>
                    </a:solidFill>
                  </a:tcPr>
                </a:tc>
                <a:tc>
                  <a:txBody>
                    <a:bodyPr wrap="square"/>
                    <a:lstStyle/>
                    <a:p>
                      <a:r>
                        <a:rPr sz="1100" b="0" i="0">
                          <a:solidFill>
                            <a:srgbClr val="3F3533"/>
                          </a:solidFill>
                          <a:latin typeface="Arial"/>
                        </a:rPr>
                        <a:t>Civil Code Art. 224</a:t>
                      </a:r>
                    </a:p>
                  </a:txBody>
                  <a:tcPr marL="73152" marR="73152" marT="45720" marB="45720" anchor="ctr">
                    <a:solidFill>
                      <a:srgbClr val="F6F7FB"/>
                    </a:solidFill>
                  </a:tcPr>
                </a:tc>
              </a:tr>
            </a:tbl>
          </a:graphicData>
        </a:graphic>
      </p:graphicFrame>
      <p:sp>
        <p:nvSpPr>
          <p:cNvPr id="7" name="Rectangle 6"/>
          <p:cNvSpPr/>
          <p:nvPr/>
        </p:nvSpPr>
        <p:spPr>
          <a:xfrm>
            <a:off x="713232" y="3657600"/>
            <a:ext cx="7717536" cy="896112"/>
          </a:xfrm>
          <a:prstGeom prst="rect">
            <a:avLst/>
          </a:prstGeom>
          <a:solidFill>
            <a:srgbClr val="3F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41832" y="3657600"/>
            <a:ext cx="7260336" cy="896112"/>
          </a:xfrm>
          <a:prstGeom prst="rect">
            <a:avLst/>
          </a:prstGeom>
          <a:noFill/>
        </p:spPr>
        <p:txBody>
          <a:bodyPr wrap="square" anchor="ctr" lIns="0" rIns="0" tIns="0" bIns="0">
            <a:spAutoFit/>
          </a:bodyPr>
          <a:lstStyle/>
          <a:p>
            <a:pPr algn="l">
              <a:spcAft>
                <a:spcPts val="400"/>
              </a:spcAft>
            </a:pPr>
            <a:r>
              <a:rPr sz="1500" b="1" i="0">
                <a:solidFill>
                  <a:srgbClr val="FFFFFF"/>
                </a:solidFill>
                <a:latin typeface="Arial"/>
              </a:rPr>
              <a:t>B and C are half right. </a:t>
            </a:r>
            <a:r>
              <a:rPr sz="1500" b="0" i="0">
                <a:solidFill>
                  <a:srgbClr val="FFFFFF"/>
                </a:solidFill>
                <a:latin typeface="Arial"/>
              </a:rPr>
              <a:t>The assets do belong to the company — which is exactly why the supplier can reach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Layer 2 · Limited Liability</a:t>
            </a:r>
          </a:p>
        </p:txBody>
      </p:sp>
      <p:sp>
        <p:nvSpPr>
          <p:cNvPr id="3" name="TextBox 2"/>
          <p:cNvSpPr txBox="1"/>
          <p:nvPr/>
        </p:nvSpPr>
        <p:spPr>
          <a:xfrm>
            <a:off x="713232" y="1078992"/>
            <a:ext cx="7717536" cy="347472"/>
          </a:xfrm>
          <a:prstGeom prst="rect">
            <a:avLst/>
          </a:prstGeom>
          <a:noFill/>
        </p:spPr>
        <p:txBody>
          <a:bodyPr wrap="square" anchor="t" lIns="0" rIns="0" tIns="0" bIns="0">
            <a:spAutoFit/>
          </a:bodyPr>
          <a:lstStyle/>
          <a:p>
            <a:pPr algn="l">
              <a:spcAft>
                <a:spcPts val="400"/>
              </a:spcAft>
            </a:pPr>
            <a:r>
              <a:rPr sz="1400" b="1" i="1">
                <a:solidFill>
                  <a:srgbClr val="3F3533"/>
                </a:solidFill>
                <a:latin typeface="Arial"/>
              </a:rPr>
              <a:t>Art. 4: </a:t>
            </a:r>
            <a:r>
              <a:rPr sz="1400" b="0" i="1">
                <a:solidFill>
                  <a:srgbClr val="3F3533"/>
                </a:solidFill>
                <a:latin typeface="Arial"/>
              </a:rPr>
              <a:t>you are liable for what you promised — not for what you own.</a:t>
            </a:r>
          </a:p>
        </p:txBody>
      </p:sp>
      <p:graphicFrame>
        <p:nvGraphicFramePr>
          <p:cNvPr id="4" name="Table 3"/>
          <p:cNvGraphicFramePr>
            <a:graphicFrameLocks noGrp="1"/>
          </p:cNvGraphicFramePr>
          <p:nvPr/>
        </p:nvGraphicFramePr>
        <p:xfrm>
          <a:off x="713232" y="1481328"/>
          <a:ext cx="7717536" cy="3072384"/>
        </p:xfrm>
        <a:graphic>
          <a:graphicData uri="http://schemas.openxmlformats.org/drawingml/2006/table">
            <a:tbl>
              <a:tblPr firstRow="0" bandRow="0">
                <a:tableStyleId>{5C22544A-7EE6-4342-B048-85BDC9FD1C3A}</a:tableStyleId>
              </a:tblPr>
              <a:tblGrid>
                <a:gridCol w="2377440"/>
                <a:gridCol w="3694176"/>
                <a:gridCol w="1645920"/>
              </a:tblGrid>
              <a:tr h="512064">
                <a:tc>
                  <a:txBody>
                    <a:bodyPr wrap="square"/>
                    <a:lstStyle/>
                    <a:p>
                      <a:r>
                        <a:rPr sz="1200" b="1" i="0">
                          <a:solidFill>
                            <a:srgbClr val="FFFFFF"/>
                          </a:solidFill>
                          <a:latin typeface="Arial"/>
                        </a:rPr>
                        <a:t>Scenario</a:t>
                      </a:r>
                    </a:p>
                  </a:txBody>
                  <a:tcPr marL="73152" marR="73152" marT="45720" marB="45720" anchor="ctr">
                    <a:solidFill>
                      <a:srgbClr val="3F3533"/>
                    </a:solidFill>
                  </a:tcPr>
                </a:tc>
                <a:tc>
                  <a:txBody>
                    <a:bodyPr wrap="square"/>
                    <a:lstStyle/>
                    <a:p>
                      <a:r>
                        <a:rPr sz="1200" b="1" i="0">
                          <a:solidFill>
                            <a:srgbClr val="FFFFFF"/>
                          </a:solidFill>
                          <a:latin typeface="Arial"/>
                        </a:rPr>
                        <a:t>Consequence</a:t>
                      </a:r>
                    </a:p>
                  </a:txBody>
                  <a:tcPr marL="73152" marR="73152" marT="45720" marB="45720" anchor="ctr">
                    <a:solidFill>
                      <a:srgbClr val="3F3533"/>
                    </a:solidFill>
                  </a:tcPr>
                </a:tc>
                <a:tc>
                  <a:txBody>
                    <a:bodyPr wrap="square"/>
                    <a:lstStyle/>
                    <a:p>
                      <a:r>
                        <a:rPr sz="1200" b="1" i="0">
                          <a:solidFill>
                            <a:srgbClr val="FFFFFF"/>
                          </a:solidFill>
                          <a:latin typeface="Arial"/>
                        </a:rPr>
                        <a:t>Basis</a:t>
                      </a:r>
                    </a:p>
                  </a:txBody>
                  <a:tcPr marL="73152" marR="73152" marT="45720" marB="45720" anchor="ctr">
                    <a:solidFill>
                      <a:srgbClr val="3F3533"/>
                    </a:solidFill>
                  </a:tcPr>
                </a:tc>
              </a:tr>
              <a:tr h="512064">
                <a:tc>
                  <a:txBody>
                    <a:bodyPr wrap="square"/>
                    <a:lstStyle/>
                    <a:p>
                      <a:r>
                        <a:rPr sz="1100" b="1" i="0">
                          <a:solidFill>
                            <a:srgbClr val="3F3533"/>
                          </a:solidFill>
                          <a:latin typeface="Arial"/>
                        </a:rPr>
                        <a:t>① Paid in full, fairly valued, transferred</a:t>
                      </a:r>
                    </a:p>
                  </a:txBody>
                  <a:tcPr marL="73152" marR="73152" marT="45720" marB="45720" anchor="ctr">
                    <a:solidFill>
                      <a:srgbClr val="F6F7FB"/>
                    </a:solidFill>
                  </a:tcPr>
                </a:tc>
                <a:tc>
                  <a:txBody>
                    <a:bodyPr wrap="square"/>
                    <a:lstStyle/>
                    <a:p>
                      <a:r>
                        <a:rPr sz="1100" b="0" i="0">
                          <a:solidFill>
                            <a:srgbClr val="3F3533"/>
                          </a:solidFill>
                          <a:latin typeface="Arial"/>
                        </a:rPr>
                        <a:t>No personal liability — the supplier must sue the company</a:t>
                      </a:r>
                    </a:p>
                  </a:txBody>
                  <a:tcPr marL="73152" marR="73152" marT="45720" marB="45720" anchor="ctr">
                    <a:solidFill>
                      <a:srgbClr val="F6F7FB"/>
                    </a:solidFill>
                  </a:tcPr>
                </a:tc>
                <a:tc>
                  <a:txBody>
                    <a:bodyPr wrap="square"/>
                    <a:lstStyle/>
                    <a:p>
                      <a:r>
                        <a:rPr sz="1100" b="0" i="0">
                          <a:solidFill>
                            <a:srgbClr val="3F3533"/>
                          </a:solidFill>
                          <a:latin typeface="Arial"/>
                        </a:rPr>
                        <a:t>Company Law Art. 4</a:t>
                      </a:r>
                    </a:p>
                  </a:txBody>
                  <a:tcPr marL="73152" marR="73152" marT="45720" marB="45720" anchor="ctr">
                    <a:solidFill>
                      <a:srgbClr val="F6F7FB"/>
                    </a:solidFill>
                  </a:tcPr>
                </a:tc>
              </a:tr>
              <a:tr h="512064">
                <a:tc>
                  <a:txBody>
                    <a:bodyPr wrap="square"/>
                    <a:lstStyle/>
                    <a:p>
                      <a:r>
                        <a:rPr sz="1100" b="1" i="0">
                          <a:solidFill>
                            <a:srgbClr val="3F3533"/>
                          </a:solidFill>
                          <a:latin typeface="Arial"/>
                        </a:rPr>
                        <a:t>② Patent delivered but never registered</a:t>
                      </a:r>
                    </a:p>
                  </a:txBody>
                  <a:tcPr marL="73152" marR="73152" marT="45720" marB="45720" anchor="ctr">
                    <a:solidFill>
                      <a:srgbClr val="FFFFFF"/>
                    </a:solidFill>
                  </a:tcPr>
                </a:tc>
                <a:tc>
                  <a:txBody>
                    <a:bodyPr wrap="square"/>
                    <a:lstStyle/>
                    <a:p>
                      <a:r>
                        <a:rPr sz="1100" b="0" i="0">
                          <a:solidFill>
                            <a:srgbClr val="3F3533"/>
                          </a:solidFill>
                          <a:latin typeface="Arial"/>
                        </a:rPr>
                        <a:t>Court orders registration; otherwise B covers the unpaid amount + interest that the company cannot pay</a:t>
                      </a:r>
                    </a:p>
                  </a:txBody>
                  <a:tcPr marL="73152" marR="73152" marT="45720" marB="45720" anchor="ctr">
                    <a:solidFill>
                      <a:srgbClr val="FFFFFF"/>
                    </a:solidFill>
                  </a:tcPr>
                </a:tc>
                <a:tc>
                  <a:txBody>
                    <a:bodyPr wrap="square"/>
                    <a:lstStyle/>
                    <a:p>
                      <a:r>
                        <a:rPr sz="1100" b="0" i="0">
                          <a:solidFill>
                            <a:srgbClr val="3F3533"/>
                          </a:solidFill>
                          <a:latin typeface="Arial"/>
                        </a:rPr>
                        <a:t>Interpretation III Arts 10, 13(2)</a:t>
                      </a:r>
                    </a:p>
                  </a:txBody>
                  <a:tcPr marL="73152" marR="73152" marT="45720" marB="45720" anchor="ctr">
                    <a:solidFill>
                      <a:srgbClr val="FFFFFF"/>
                    </a:solidFill>
                  </a:tcPr>
                </a:tc>
              </a:tr>
              <a:tr h="512064">
                <a:tc>
                  <a:txBody>
                    <a:bodyPr wrap="square"/>
                    <a:lstStyle/>
                    <a:p>
                      <a:r>
                        <a:rPr sz="1100" b="1" i="0">
                          <a:solidFill>
                            <a:srgbClr val="3F3533"/>
                          </a:solidFill>
                          <a:latin typeface="Arial"/>
                        </a:rPr>
                        <a:t>③ Patent overvalued (worth only ¥80,000)</a:t>
                      </a:r>
                    </a:p>
                  </a:txBody>
                  <a:tcPr marL="73152" marR="73152" marT="45720" marB="45720" anchor="ctr">
                    <a:solidFill>
                      <a:srgbClr val="F6F7FB"/>
                    </a:solidFill>
                  </a:tcPr>
                </a:tc>
                <a:tc>
                  <a:txBody>
                    <a:bodyPr wrap="square"/>
                    <a:lstStyle/>
                    <a:p>
                      <a:r>
                        <a:rPr sz="1100" b="0" i="0">
                          <a:solidFill>
                            <a:srgbClr val="3F3533"/>
                          </a:solidFill>
                          <a:latin typeface="Arial"/>
                        </a:rPr>
                        <a:t>B makes up ¥120,000; A and C are jointly liable within that shortfall</a:t>
                      </a:r>
                    </a:p>
                  </a:txBody>
                  <a:tcPr marL="73152" marR="73152" marT="45720" marB="45720" anchor="ctr">
                    <a:solidFill>
                      <a:srgbClr val="F6F7FB"/>
                    </a:solidFill>
                  </a:tcPr>
                </a:tc>
                <a:tc>
                  <a:txBody>
                    <a:bodyPr wrap="square"/>
                    <a:lstStyle/>
                    <a:p>
                      <a:r>
                        <a:rPr sz="1100" b="0" i="0">
                          <a:solidFill>
                            <a:srgbClr val="3F3533"/>
                          </a:solidFill>
                          <a:latin typeface="Arial"/>
                        </a:rPr>
                        <a:t>Art. 50; Interp. III Art. 9</a:t>
                      </a:r>
                    </a:p>
                  </a:txBody>
                  <a:tcPr marL="73152" marR="73152" marT="45720" marB="45720" anchor="ctr">
                    <a:solidFill>
                      <a:srgbClr val="F6F7FB"/>
                    </a:solidFill>
                  </a:tcPr>
                </a:tc>
              </a:tr>
              <a:tr h="512064">
                <a:tc>
                  <a:txBody>
                    <a:bodyPr wrap="square"/>
                    <a:lstStyle/>
                    <a:p>
                      <a:r>
                        <a:rPr sz="1100" b="1" i="0">
                          <a:solidFill>
                            <a:srgbClr val="3F3533"/>
                          </a:solidFill>
                          <a:latin typeface="Arial"/>
                        </a:rPr>
                        <a:t>④ Payment deadline not yet due</a:t>
                      </a:r>
                    </a:p>
                  </a:txBody>
                  <a:tcPr marL="73152" marR="73152" marT="45720" marB="45720" anchor="ctr">
                    <a:solidFill>
                      <a:srgbClr val="FFFFFF"/>
                    </a:solidFill>
                  </a:tcPr>
                </a:tc>
                <a:tc>
                  <a:txBody>
                    <a:bodyPr wrap="square"/>
                    <a:lstStyle/>
                    <a:p>
                      <a:r>
                        <a:rPr sz="1100" b="0" i="0">
                          <a:solidFill>
                            <a:srgbClr val="3F3533"/>
                          </a:solidFill>
                          <a:latin typeface="Arial"/>
                        </a:rPr>
                        <a:t>If the company cannot pay debts due, creditors may demand early payment (acceleration)</a:t>
                      </a:r>
                    </a:p>
                  </a:txBody>
                  <a:tcPr marL="73152" marR="73152" marT="45720" marB="45720" anchor="ctr">
                    <a:solidFill>
                      <a:srgbClr val="FFFFFF"/>
                    </a:solidFill>
                  </a:tcPr>
                </a:tc>
                <a:tc>
                  <a:txBody>
                    <a:bodyPr wrap="square"/>
                    <a:lstStyle/>
                    <a:p>
                      <a:r>
                        <a:rPr sz="1100" b="0" i="0">
                          <a:solidFill>
                            <a:srgbClr val="3F3533"/>
                          </a:solidFill>
                          <a:latin typeface="Arial"/>
                        </a:rPr>
                        <a:t>Arts 47, 54</a:t>
                      </a:r>
                    </a:p>
                  </a:txBody>
                  <a:tcPr marL="73152" marR="73152" marT="45720" marB="45720" anchor="ctr">
                    <a:solidFill>
                      <a:srgbClr val="FFFFFF"/>
                    </a:solidFill>
                  </a:tcPr>
                </a:tc>
              </a:tr>
              <a:tr h="512064">
                <a:tc>
                  <a:txBody>
                    <a:bodyPr wrap="square"/>
                    <a:lstStyle/>
                    <a:p>
                      <a:r>
                        <a:rPr sz="1100" b="1" i="0">
                          <a:solidFill>
                            <a:srgbClr val="3F3533"/>
                          </a:solidFill>
                          <a:latin typeface="Arial"/>
                        </a:rPr>
                        <a:t>⑤ Capital withdrawn after contribution</a:t>
                      </a:r>
                    </a:p>
                  </a:txBody>
                  <a:tcPr marL="73152" marR="73152" marT="45720" marB="45720" anchor="ctr">
                    <a:solidFill>
                      <a:srgbClr val="F6F7FB"/>
                    </a:solidFill>
                  </a:tcPr>
                </a:tc>
                <a:tc>
                  <a:txBody>
                    <a:bodyPr wrap="square"/>
                    <a:lstStyle/>
                    <a:p>
                      <a:r>
                        <a:rPr sz="1100" b="0" i="0">
                          <a:solidFill>
                            <a:srgbClr val="3F3533"/>
                          </a:solidFill>
                          <a:latin typeface="Arial"/>
                        </a:rPr>
                        <a:t>Must be returned; responsible directors and officers jointly liable</a:t>
                      </a:r>
                    </a:p>
                  </a:txBody>
                  <a:tcPr marL="73152" marR="73152" marT="45720" marB="45720" anchor="ctr">
                    <a:solidFill>
                      <a:srgbClr val="F6F7FB"/>
                    </a:solidFill>
                  </a:tcPr>
                </a:tc>
                <a:tc>
                  <a:txBody>
                    <a:bodyPr wrap="square"/>
                    <a:lstStyle/>
                    <a:p>
                      <a:r>
                        <a:rPr sz="1100" b="0" i="0">
                          <a:solidFill>
                            <a:srgbClr val="3F3533"/>
                          </a:solidFill>
                          <a:latin typeface="Arial"/>
                        </a:rPr>
                        <a:t>Art. 53</a:t>
                      </a:r>
                    </a:p>
                  </a:txBody>
                  <a:tcPr marL="73152" marR="73152" marT="45720" marB="45720" anchor="ctr">
                    <a:solidFill>
                      <a:srgbClr val="F6F7FB"/>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Surprising Twist &amp; Two Legal Routes</a:t>
            </a:r>
          </a:p>
        </p:txBody>
      </p:sp>
      <p:sp>
        <p:nvSpPr>
          <p:cNvPr id="3" name="Rectangle 2"/>
          <p:cNvSpPr/>
          <p:nvPr/>
        </p:nvSpPr>
        <p:spPr>
          <a:xfrm>
            <a:off x="713232" y="1188720"/>
            <a:ext cx="3291840" cy="3383280"/>
          </a:xfrm>
          <a:prstGeom prst="rect">
            <a:avLst/>
          </a:prstGeom>
          <a:solidFill>
            <a:srgbClr val="3F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41832" y="1325880"/>
            <a:ext cx="2834640" cy="548640"/>
          </a:xfrm>
          <a:prstGeom prst="rect">
            <a:avLst/>
          </a:prstGeom>
          <a:noFill/>
        </p:spPr>
        <p:txBody>
          <a:bodyPr wrap="square" anchor="t" lIns="0" rIns="0" tIns="0" bIns="0">
            <a:spAutoFit/>
          </a:bodyPr>
          <a:lstStyle/>
          <a:p>
            <a:pPr algn="l">
              <a:spcAft>
                <a:spcPts val="400"/>
              </a:spcAft>
            </a:pPr>
            <a:r>
              <a:rPr sz="3400" b="1" i="0">
                <a:solidFill>
                  <a:srgbClr val="FFFFFF"/>
                </a:solidFill>
                <a:latin typeface="Arial"/>
              </a:rPr>
              <a:t>¥120,000</a:t>
            </a:r>
          </a:p>
        </p:txBody>
      </p:sp>
      <p:sp>
        <p:nvSpPr>
          <p:cNvPr id="5" name="TextBox 4"/>
          <p:cNvSpPr txBox="1"/>
          <p:nvPr/>
        </p:nvSpPr>
        <p:spPr>
          <a:xfrm>
            <a:off x="941832" y="1938528"/>
            <a:ext cx="2834640" cy="2560320"/>
          </a:xfrm>
          <a:prstGeom prst="rect">
            <a:avLst/>
          </a:prstGeom>
          <a:noFill/>
        </p:spPr>
        <p:txBody>
          <a:bodyPr wrap="square" anchor="t" lIns="0" rIns="0" tIns="0" bIns="0">
            <a:spAutoFit/>
          </a:bodyPr>
          <a:lstStyle/>
          <a:p>
            <a:pPr algn="l">
              <a:spcAft>
                <a:spcPts val="800"/>
              </a:spcAft>
            </a:pPr>
            <a:r>
              <a:rPr sz="1400" b="1" i="0">
                <a:solidFill>
                  <a:srgbClr val="FFFFFF"/>
                </a:solidFill>
                <a:latin typeface="Arial"/>
              </a:rPr>
              <a:t>Even A — who paid every yuan in cash — can be jointly liable for B’s overvalued patent.</a:t>
            </a:r>
          </a:p>
          <a:p>
            <a:pPr algn="l">
              <a:spcAft>
                <a:spcPts val="600"/>
              </a:spcAft>
            </a:pPr>
            <a:r>
              <a:rPr sz="1300" b="0" i="0">
                <a:solidFill>
                  <a:srgbClr val="FFFFFF"/>
                </a:solidFill>
                <a:latin typeface="Arial"/>
              </a:rPr>
              <a:t>Company Law Art. 50: founders guarantee each other’s contributions within the shortfall.</a:t>
            </a:r>
          </a:p>
          <a:p>
            <a:pPr algn="l">
              <a:spcAft>
                <a:spcPts val="400"/>
              </a:spcAft>
            </a:pPr>
            <a:r>
              <a:rPr sz="1300" b="0" i="0">
                <a:solidFill>
                  <a:srgbClr val="FFFFFF"/>
                </a:solidFill>
                <a:latin typeface="Arial"/>
              </a:rPr>
              <a:t>A may then recover from B.</a:t>
            </a:r>
          </a:p>
        </p:txBody>
      </p:sp>
      <p:sp>
        <p:nvSpPr>
          <p:cNvPr id="6" name="TextBox 5"/>
          <p:cNvSpPr txBox="1"/>
          <p:nvPr/>
        </p:nvSpPr>
        <p:spPr>
          <a:xfrm>
            <a:off x="4233672" y="1188720"/>
            <a:ext cx="4197096" cy="320040"/>
          </a:xfrm>
          <a:prstGeom prst="rect">
            <a:avLst/>
          </a:prstGeom>
          <a:noFill/>
        </p:spPr>
        <p:txBody>
          <a:bodyPr wrap="square" anchor="t" lIns="0" rIns="0" tIns="0" bIns="0">
            <a:spAutoFit/>
          </a:bodyPr>
          <a:lstStyle/>
          <a:p>
            <a:pPr algn="l">
              <a:spcAft>
                <a:spcPts val="400"/>
              </a:spcAft>
            </a:pPr>
            <a:r>
              <a:rPr sz="1500" b="1" i="0">
                <a:solidFill>
                  <a:srgbClr val="3F3533"/>
                </a:solidFill>
                <a:latin typeface="Arial"/>
              </a:rPr>
              <a:t>Two routes to protect creditors</a:t>
            </a:r>
          </a:p>
        </p:txBody>
      </p:sp>
      <p:sp>
        <p:nvSpPr>
          <p:cNvPr id="7" name="Rectangle 6"/>
          <p:cNvSpPr/>
          <p:nvPr/>
        </p:nvSpPr>
        <p:spPr>
          <a:xfrm>
            <a:off x="4233672" y="1572768"/>
            <a:ext cx="4197096" cy="1426464"/>
          </a:xfrm>
          <a:prstGeom prst="rect">
            <a:avLst/>
          </a:prstGeom>
          <a:solidFill>
            <a:srgbClr val="F6F7FB"/>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398264" y="1737360"/>
            <a:ext cx="457200" cy="457200"/>
          </a:xfrm>
          <a:prstGeom prst="ellipse">
            <a:avLst/>
          </a:prstGeom>
          <a:solidFill>
            <a:srgbClr val="3F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398264" y="1737360"/>
            <a:ext cx="457200" cy="457200"/>
          </a:xfrm>
          <a:prstGeom prst="rect">
            <a:avLst/>
          </a:prstGeom>
          <a:noFill/>
        </p:spPr>
        <p:txBody>
          <a:bodyPr wrap="square" anchor="ctr" lIns="0" rIns="0" tIns="0" bIns="0">
            <a:spAutoFit/>
          </a:bodyPr>
          <a:lstStyle/>
          <a:p>
            <a:pPr algn="ctr">
              <a:spcAft>
                <a:spcPts val="400"/>
              </a:spcAft>
            </a:pPr>
            <a:r>
              <a:rPr sz="1200" b="1" i="0">
                <a:solidFill>
                  <a:srgbClr val="FFFFFF"/>
                </a:solidFill>
                <a:latin typeface="Arial"/>
              </a:rPr>
              <a:t>CN</a:t>
            </a:r>
          </a:p>
        </p:txBody>
      </p:sp>
      <p:sp>
        <p:nvSpPr>
          <p:cNvPr id="10" name="TextBox 9"/>
          <p:cNvSpPr txBox="1"/>
          <p:nvPr/>
        </p:nvSpPr>
        <p:spPr>
          <a:xfrm>
            <a:off x="5010912" y="1755648"/>
            <a:ext cx="3291840" cy="365760"/>
          </a:xfrm>
          <a:prstGeom prst="rect">
            <a:avLst/>
          </a:prstGeom>
          <a:noFill/>
        </p:spPr>
        <p:txBody>
          <a:bodyPr wrap="square" anchor="t" lIns="0" rIns="0" tIns="0" bIns="0">
            <a:spAutoFit/>
          </a:bodyPr>
          <a:lstStyle/>
          <a:p>
            <a:pPr algn="l">
              <a:spcAft>
                <a:spcPts val="400"/>
              </a:spcAft>
            </a:pPr>
            <a:r>
              <a:rPr sz="1400" b="1" i="0">
                <a:solidFill>
                  <a:srgbClr val="3F3533"/>
                </a:solidFill>
                <a:latin typeface="Arial"/>
              </a:rPr>
              <a:t>China — ex ante</a:t>
            </a:r>
          </a:p>
        </p:txBody>
      </p:sp>
      <p:sp>
        <p:nvSpPr>
          <p:cNvPr id="11" name="TextBox 10"/>
          <p:cNvSpPr txBox="1"/>
          <p:nvPr/>
        </p:nvSpPr>
        <p:spPr>
          <a:xfrm>
            <a:off x="5010912" y="2103120"/>
            <a:ext cx="3291840" cy="777240"/>
          </a:xfrm>
          <a:prstGeom prst="rect">
            <a:avLst/>
          </a:prstGeom>
          <a:noFill/>
        </p:spPr>
        <p:txBody>
          <a:bodyPr wrap="square" anchor="t" lIns="0" rIns="0" tIns="0" bIns="0">
            <a:spAutoFit/>
          </a:bodyPr>
          <a:lstStyle/>
          <a:p>
            <a:pPr algn="l" marL="182880" indent="-182880">
              <a:spcAft>
                <a:spcPts val="300"/>
              </a:spcAft>
              <a:buFont typeface="Arial"/>
              <a:buChar char="•"/>
            </a:pPr>
            <a:r>
              <a:rPr sz="1200" b="0" i="0">
                <a:solidFill>
                  <a:srgbClr val="3F3533"/>
                </a:solidFill>
                <a:latin typeface="Arial"/>
              </a:rPr>
              <a:t>Mandatory valuation of non-cash contributions (Art. 48)</a:t>
            </a:r>
          </a:p>
          <a:p>
            <a:pPr algn="l" marL="182880" indent="-182880">
              <a:spcAft>
                <a:spcPts val="300"/>
              </a:spcAft>
              <a:buFont typeface="Arial"/>
              <a:buChar char="•"/>
            </a:pPr>
            <a:r>
              <a:rPr sz="1200" b="0" i="0">
                <a:solidFill>
                  <a:srgbClr val="3F3533"/>
                </a:solidFill>
                <a:latin typeface="Arial"/>
              </a:rPr>
              <a:t>Founders’ joint liability for shortfalls (Art. 50)</a:t>
            </a:r>
          </a:p>
        </p:txBody>
      </p:sp>
      <p:sp>
        <p:nvSpPr>
          <p:cNvPr id="12" name="Rectangle 11"/>
          <p:cNvSpPr/>
          <p:nvPr/>
        </p:nvSpPr>
        <p:spPr>
          <a:xfrm>
            <a:off x="4233672" y="3090672"/>
            <a:ext cx="4197096" cy="1426464"/>
          </a:xfrm>
          <a:prstGeom prst="rect">
            <a:avLst/>
          </a:prstGeom>
          <a:solidFill>
            <a:srgbClr val="F6F7FB"/>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398264" y="3255264"/>
            <a:ext cx="457200" cy="457200"/>
          </a:xfrm>
          <a:prstGeom prst="ellipse">
            <a:avLst/>
          </a:prstGeom>
          <a:solidFill>
            <a:srgbClr val="3F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98264" y="3255264"/>
            <a:ext cx="457200" cy="457200"/>
          </a:xfrm>
          <a:prstGeom prst="rect">
            <a:avLst/>
          </a:prstGeom>
          <a:noFill/>
        </p:spPr>
        <p:txBody>
          <a:bodyPr wrap="square" anchor="ctr" lIns="0" rIns="0" tIns="0" bIns="0">
            <a:spAutoFit/>
          </a:bodyPr>
          <a:lstStyle/>
          <a:p>
            <a:pPr algn="ctr">
              <a:spcAft>
                <a:spcPts val="400"/>
              </a:spcAft>
            </a:pPr>
            <a:r>
              <a:rPr sz="1200" b="1" i="0">
                <a:solidFill>
                  <a:srgbClr val="FFFFFF"/>
                </a:solidFill>
                <a:latin typeface="Arial"/>
              </a:rPr>
              <a:t>UK</a:t>
            </a:r>
          </a:p>
        </p:txBody>
      </p:sp>
      <p:sp>
        <p:nvSpPr>
          <p:cNvPr id="15" name="TextBox 14"/>
          <p:cNvSpPr txBox="1"/>
          <p:nvPr/>
        </p:nvSpPr>
        <p:spPr>
          <a:xfrm>
            <a:off x="5010912" y="3273552"/>
            <a:ext cx="3291840" cy="365760"/>
          </a:xfrm>
          <a:prstGeom prst="rect">
            <a:avLst/>
          </a:prstGeom>
          <a:noFill/>
        </p:spPr>
        <p:txBody>
          <a:bodyPr wrap="square" anchor="t" lIns="0" rIns="0" tIns="0" bIns="0">
            <a:spAutoFit/>
          </a:bodyPr>
          <a:lstStyle/>
          <a:p>
            <a:pPr algn="l">
              <a:spcAft>
                <a:spcPts val="400"/>
              </a:spcAft>
            </a:pPr>
            <a:r>
              <a:rPr sz="1400" b="1" i="0">
                <a:solidFill>
                  <a:srgbClr val="3F3533"/>
                </a:solidFill>
                <a:latin typeface="Arial"/>
              </a:rPr>
              <a:t>UK — ex post</a:t>
            </a:r>
          </a:p>
        </p:txBody>
      </p:sp>
      <p:sp>
        <p:nvSpPr>
          <p:cNvPr id="16" name="TextBox 15"/>
          <p:cNvSpPr txBox="1"/>
          <p:nvPr/>
        </p:nvSpPr>
        <p:spPr>
          <a:xfrm>
            <a:off x="5010912" y="3621024"/>
            <a:ext cx="3291840" cy="777240"/>
          </a:xfrm>
          <a:prstGeom prst="rect">
            <a:avLst/>
          </a:prstGeom>
          <a:noFill/>
        </p:spPr>
        <p:txBody>
          <a:bodyPr wrap="square" anchor="t" lIns="0" rIns="0" tIns="0" bIns="0">
            <a:spAutoFit/>
          </a:bodyPr>
          <a:lstStyle/>
          <a:p>
            <a:pPr algn="l" marL="182880" indent="-182880">
              <a:spcAft>
                <a:spcPts val="300"/>
              </a:spcAft>
              <a:buFont typeface="Arial"/>
              <a:buChar char="•"/>
            </a:pPr>
            <a:r>
              <a:rPr sz="1200" b="0" i="0">
                <a:solidFill>
                  <a:srgbClr val="3F3533"/>
                </a:solidFill>
                <a:latin typeface="Arial"/>
              </a:rPr>
              <a:t>Valuation required only for public companies (CA 2006 s.593)</a:t>
            </a:r>
          </a:p>
          <a:p>
            <a:pPr algn="l" marL="182880" indent="-182880">
              <a:spcAft>
                <a:spcPts val="300"/>
              </a:spcAft>
              <a:buFont typeface="Arial"/>
              <a:buChar char="•"/>
            </a:pPr>
            <a:r>
              <a:rPr sz="1200" b="0" i="0">
                <a:solidFill>
                  <a:srgbClr val="3F3533"/>
                </a:solidFill>
                <a:latin typeface="Arial"/>
              </a:rPr>
              <a:t>Creditors rely on wrongful trading (IA 1986 s.214)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Layer 3 · Piercing the Corporate Veil</a:t>
            </a:r>
          </a:p>
        </p:txBody>
      </p:sp>
      <p:sp>
        <p:nvSpPr>
          <p:cNvPr id="3" name="Rectangle 2"/>
          <p:cNvSpPr/>
          <p:nvPr/>
        </p:nvSpPr>
        <p:spPr>
          <a:xfrm>
            <a:off x="713232" y="1143000"/>
            <a:ext cx="2450592" cy="2103120"/>
          </a:xfrm>
          <a:prstGeom prst="rect">
            <a:avLst/>
          </a:prstGeom>
          <a:solidFill>
            <a:srgbClr val="F6F7FB"/>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50392" y="1234440"/>
            <a:ext cx="2194560" cy="320040"/>
          </a:xfrm>
          <a:prstGeom prst="rect">
            <a:avLst/>
          </a:prstGeom>
          <a:noFill/>
        </p:spPr>
        <p:txBody>
          <a:bodyPr wrap="square" anchor="t" lIns="0" rIns="0" tIns="0" bIns="0">
            <a:spAutoFit/>
          </a:bodyPr>
          <a:lstStyle/>
          <a:p>
            <a:pPr algn="l">
              <a:spcAft>
                <a:spcPts val="400"/>
              </a:spcAft>
            </a:pPr>
            <a:r>
              <a:rPr sz="1400" b="1" i="0">
                <a:solidFill>
                  <a:srgbClr val="3F3533"/>
                </a:solidFill>
                <a:latin typeface="Arial"/>
              </a:rPr>
              <a:t>China</a:t>
            </a:r>
          </a:p>
        </p:txBody>
      </p:sp>
      <p:sp>
        <p:nvSpPr>
          <p:cNvPr id="5" name="TextBox 4"/>
          <p:cNvSpPr txBox="1"/>
          <p:nvPr/>
        </p:nvSpPr>
        <p:spPr>
          <a:xfrm>
            <a:off x="850392" y="1600200"/>
            <a:ext cx="2212848" cy="1600200"/>
          </a:xfrm>
          <a:prstGeom prst="rect">
            <a:avLst/>
          </a:prstGeom>
          <a:noFill/>
        </p:spPr>
        <p:txBody>
          <a:bodyPr wrap="square" anchor="t" lIns="0" rIns="0" tIns="0" bIns="0">
            <a:spAutoFit/>
          </a:bodyPr>
          <a:lstStyle/>
          <a:p>
            <a:pPr algn="l" marL="182880" indent="-182880">
              <a:spcAft>
                <a:spcPts val="400"/>
              </a:spcAft>
              <a:buFont typeface="Arial"/>
              <a:buChar char="•"/>
            </a:pPr>
            <a:r>
              <a:rPr sz="1150" b="0" i="0">
                <a:solidFill>
                  <a:srgbClr val="3F3533"/>
                </a:solidFill>
                <a:latin typeface="Arial"/>
              </a:rPr>
              <a:t>Art. 23(1): abuse to evade debts → joint liability</a:t>
            </a:r>
          </a:p>
          <a:p>
            <a:pPr algn="l" marL="182880" indent="-182880">
              <a:spcAft>
                <a:spcPts val="400"/>
              </a:spcAft>
              <a:buFont typeface="Arial"/>
              <a:buChar char="•"/>
            </a:pPr>
            <a:r>
              <a:rPr sz="1150" b="0" i="0">
                <a:solidFill>
                  <a:srgbClr val="3F3533"/>
                </a:solidFill>
                <a:latin typeface="Arial"/>
              </a:rPr>
              <a:t>Art. 23(2): horizontal piercing (Guiding Case No. 15)</a:t>
            </a:r>
          </a:p>
          <a:p>
            <a:pPr algn="l" marL="182880" indent="-182880">
              <a:spcAft>
                <a:spcPts val="400"/>
              </a:spcAft>
              <a:buFont typeface="Arial"/>
              <a:buChar char="•"/>
            </a:pPr>
            <a:r>
              <a:rPr sz="1150" b="0" i="0">
                <a:solidFill>
                  <a:srgbClr val="3F3533"/>
                </a:solidFill>
                <a:latin typeface="Arial"/>
              </a:rPr>
              <a:t>Art. 23(3): one-shareholder company — burden reversed</a:t>
            </a:r>
          </a:p>
        </p:txBody>
      </p:sp>
      <p:sp>
        <p:nvSpPr>
          <p:cNvPr id="6" name="Rectangle 5"/>
          <p:cNvSpPr/>
          <p:nvPr/>
        </p:nvSpPr>
        <p:spPr>
          <a:xfrm>
            <a:off x="3346704" y="1143000"/>
            <a:ext cx="2450592" cy="2103120"/>
          </a:xfrm>
          <a:prstGeom prst="rect">
            <a:avLst/>
          </a:prstGeom>
          <a:solidFill>
            <a:srgbClr val="F6F7FB"/>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483864" y="1234440"/>
            <a:ext cx="2194560" cy="320040"/>
          </a:xfrm>
          <a:prstGeom prst="rect">
            <a:avLst/>
          </a:prstGeom>
          <a:noFill/>
        </p:spPr>
        <p:txBody>
          <a:bodyPr wrap="square" anchor="t" lIns="0" rIns="0" tIns="0" bIns="0">
            <a:spAutoFit/>
          </a:bodyPr>
          <a:lstStyle/>
          <a:p>
            <a:pPr algn="l">
              <a:spcAft>
                <a:spcPts val="400"/>
              </a:spcAft>
            </a:pPr>
            <a:r>
              <a:rPr sz="1400" b="1" i="0">
                <a:solidFill>
                  <a:srgbClr val="3F3533"/>
                </a:solidFill>
                <a:latin typeface="Arial"/>
              </a:rPr>
              <a:t>United Kingdom</a:t>
            </a:r>
          </a:p>
        </p:txBody>
      </p:sp>
      <p:sp>
        <p:nvSpPr>
          <p:cNvPr id="8" name="TextBox 7"/>
          <p:cNvSpPr txBox="1"/>
          <p:nvPr/>
        </p:nvSpPr>
        <p:spPr>
          <a:xfrm>
            <a:off x="3483864" y="1600200"/>
            <a:ext cx="2212848" cy="1600200"/>
          </a:xfrm>
          <a:prstGeom prst="rect">
            <a:avLst/>
          </a:prstGeom>
          <a:noFill/>
        </p:spPr>
        <p:txBody>
          <a:bodyPr wrap="square" anchor="t" lIns="0" rIns="0" tIns="0" bIns="0">
            <a:spAutoFit/>
          </a:bodyPr>
          <a:lstStyle/>
          <a:p>
            <a:pPr algn="l" marL="182880" indent="-182880">
              <a:spcAft>
                <a:spcPts val="400"/>
              </a:spcAft>
              <a:buFont typeface="Arial"/>
              <a:buChar char="•"/>
            </a:pPr>
            <a:r>
              <a:rPr sz="1150" b="0" i="0">
                <a:solidFill>
                  <a:srgbClr val="3F3533"/>
                </a:solidFill>
                <a:latin typeface="Arial"/>
              </a:rPr>
              <a:t>Prest v Petrodel [2013] UKSC 34: only to stop evasion; a last resort</a:t>
            </a:r>
          </a:p>
          <a:p>
            <a:pPr algn="l" marL="182880" indent="-182880">
              <a:spcAft>
                <a:spcPts val="400"/>
              </a:spcAft>
              <a:buFont typeface="Arial"/>
              <a:buChar char="•"/>
            </a:pPr>
            <a:r>
              <a:rPr sz="1150" b="0" i="0">
                <a:solidFill>
                  <a:srgbClr val="3F3533"/>
                </a:solidFill>
                <a:latin typeface="Arial"/>
              </a:rPr>
              <a:t>Adams v Cape [1990]: “single economic unit” is not enough</a:t>
            </a:r>
          </a:p>
        </p:txBody>
      </p:sp>
      <p:sp>
        <p:nvSpPr>
          <p:cNvPr id="9" name="Rectangle 8"/>
          <p:cNvSpPr/>
          <p:nvPr/>
        </p:nvSpPr>
        <p:spPr>
          <a:xfrm>
            <a:off x="5980176" y="1143000"/>
            <a:ext cx="2450592" cy="2103120"/>
          </a:xfrm>
          <a:prstGeom prst="rect">
            <a:avLst/>
          </a:prstGeom>
          <a:solidFill>
            <a:srgbClr val="F6F7FB"/>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117336" y="1234440"/>
            <a:ext cx="2194560" cy="320040"/>
          </a:xfrm>
          <a:prstGeom prst="rect">
            <a:avLst/>
          </a:prstGeom>
          <a:noFill/>
        </p:spPr>
        <p:txBody>
          <a:bodyPr wrap="square" anchor="t" lIns="0" rIns="0" tIns="0" bIns="0">
            <a:spAutoFit/>
          </a:bodyPr>
          <a:lstStyle/>
          <a:p>
            <a:pPr algn="l">
              <a:spcAft>
                <a:spcPts val="400"/>
              </a:spcAft>
            </a:pPr>
            <a:r>
              <a:rPr sz="1400" b="1" i="0">
                <a:solidFill>
                  <a:srgbClr val="3F3533"/>
                </a:solidFill>
                <a:latin typeface="Arial"/>
              </a:rPr>
              <a:t>United States</a:t>
            </a:r>
          </a:p>
        </p:txBody>
      </p:sp>
      <p:sp>
        <p:nvSpPr>
          <p:cNvPr id="11" name="TextBox 10"/>
          <p:cNvSpPr txBox="1"/>
          <p:nvPr/>
        </p:nvSpPr>
        <p:spPr>
          <a:xfrm>
            <a:off x="6117336" y="1600200"/>
            <a:ext cx="2212848" cy="1600200"/>
          </a:xfrm>
          <a:prstGeom prst="rect">
            <a:avLst/>
          </a:prstGeom>
          <a:noFill/>
        </p:spPr>
        <p:txBody>
          <a:bodyPr wrap="square" anchor="t" lIns="0" rIns="0" tIns="0" bIns="0">
            <a:spAutoFit/>
          </a:bodyPr>
          <a:lstStyle/>
          <a:p>
            <a:pPr algn="l" marL="182880" indent="-182880">
              <a:spcAft>
                <a:spcPts val="400"/>
              </a:spcAft>
              <a:buFont typeface="Arial"/>
              <a:buChar char="•"/>
            </a:pPr>
            <a:r>
              <a:rPr sz="1150" b="0" i="0">
                <a:solidFill>
                  <a:srgbClr val="3F3533"/>
                </a:solidFill>
                <a:latin typeface="Arial"/>
              </a:rPr>
              <a:t>More willing to pierce: alter ego, undercapitalisation</a:t>
            </a:r>
          </a:p>
          <a:p>
            <a:pPr algn="l" marL="182880" indent="-182880">
              <a:spcAft>
                <a:spcPts val="400"/>
              </a:spcAft>
              <a:buFont typeface="Arial"/>
              <a:buChar char="•"/>
            </a:pPr>
            <a:r>
              <a:rPr sz="1150" b="0" i="0">
                <a:solidFill>
                  <a:srgbClr val="3F3533"/>
                </a:solidFill>
                <a:latin typeface="Arial"/>
              </a:rPr>
              <a:t>Walkovszky v Carlton (N.Y. 1966)</a:t>
            </a:r>
          </a:p>
        </p:txBody>
      </p:sp>
      <p:sp>
        <p:nvSpPr>
          <p:cNvPr id="12" name="Rectangle 11"/>
          <p:cNvSpPr/>
          <p:nvPr/>
        </p:nvSpPr>
        <p:spPr>
          <a:xfrm>
            <a:off x="713232" y="3429000"/>
            <a:ext cx="7717536" cy="1143000"/>
          </a:xfrm>
          <a:prstGeom prst="rect">
            <a:avLst/>
          </a:prstGeom>
          <a:solidFill>
            <a:srgbClr val="3F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41832" y="3429000"/>
            <a:ext cx="7260336" cy="1143000"/>
          </a:xfrm>
          <a:prstGeom prst="rect">
            <a:avLst/>
          </a:prstGeom>
          <a:noFill/>
        </p:spPr>
        <p:txBody>
          <a:bodyPr wrap="square" anchor="ctr" lIns="0" rIns="0" tIns="0" bIns="0">
            <a:spAutoFit/>
          </a:bodyPr>
          <a:lstStyle/>
          <a:p>
            <a:pPr algn="l">
              <a:spcAft>
                <a:spcPts val="500"/>
              </a:spcAft>
            </a:pPr>
            <a:r>
              <a:rPr sz="1300" b="1" i="0">
                <a:solidFill>
                  <a:srgbClr val="FFFFFF"/>
                </a:solidFill>
                <a:latin typeface="Arial"/>
              </a:rPr>
              <a:t>Applied to Sanyou: </a:t>
            </a:r>
            <a:r>
              <a:rPr sz="1300" b="0" i="0">
                <a:solidFill>
                  <a:srgbClr val="FFFFFF"/>
                </a:solidFill>
                <a:latin typeface="Arial"/>
              </a:rPr>
              <a:t>no facts of abuse → piercing is unlikely. It would change if A paid personal bills from the company account or profits were moved to the shareholders.</a:t>
            </a:r>
          </a:p>
          <a:p>
            <a:pPr algn="l">
              <a:spcAft>
                <a:spcPts val="400"/>
              </a:spcAft>
            </a:pPr>
            <a:r>
              <a:rPr sz="1300" b="1" i="0">
                <a:solidFill>
                  <a:srgbClr val="FFFFFF"/>
                </a:solidFill>
                <a:latin typeface="Arial"/>
              </a:rPr>
              <a:t>Contribution defect = capped liability.  Piercing = uncapped liability.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Liability Map</a:t>
            </a:r>
          </a:p>
        </p:txBody>
      </p:sp>
      <p:sp>
        <p:nvSpPr>
          <p:cNvPr id="3" name="Rectangle 2"/>
          <p:cNvSpPr/>
          <p:nvPr/>
        </p:nvSpPr>
        <p:spPr>
          <a:xfrm>
            <a:off x="713232" y="1143000"/>
            <a:ext cx="4572000" cy="731520"/>
          </a:xfrm>
          <a:prstGeom prst="rect">
            <a:avLst/>
          </a:prstGeom>
          <a:solidFill>
            <a:srgbClr val="F6F7FB"/>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50392" y="1143000"/>
            <a:ext cx="365760" cy="731520"/>
          </a:xfrm>
          <a:prstGeom prst="rect">
            <a:avLst/>
          </a:prstGeom>
          <a:noFill/>
        </p:spPr>
        <p:txBody>
          <a:bodyPr wrap="square" anchor="ctr" lIns="0" rIns="0" tIns="0" bIns="0">
            <a:spAutoFit/>
          </a:bodyPr>
          <a:lstStyle/>
          <a:p>
            <a:pPr algn="l">
              <a:spcAft>
                <a:spcPts val="400"/>
              </a:spcAft>
            </a:pPr>
            <a:r>
              <a:rPr sz="2000" b="1" i="0">
                <a:solidFill>
                  <a:srgbClr val="3F3533"/>
                </a:solidFill>
                <a:latin typeface="Arial"/>
              </a:rPr>
              <a:t>1</a:t>
            </a:r>
          </a:p>
        </p:txBody>
      </p:sp>
      <p:sp>
        <p:nvSpPr>
          <p:cNvPr id="5" name="TextBox 4"/>
          <p:cNvSpPr txBox="1"/>
          <p:nvPr/>
        </p:nvSpPr>
        <p:spPr>
          <a:xfrm>
            <a:off x="1261872" y="1216152"/>
            <a:ext cx="2743200" cy="585216"/>
          </a:xfrm>
          <a:prstGeom prst="rect">
            <a:avLst/>
          </a:prstGeom>
          <a:noFill/>
        </p:spPr>
        <p:txBody>
          <a:bodyPr wrap="square" anchor="ctr" lIns="0" rIns="0" tIns="0" bIns="0">
            <a:spAutoFit/>
          </a:bodyPr>
          <a:lstStyle/>
          <a:p>
            <a:pPr algn="l">
              <a:spcAft>
                <a:spcPts val="100"/>
              </a:spcAft>
            </a:pPr>
            <a:r>
              <a:rPr sz="1300" b="1" i="0">
                <a:solidFill>
                  <a:srgbClr val="3F3533"/>
                </a:solidFill>
                <a:latin typeface="Arial"/>
              </a:rPr>
              <a:t>Company’s entire assets</a:t>
            </a:r>
          </a:p>
          <a:p>
            <a:pPr algn="l">
              <a:spcAft>
                <a:spcPts val="400"/>
              </a:spcAft>
            </a:pPr>
            <a:r>
              <a:rPr sz="1150" b="0" i="0">
                <a:solidFill>
                  <a:srgbClr val="5E5755"/>
                </a:solidFill>
                <a:latin typeface="Arial"/>
              </a:rPr>
              <a:t>Pays first</a:t>
            </a:r>
          </a:p>
        </p:txBody>
      </p:sp>
      <p:sp>
        <p:nvSpPr>
          <p:cNvPr id="6" name="TextBox 5"/>
          <p:cNvSpPr txBox="1"/>
          <p:nvPr/>
        </p:nvSpPr>
        <p:spPr>
          <a:xfrm>
            <a:off x="4325112" y="1143000"/>
            <a:ext cx="868680" cy="731520"/>
          </a:xfrm>
          <a:prstGeom prst="rect">
            <a:avLst/>
          </a:prstGeom>
          <a:noFill/>
        </p:spPr>
        <p:txBody>
          <a:bodyPr wrap="square" anchor="ctr" lIns="0" rIns="0" tIns="0" bIns="0">
            <a:spAutoFit/>
          </a:bodyPr>
          <a:lstStyle/>
          <a:p>
            <a:pPr algn="r">
              <a:spcAft>
                <a:spcPts val="400"/>
              </a:spcAft>
            </a:pPr>
            <a:r>
              <a:rPr sz="1150" b="1" i="1">
                <a:solidFill>
                  <a:srgbClr val="3F3533"/>
                </a:solidFill>
                <a:latin typeface="Arial"/>
              </a:rPr>
              <a:t>all assets</a:t>
            </a:r>
          </a:p>
        </p:txBody>
      </p:sp>
      <p:sp>
        <p:nvSpPr>
          <p:cNvPr id="7" name="Rectangle 6"/>
          <p:cNvSpPr/>
          <p:nvPr/>
        </p:nvSpPr>
        <p:spPr>
          <a:xfrm>
            <a:off x="914400" y="2011680"/>
            <a:ext cx="4370832" cy="731520"/>
          </a:xfrm>
          <a:prstGeom prst="rect">
            <a:avLst/>
          </a:prstGeom>
          <a:solidFill>
            <a:srgbClr val="F6F7FB"/>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2011680"/>
            <a:ext cx="365760" cy="731520"/>
          </a:xfrm>
          <a:prstGeom prst="rect">
            <a:avLst/>
          </a:prstGeom>
          <a:noFill/>
        </p:spPr>
        <p:txBody>
          <a:bodyPr wrap="square" anchor="ctr" lIns="0" rIns="0" tIns="0" bIns="0">
            <a:spAutoFit/>
          </a:bodyPr>
          <a:lstStyle/>
          <a:p>
            <a:pPr algn="l">
              <a:spcAft>
                <a:spcPts val="400"/>
              </a:spcAft>
            </a:pPr>
            <a:r>
              <a:rPr sz="2000" b="1" i="0">
                <a:solidFill>
                  <a:srgbClr val="3F3533"/>
                </a:solidFill>
                <a:latin typeface="Arial"/>
              </a:rPr>
              <a:t>2</a:t>
            </a:r>
          </a:p>
        </p:txBody>
      </p:sp>
      <p:sp>
        <p:nvSpPr>
          <p:cNvPr id="9" name="TextBox 8"/>
          <p:cNvSpPr txBox="1"/>
          <p:nvPr/>
        </p:nvSpPr>
        <p:spPr>
          <a:xfrm>
            <a:off x="1463040" y="2084832"/>
            <a:ext cx="2743200" cy="585216"/>
          </a:xfrm>
          <a:prstGeom prst="rect">
            <a:avLst/>
          </a:prstGeom>
          <a:noFill/>
        </p:spPr>
        <p:txBody>
          <a:bodyPr wrap="square" anchor="ctr" lIns="0" rIns="0" tIns="0" bIns="0">
            <a:spAutoFit/>
          </a:bodyPr>
          <a:lstStyle/>
          <a:p>
            <a:pPr algn="l">
              <a:spcAft>
                <a:spcPts val="100"/>
              </a:spcAft>
            </a:pPr>
            <a:r>
              <a:rPr sz="1300" b="1" i="0">
                <a:solidFill>
                  <a:srgbClr val="3F3533"/>
                </a:solidFill>
                <a:latin typeface="Arial"/>
              </a:rPr>
              <a:t>Shareholder who has not fully paid</a:t>
            </a:r>
          </a:p>
          <a:p>
            <a:pPr algn="l">
              <a:spcAft>
                <a:spcPts val="400"/>
              </a:spcAft>
            </a:pPr>
            <a:r>
              <a:rPr sz="1150" b="0" i="0">
                <a:solidFill>
                  <a:srgbClr val="5E5755"/>
                </a:solidFill>
                <a:latin typeface="Arial"/>
              </a:rPr>
              <a:t>Supplementary</a:t>
            </a:r>
          </a:p>
        </p:txBody>
      </p:sp>
      <p:sp>
        <p:nvSpPr>
          <p:cNvPr id="10" name="TextBox 9"/>
          <p:cNvSpPr txBox="1"/>
          <p:nvPr/>
        </p:nvSpPr>
        <p:spPr>
          <a:xfrm>
            <a:off x="4325112" y="2011680"/>
            <a:ext cx="868680" cy="731520"/>
          </a:xfrm>
          <a:prstGeom prst="rect">
            <a:avLst/>
          </a:prstGeom>
          <a:noFill/>
        </p:spPr>
        <p:txBody>
          <a:bodyPr wrap="square" anchor="ctr" lIns="0" rIns="0" tIns="0" bIns="0">
            <a:spAutoFit/>
          </a:bodyPr>
          <a:lstStyle/>
          <a:p>
            <a:pPr algn="r">
              <a:spcAft>
                <a:spcPts val="400"/>
              </a:spcAft>
            </a:pPr>
            <a:r>
              <a:rPr sz="1150" b="1" i="1">
                <a:solidFill>
                  <a:srgbClr val="3F3533"/>
                </a:solidFill>
                <a:latin typeface="Arial"/>
              </a:rPr>
              <a:t>capped</a:t>
            </a:r>
          </a:p>
        </p:txBody>
      </p:sp>
      <p:sp>
        <p:nvSpPr>
          <p:cNvPr id="11" name="Rectangle 10"/>
          <p:cNvSpPr/>
          <p:nvPr/>
        </p:nvSpPr>
        <p:spPr>
          <a:xfrm>
            <a:off x="1115568" y="2880360"/>
            <a:ext cx="4169663" cy="731520"/>
          </a:xfrm>
          <a:prstGeom prst="rect">
            <a:avLst/>
          </a:prstGeom>
          <a:solidFill>
            <a:srgbClr val="F6F7FB"/>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52728" y="2880360"/>
            <a:ext cx="365760" cy="731520"/>
          </a:xfrm>
          <a:prstGeom prst="rect">
            <a:avLst/>
          </a:prstGeom>
          <a:noFill/>
        </p:spPr>
        <p:txBody>
          <a:bodyPr wrap="square" anchor="ctr" lIns="0" rIns="0" tIns="0" bIns="0">
            <a:spAutoFit/>
          </a:bodyPr>
          <a:lstStyle/>
          <a:p>
            <a:pPr algn="l">
              <a:spcAft>
                <a:spcPts val="400"/>
              </a:spcAft>
            </a:pPr>
            <a:r>
              <a:rPr sz="2000" b="1" i="0">
                <a:solidFill>
                  <a:srgbClr val="3F3533"/>
                </a:solidFill>
                <a:latin typeface="Arial"/>
              </a:rPr>
              <a:t>3</a:t>
            </a:r>
          </a:p>
        </p:txBody>
      </p:sp>
      <p:sp>
        <p:nvSpPr>
          <p:cNvPr id="13" name="TextBox 12"/>
          <p:cNvSpPr txBox="1"/>
          <p:nvPr/>
        </p:nvSpPr>
        <p:spPr>
          <a:xfrm>
            <a:off x="1664207" y="2953512"/>
            <a:ext cx="2743200" cy="585216"/>
          </a:xfrm>
          <a:prstGeom prst="rect">
            <a:avLst/>
          </a:prstGeom>
          <a:noFill/>
        </p:spPr>
        <p:txBody>
          <a:bodyPr wrap="square" anchor="ctr" lIns="0" rIns="0" tIns="0" bIns="0">
            <a:spAutoFit/>
          </a:bodyPr>
          <a:lstStyle/>
          <a:p>
            <a:pPr algn="l">
              <a:spcAft>
                <a:spcPts val="100"/>
              </a:spcAft>
            </a:pPr>
            <a:r>
              <a:rPr sz="1300" b="1" i="0">
                <a:solidFill>
                  <a:srgbClr val="3F3533"/>
                </a:solidFill>
                <a:latin typeface="Arial"/>
              </a:rPr>
              <a:t>Other founders</a:t>
            </a:r>
          </a:p>
          <a:p>
            <a:pPr algn="l">
              <a:spcAft>
                <a:spcPts val="400"/>
              </a:spcAft>
            </a:pPr>
            <a:r>
              <a:rPr sz="1150" b="0" i="0">
                <a:solidFill>
                  <a:srgbClr val="5E5755"/>
                </a:solidFill>
                <a:latin typeface="Arial"/>
              </a:rPr>
              <a:t>Joint, within the shortfall</a:t>
            </a:r>
          </a:p>
        </p:txBody>
      </p:sp>
      <p:sp>
        <p:nvSpPr>
          <p:cNvPr id="14" name="TextBox 13"/>
          <p:cNvSpPr txBox="1"/>
          <p:nvPr/>
        </p:nvSpPr>
        <p:spPr>
          <a:xfrm>
            <a:off x="4325112" y="2880360"/>
            <a:ext cx="868680" cy="731520"/>
          </a:xfrm>
          <a:prstGeom prst="rect">
            <a:avLst/>
          </a:prstGeom>
          <a:noFill/>
        </p:spPr>
        <p:txBody>
          <a:bodyPr wrap="square" anchor="ctr" lIns="0" rIns="0" tIns="0" bIns="0">
            <a:spAutoFit/>
          </a:bodyPr>
          <a:lstStyle/>
          <a:p>
            <a:pPr algn="r">
              <a:spcAft>
                <a:spcPts val="400"/>
              </a:spcAft>
            </a:pPr>
            <a:r>
              <a:rPr sz="1150" b="1" i="1">
                <a:solidFill>
                  <a:srgbClr val="3F3533"/>
                </a:solidFill>
                <a:latin typeface="Arial"/>
              </a:rPr>
              <a:t>capped</a:t>
            </a:r>
          </a:p>
        </p:txBody>
      </p:sp>
      <p:sp>
        <p:nvSpPr>
          <p:cNvPr id="15" name="Rectangle 14"/>
          <p:cNvSpPr/>
          <p:nvPr/>
        </p:nvSpPr>
        <p:spPr>
          <a:xfrm>
            <a:off x="1316736" y="3749039"/>
            <a:ext cx="3968496" cy="731520"/>
          </a:xfrm>
          <a:prstGeom prst="rect">
            <a:avLst/>
          </a:prstGeom>
          <a:solidFill>
            <a:srgbClr val="3F3533"/>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453895" y="3749039"/>
            <a:ext cx="365760" cy="731520"/>
          </a:xfrm>
          <a:prstGeom prst="rect">
            <a:avLst/>
          </a:prstGeom>
          <a:noFill/>
        </p:spPr>
        <p:txBody>
          <a:bodyPr wrap="square" anchor="ctr" lIns="0" rIns="0" tIns="0" bIns="0">
            <a:spAutoFit/>
          </a:bodyPr>
          <a:lstStyle/>
          <a:p>
            <a:pPr algn="l">
              <a:spcAft>
                <a:spcPts val="400"/>
              </a:spcAft>
            </a:pPr>
            <a:r>
              <a:rPr sz="2000" b="1" i="0">
                <a:solidFill>
                  <a:srgbClr val="FFFFFF"/>
                </a:solidFill>
                <a:latin typeface="Arial"/>
              </a:rPr>
              <a:t>4</a:t>
            </a:r>
          </a:p>
        </p:txBody>
      </p:sp>
      <p:sp>
        <p:nvSpPr>
          <p:cNvPr id="17" name="TextBox 16"/>
          <p:cNvSpPr txBox="1"/>
          <p:nvPr/>
        </p:nvSpPr>
        <p:spPr>
          <a:xfrm>
            <a:off x="1865376" y="3822191"/>
            <a:ext cx="2743200" cy="585216"/>
          </a:xfrm>
          <a:prstGeom prst="rect">
            <a:avLst/>
          </a:prstGeom>
          <a:noFill/>
        </p:spPr>
        <p:txBody>
          <a:bodyPr wrap="square" anchor="ctr" lIns="0" rIns="0" tIns="0" bIns="0">
            <a:spAutoFit/>
          </a:bodyPr>
          <a:lstStyle/>
          <a:p>
            <a:pPr algn="l">
              <a:spcAft>
                <a:spcPts val="100"/>
              </a:spcAft>
            </a:pPr>
            <a:r>
              <a:rPr sz="1300" b="1" i="0">
                <a:solidFill>
                  <a:srgbClr val="FFFFFF"/>
                </a:solidFill>
                <a:latin typeface="Arial"/>
              </a:rPr>
              <a:t>Abusive shareholder</a:t>
            </a:r>
          </a:p>
          <a:p>
            <a:pPr algn="l">
              <a:spcAft>
                <a:spcPts val="400"/>
              </a:spcAft>
            </a:pPr>
            <a:r>
              <a:rPr sz="1150" b="0" i="0">
                <a:solidFill>
                  <a:srgbClr val="FFFFFF"/>
                </a:solidFill>
                <a:latin typeface="Arial"/>
              </a:rPr>
              <a:t>Joint, all debts</a:t>
            </a:r>
          </a:p>
        </p:txBody>
      </p:sp>
      <p:sp>
        <p:nvSpPr>
          <p:cNvPr id="18" name="TextBox 17"/>
          <p:cNvSpPr txBox="1"/>
          <p:nvPr/>
        </p:nvSpPr>
        <p:spPr>
          <a:xfrm>
            <a:off x="4325112" y="3749039"/>
            <a:ext cx="868680" cy="731520"/>
          </a:xfrm>
          <a:prstGeom prst="rect">
            <a:avLst/>
          </a:prstGeom>
          <a:noFill/>
        </p:spPr>
        <p:txBody>
          <a:bodyPr wrap="square" anchor="ctr" lIns="0" rIns="0" tIns="0" bIns="0">
            <a:spAutoFit/>
          </a:bodyPr>
          <a:lstStyle/>
          <a:p>
            <a:pPr algn="r">
              <a:spcAft>
                <a:spcPts val="400"/>
              </a:spcAft>
            </a:pPr>
            <a:r>
              <a:rPr sz="1150" b="1" i="1">
                <a:solidFill>
                  <a:srgbClr val="FFFFFF"/>
                </a:solidFill>
                <a:latin typeface="Arial"/>
              </a:rPr>
              <a:t>uncapped</a:t>
            </a:r>
          </a:p>
        </p:txBody>
      </p:sp>
      <p:sp>
        <p:nvSpPr>
          <p:cNvPr id="19" name="Rectangle 18"/>
          <p:cNvSpPr/>
          <p:nvPr/>
        </p:nvSpPr>
        <p:spPr>
          <a:xfrm>
            <a:off x="5623560" y="1143000"/>
            <a:ext cx="2807208" cy="3383280"/>
          </a:xfrm>
          <a:prstGeom prst="rect">
            <a:avLst/>
          </a:prstGeom>
          <a:solidFill>
            <a:srgbClr val="FFFFFF"/>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806440" y="1234440"/>
            <a:ext cx="2468880" cy="365760"/>
          </a:xfrm>
          <a:prstGeom prst="rect">
            <a:avLst/>
          </a:prstGeom>
          <a:noFill/>
        </p:spPr>
        <p:txBody>
          <a:bodyPr wrap="square" anchor="t" lIns="0" rIns="0" tIns="0" bIns="0">
            <a:spAutoFit/>
          </a:bodyPr>
          <a:lstStyle/>
          <a:p>
            <a:pPr algn="l">
              <a:spcAft>
                <a:spcPts val="400"/>
              </a:spcAft>
            </a:pPr>
            <a:r>
              <a:rPr sz="1400" b="1" i="0">
                <a:solidFill>
                  <a:srgbClr val="3F3533"/>
                </a:solidFill>
                <a:latin typeface="Arial"/>
              </a:rPr>
              <a:t>Advice to the supplier</a:t>
            </a:r>
          </a:p>
        </p:txBody>
      </p:sp>
      <p:sp>
        <p:nvSpPr>
          <p:cNvPr id="21" name="TextBox 20"/>
          <p:cNvSpPr txBox="1"/>
          <p:nvPr/>
        </p:nvSpPr>
        <p:spPr>
          <a:xfrm>
            <a:off x="5806440" y="1645920"/>
            <a:ext cx="2514600" cy="2834640"/>
          </a:xfrm>
          <a:prstGeom prst="rect">
            <a:avLst/>
          </a:prstGeom>
          <a:noFill/>
        </p:spPr>
        <p:txBody>
          <a:bodyPr wrap="square" anchor="t" lIns="0" rIns="0" tIns="0" bIns="0">
            <a:spAutoFit/>
          </a:bodyPr>
          <a:lstStyle/>
          <a:p>
            <a:pPr algn="l" marL="182880" indent="-182880">
              <a:spcAft>
                <a:spcPts val="700"/>
              </a:spcAft>
              <a:buFont typeface="Arial"/>
              <a:buChar char="•"/>
            </a:pPr>
            <a:r>
              <a:rPr sz="1300" b="0" i="0">
                <a:solidFill>
                  <a:srgbClr val="3F3533"/>
                </a:solidFill>
                <a:latin typeface="Arial"/>
              </a:rPr>
              <a:t>Sue the company first</a:t>
            </a:r>
          </a:p>
          <a:p>
            <a:pPr algn="l" marL="182880" indent="-182880">
              <a:spcAft>
                <a:spcPts val="700"/>
              </a:spcAft>
              <a:buFont typeface="Arial"/>
              <a:buChar char="•"/>
            </a:pPr>
            <a:r>
              <a:rPr sz="1300" b="0" i="0">
                <a:solidFill>
                  <a:srgbClr val="3F3533"/>
                </a:solidFill>
                <a:latin typeface="Arial"/>
              </a:rPr>
              <a:t>Was the patent registered and the equipment delivered?</a:t>
            </a:r>
          </a:p>
          <a:p>
            <a:pPr algn="l" marL="182880" indent="-182880">
              <a:spcAft>
                <a:spcPts val="700"/>
              </a:spcAft>
              <a:buFont typeface="Arial"/>
              <a:buChar char="•"/>
            </a:pPr>
            <a:r>
              <a:rPr sz="1300" b="0" i="0">
                <a:solidFill>
                  <a:srgbClr val="3F3533"/>
                </a:solidFill>
                <a:latin typeface="Arial"/>
              </a:rPr>
              <a:t>Was the valuation fair?</a:t>
            </a:r>
          </a:p>
          <a:p>
            <a:pPr algn="l" marL="182880" indent="-182880">
              <a:spcAft>
                <a:spcPts val="700"/>
              </a:spcAft>
              <a:buFont typeface="Arial"/>
              <a:buChar char="•"/>
            </a:pPr>
            <a:r>
              <a:rPr sz="1300" b="0" i="0">
                <a:solidFill>
                  <a:srgbClr val="3F3533"/>
                </a:solidFill>
                <a:latin typeface="Arial"/>
              </a:rPr>
              <a:t>Is any contribution unpaid or able to be accelerated?</a:t>
            </a:r>
          </a:p>
          <a:p>
            <a:pPr algn="l" marL="182880" indent="-182880">
              <a:spcAft>
                <a:spcPts val="700"/>
              </a:spcAft>
              <a:buFont typeface="Arial"/>
              <a:buChar char="•"/>
            </a:pPr>
            <a:r>
              <a:rPr sz="1300" b="0" i="1">
                <a:solidFill>
                  <a:srgbClr val="3F3533"/>
                </a:solidFill>
                <a:latin typeface="Arial"/>
              </a:rPr>
              <a:t>Next time: check paid-in capital publicly and ask for a personal guarantee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Limited Liability?</a:t>
            </a:r>
          </a:p>
        </p:txBody>
      </p:sp>
      <p:sp>
        <p:nvSpPr>
          <p:cNvPr id="3" name="Rectangle 2"/>
          <p:cNvSpPr/>
          <p:nvPr/>
        </p:nvSpPr>
        <p:spPr>
          <a:xfrm>
            <a:off x="713232" y="1143000"/>
            <a:ext cx="3767328" cy="2057400"/>
          </a:xfrm>
          <a:prstGeom prst="rect">
            <a:avLst/>
          </a:prstGeom>
          <a:solidFill>
            <a:srgbClr val="F6F7FB"/>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96112" y="1234440"/>
            <a:ext cx="3474720" cy="365760"/>
          </a:xfrm>
          <a:prstGeom prst="rect">
            <a:avLst/>
          </a:prstGeom>
          <a:noFill/>
        </p:spPr>
        <p:txBody>
          <a:bodyPr wrap="square" anchor="t" lIns="0" rIns="0" tIns="0" bIns="0">
            <a:spAutoFit/>
          </a:bodyPr>
          <a:lstStyle/>
          <a:p>
            <a:pPr algn="l">
              <a:spcAft>
                <a:spcPts val="400"/>
              </a:spcAft>
            </a:pPr>
            <a:r>
              <a:rPr sz="1500" b="1" i="0">
                <a:solidFill>
                  <a:srgbClr val="3F3533"/>
                </a:solidFill>
                <a:latin typeface="Arial"/>
              </a:rPr>
              <a:t>The benefits</a:t>
            </a:r>
          </a:p>
        </p:txBody>
      </p:sp>
      <p:sp>
        <p:nvSpPr>
          <p:cNvPr id="5" name="TextBox 4"/>
          <p:cNvSpPr txBox="1"/>
          <p:nvPr/>
        </p:nvSpPr>
        <p:spPr>
          <a:xfrm>
            <a:off x="896112" y="1645920"/>
            <a:ext cx="3474720" cy="1508760"/>
          </a:xfrm>
          <a:prstGeom prst="rect">
            <a:avLst/>
          </a:prstGeom>
          <a:noFill/>
        </p:spPr>
        <p:txBody>
          <a:bodyPr wrap="square" anchor="t" lIns="0" rIns="0" tIns="0" bIns="0">
            <a:spAutoFit/>
          </a:bodyPr>
          <a:lstStyle/>
          <a:p>
            <a:pPr algn="l" marL="182880" indent="-182880">
              <a:spcAft>
                <a:spcPts val="600"/>
              </a:spcAft>
              <a:buFont typeface="Arial"/>
              <a:buChar char="•"/>
            </a:pPr>
            <a:r>
              <a:rPr sz="1400" b="0" i="0">
                <a:solidFill>
                  <a:srgbClr val="3F3533"/>
                </a:solidFill>
                <a:latin typeface="Arial"/>
              </a:rPr>
              <a:t>Encourages investment and entrepreneurship</a:t>
            </a:r>
          </a:p>
          <a:p>
            <a:pPr algn="l" marL="182880" indent="-182880">
              <a:spcAft>
                <a:spcPts val="600"/>
              </a:spcAft>
              <a:buFont typeface="Arial"/>
              <a:buChar char="•"/>
            </a:pPr>
            <a:r>
              <a:rPr sz="1400" b="0" i="0">
                <a:solidFill>
                  <a:srgbClr val="3F3533"/>
                </a:solidFill>
                <a:latin typeface="Arial"/>
              </a:rPr>
              <a:t>Lets investors diversify</a:t>
            </a:r>
          </a:p>
          <a:p>
            <a:pPr algn="l" marL="182880" indent="-182880">
              <a:spcAft>
                <a:spcPts val="600"/>
              </a:spcAft>
              <a:buFont typeface="Arial"/>
              <a:buChar char="•"/>
            </a:pPr>
            <a:r>
              <a:rPr sz="1400" b="0" i="0">
                <a:solidFill>
                  <a:srgbClr val="3F3533"/>
                </a:solidFill>
                <a:latin typeface="Arial"/>
              </a:rPr>
              <a:t>Reduces the cost of monitoring</a:t>
            </a:r>
          </a:p>
          <a:p>
            <a:pPr algn="l" marL="182880" indent="-182880">
              <a:spcAft>
                <a:spcPts val="600"/>
              </a:spcAft>
              <a:buFont typeface="Arial"/>
              <a:buChar char="•"/>
            </a:pPr>
            <a:r>
              <a:rPr sz="1400" b="0" i="0">
                <a:solidFill>
                  <a:srgbClr val="3F3533"/>
                </a:solidFill>
                <a:latin typeface="Arial"/>
              </a:rPr>
              <a:t>Makes shares transferable</a:t>
            </a:r>
          </a:p>
        </p:txBody>
      </p:sp>
      <p:sp>
        <p:nvSpPr>
          <p:cNvPr id="6" name="Rectangle 5"/>
          <p:cNvSpPr/>
          <p:nvPr/>
        </p:nvSpPr>
        <p:spPr>
          <a:xfrm>
            <a:off x="4663440" y="1143000"/>
            <a:ext cx="3767328" cy="2057400"/>
          </a:xfrm>
          <a:prstGeom prst="rect">
            <a:avLst/>
          </a:prstGeom>
          <a:solidFill>
            <a:srgbClr val="F6F7FB"/>
          </a:solidFill>
          <a:ln w="9525">
            <a:solidFill>
              <a:srgbClr val="3F35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846320" y="1234440"/>
            <a:ext cx="3474720" cy="365760"/>
          </a:xfrm>
          <a:prstGeom prst="rect">
            <a:avLst/>
          </a:prstGeom>
          <a:noFill/>
        </p:spPr>
        <p:txBody>
          <a:bodyPr wrap="square" anchor="t" lIns="0" rIns="0" tIns="0" bIns="0">
            <a:spAutoFit/>
          </a:bodyPr>
          <a:lstStyle/>
          <a:p>
            <a:pPr algn="l">
              <a:spcAft>
                <a:spcPts val="400"/>
              </a:spcAft>
            </a:pPr>
            <a:r>
              <a:rPr sz="1500" b="1" i="0">
                <a:solidFill>
                  <a:srgbClr val="3F3533"/>
                </a:solidFill>
                <a:latin typeface="Arial"/>
              </a:rPr>
              <a:t>The cost</a:t>
            </a:r>
          </a:p>
        </p:txBody>
      </p:sp>
      <p:sp>
        <p:nvSpPr>
          <p:cNvPr id="8" name="TextBox 7"/>
          <p:cNvSpPr txBox="1"/>
          <p:nvPr/>
        </p:nvSpPr>
        <p:spPr>
          <a:xfrm>
            <a:off x="4846320" y="1645920"/>
            <a:ext cx="3474720" cy="1508760"/>
          </a:xfrm>
          <a:prstGeom prst="rect">
            <a:avLst/>
          </a:prstGeom>
          <a:noFill/>
        </p:spPr>
        <p:txBody>
          <a:bodyPr wrap="square" anchor="t" lIns="0" rIns="0" tIns="0" bIns="0">
            <a:spAutoFit/>
          </a:bodyPr>
          <a:lstStyle/>
          <a:p>
            <a:pPr algn="l" marL="182880" indent="-182880">
              <a:spcAft>
                <a:spcPts val="600"/>
              </a:spcAft>
              <a:buFont typeface="Arial"/>
              <a:buChar char="•"/>
            </a:pPr>
            <a:r>
              <a:rPr sz="1400" b="0" i="0">
                <a:solidFill>
                  <a:srgbClr val="3F3533"/>
                </a:solidFill>
                <a:latin typeface="Arial"/>
              </a:rPr>
              <a:t>Business risk shifts to creditors</a:t>
            </a:r>
          </a:p>
          <a:p>
            <a:pPr algn="l" marL="182880" indent="-182880">
              <a:spcAft>
                <a:spcPts val="600"/>
              </a:spcAft>
              <a:buFont typeface="Arial"/>
              <a:buChar char="•"/>
            </a:pPr>
            <a:r>
              <a:rPr sz="1400" b="0" i="0">
                <a:solidFill>
                  <a:srgbClr val="3F3533"/>
                </a:solidFill>
                <a:latin typeface="Arial"/>
              </a:rPr>
              <a:t>Hits creditors who cannot negotiate hardest</a:t>
            </a:r>
          </a:p>
          <a:p>
            <a:pPr algn="l" marL="182880" indent="-182880">
              <a:spcAft>
                <a:spcPts val="600"/>
              </a:spcAft>
              <a:buFont typeface="Arial"/>
              <a:buChar char="•"/>
            </a:pPr>
            <a:r>
              <a:rPr sz="1400" b="0" i="0">
                <a:solidFill>
                  <a:srgbClr val="3F3533"/>
                </a:solidFill>
                <a:latin typeface="Arial"/>
              </a:rPr>
              <a:t>Tempts owners to under-capitalise</a:t>
            </a:r>
          </a:p>
        </p:txBody>
      </p:sp>
      <p:sp>
        <p:nvSpPr>
          <p:cNvPr id="9" name="TextBox 8"/>
          <p:cNvSpPr txBox="1"/>
          <p:nvPr/>
        </p:nvSpPr>
        <p:spPr>
          <a:xfrm>
            <a:off x="713232" y="3310128"/>
            <a:ext cx="7717536" cy="320040"/>
          </a:xfrm>
          <a:prstGeom prst="rect">
            <a:avLst/>
          </a:prstGeom>
          <a:noFill/>
        </p:spPr>
        <p:txBody>
          <a:bodyPr wrap="square" anchor="t" lIns="0" rIns="0" tIns="0" bIns="0">
            <a:spAutoFit/>
          </a:bodyPr>
          <a:lstStyle/>
          <a:p>
            <a:pPr algn="l">
              <a:spcAft>
                <a:spcPts val="400"/>
              </a:spcAft>
            </a:pPr>
            <a:r>
              <a:rPr sz="1400" b="1" i="0">
                <a:solidFill>
                  <a:srgbClr val="3F3533"/>
                </a:solidFill>
                <a:latin typeface="Arial"/>
              </a:rPr>
              <a:t>2023 reform: </a:t>
            </a:r>
            <a:r>
              <a:rPr sz="1400" b="0" i="0">
                <a:solidFill>
                  <a:srgbClr val="3F3533"/>
                </a:solidFill>
                <a:latin typeface="Arial"/>
              </a:rPr>
              <a:t>from “subscribe freely” back to “real capital”</a:t>
            </a:r>
          </a:p>
        </p:txBody>
      </p:sp>
      <p:sp>
        <p:nvSpPr>
          <p:cNvPr id="10" name="Rectangle 9"/>
          <p:cNvSpPr/>
          <p:nvPr/>
        </p:nvSpPr>
        <p:spPr>
          <a:xfrm>
            <a:off x="713232" y="3703320"/>
            <a:ext cx="1810512" cy="822960"/>
          </a:xfrm>
          <a:prstGeom prst="rect">
            <a:avLst/>
          </a:prstGeom>
          <a:solidFill>
            <a:srgbClr val="3F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13232" y="3703320"/>
            <a:ext cx="1810512" cy="822960"/>
          </a:xfrm>
          <a:prstGeom prst="rect">
            <a:avLst/>
          </a:prstGeom>
          <a:noFill/>
        </p:spPr>
        <p:txBody>
          <a:bodyPr wrap="square" anchor="ctr" lIns="0" rIns="0" tIns="0" bIns="0">
            <a:spAutoFit/>
          </a:bodyPr>
          <a:lstStyle/>
          <a:p>
            <a:pPr algn="ctr">
              <a:spcAft>
                <a:spcPts val="100"/>
              </a:spcAft>
            </a:pPr>
            <a:r>
              <a:rPr sz="1200" b="1" i="0">
                <a:solidFill>
                  <a:srgbClr val="FFFFFF"/>
                </a:solidFill>
                <a:latin typeface="Arial"/>
              </a:rPr>
              <a:t>Pay within 5 years</a:t>
            </a:r>
          </a:p>
          <a:p>
            <a:pPr algn="ctr">
              <a:spcAft>
                <a:spcPts val="400"/>
              </a:spcAft>
            </a:pPr>
            <a:r>
              <a:rPr sz="1100" b="0" i="0">
                <a:solidFill>
                  <a:srgbClr val="FFFFFF"/>
                </a:solidFill>
                <a:latin typeface="Arial"/>
              </a:rPr>
              <a:t>Art. 47</a:t>
            </a:r>
          </a:p>
        </p:txBody>
      </p:sp>
      <p:sp>
        <p:nvSpPr>
          <p:cNvPr id="12" name="Rectangle 11"/>
          <p:cNvSpPr/>
          <p:nvPr/>
        </p:nvSpPr>
        <p:spPr>
          <a:xfrm>
            <a:off x="2670048" y="3703320"/>
            <a:ext cx="1810512" cy="822960"/>
          </a:xfrm>
          <a:prstGeom prst="rect">
            <a:avLst/>
          </a:prstGeom>
          <a:solidFill>
            <a:srgbClr val="3F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70048" y="3703320"/>
            <a:ext cx="1810512" cy="822960"/>
          </a:xfrm>
          <a:prstGeom prst="rect">
            <a:avLst/>
          </a:prstGeom>
          <a:noFill/>
        </p:spPr>
        <p:txBody>
          <a:bodyPr wrap="square" anchor="ctr" lIns="0" rIns="0" tIns="0" bIns="0">
            <a:spAutoFit/>
          </a:bodyPr>
          <a:lstStyle/>
          <a:p>
            <a:pPr algn="ctr">
              <a:spcAft>
                <a:spcPts val="100"/>
              </a:spcAft>
            </a:pPr>
            <a:r>
              <a:rPr sz="1200" b="1" i="0">
                <a:solidFill>
                  <a:srgbClr val="FFFFFF"/>
                </a:solidFill>
                <a:latin typeface="Arial"/>
              </a:rPr>
              <a:t>Acceleration</a:t>
            </a:r>
          </a:p>
          <a:p>
            <a:pPr algn="ctr">
              <a:spcAft>
                <a:spcPts val="400"/>
              </a:spcAft>
            </a:pPr>
            <a:r>
              <a:rPr sz="1100" b="0" i="0">
                <a:solidFill>
                  <a:srgbClr val="FFFFFF"/>
                </a:solidFill>
                <a:latin typeface="Arial"/>
              </a:rPr>
              <a:t>Art. 54</a:t>
            </a:r>
          </a:p>
        </p:txBody>
      </p:sp>
      <p:sp>
        <p:nvSpPr>
          <p:cNvPr id="14" name="Rectangle 13"/>
          <p:cNvSpPr/>
          <p:nvPr/>
        </p:nvSpPr>
        <p:spPr>
          <a:xfrm>
            <a:off x="4626864" y="3703320"/>
            <a:ext cx="1810512" cy="822960"/>
          </a:xfrm>
          <a:prstGeom prst="rect">
            <a:avLst/>
          </a:prstGeom>
          <a:solidFill>
            <a:srgbClr val="3F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626864" y="3703320"/>
            <a:ext cx="1810512" cy="822960"/>
          </a:xfrm>
          <a:prstGeom prst="rect">
            <a:avLst/>
          </a:prstGeom>
          <a:noFill/>
        </p:spPr>
        <p:txBody>
          <a:bodyPr wrap="square" anchor="ctr" lIns="0" rIns="0" tIns="0" bIns="0">
            <a:spAutoFit/>
          </a:bodyPr>
          <a:lstStyle/>
          <a:p>
            <a:pPr algn="ctr">
              <a:spcAft>
                <a:spcPts val="100"/>
              </a:spcAft>
            </a:pPr>
            <a:r>
              <a:rPr sz="1200" b="1" i="0">
                <a:solidFill>
                  <a:srgbClr val="FFFFFF"/>
                </a:solidFill>
                <a:latin typeface="Arial"/>
              </a:rPr>
              <a:t>Founders’ joint liability</a:t>
            </a:r>
          </a:p>
          <a:p>
            <a:pPr algn="ctr">
              <a:spcAft>
                <a:spcPts val="400"/>
              </a:spcAft>
            </a:pPr>
            <a:r>
              <a:rPr sz="1100" b="0" i="0">
                <a:solidFill>
                  <a:srgbClr val="FFFFFF"/>
                </a:solidFill>
                <a:latin typeface="Arial"/>
              </a:rPr>
              <a:t>Art. 50</a:t>
            </a:r>
          </a:p>
        </p:txBody>
      </p:sp>
      <p:sp>
        <p:nvSpPr>
          <p:cNvPr id="16" name="Rectangle 15"/>
          <p:cNvSpPr/>
          <p:nvPr/>
        </p:nvSpPr>
        <p:spPr>
          <a:xfrm>
            <a:off x="6583680" y="3703320"/>
            <a:ext cx="1810512" cy="822960"/>
          </a:xfrm>
          <a:prstGeom prst="rect">
            <a:avLst/>
          </a:prstGeom>
          <a:solidFill>
            <a:srgbClr val="3F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83680" y="3703320"/>
            <a:ext cx="1810512" cy="822960"/>
          </a:xfrm>
          <a:prstGeom prst="rect">
            <a:avLst/>
          </a:prstGeom>
          <a:noFill/>
        </p:spPr>
        <p:txBody>
          <a:bodyPr wrap="square" anchor="ctr" lIns="0" rIns="0" tIns="0" bIns="0">
            <a:spAutoFit/>
          </a:bodyPr>
          <a:lstStyle/>
          <a:p>
            <a:pPr algn="ctr">
              <a:spcAft>
                <a:spcPts val="100"/>
              </a:spcAft>
            </a:pPr>
            <a:r>
              <a:rPr sz="1200" b="1" i="0">
                <a:solidFill>
                  <a:srgbClr val="FFFFFF"/>
                </a:solidFill>
                <a:latin typeface="Arial"/>
              </a:rPr>
              <a:t>Call &amp; forfeiture</a:t>
            </a:r>
          </a:p>
          <a:p>
            <a:pPr algn="ctr">
              <a:spcAft>
                <a:spcPts val="400"/>
              </a:spcAft>
            </a:pPr>
            <a:r>
              <a:rPr sz="1100" b="0" i="0">
                <a:solidFill>
                  <a:srgbClr val="FFFFFF"/>
                </a:solidFill>
                <a:latin typeface="Arial"/>
              </a:rPr>
              <a:t>Arts 51–52</a:t>
            </a:r>
          </a:p>
        </p:txBody>
      </p:sp>
      <p:sp>
        <p:nvSpPr>
          <p:cNvPr id="18" name="TextBox 17"/>
          <p:cNvSpPr txBox="1"/>
          <p:nvPr/>
        </p:nvSpPr>
        <p:spPr>
          <a:xfrm>
            <a:off x="713232" y="4590288"/>
            <a:ext cx="7717536" cy="228600"/>
          </a:xfrm>
          <a:prstGeom prst="rect">
            <a:avLst/>
          </a:prstGeom>
          <a:noFill/>
        </p:spPr>
        <p:txBody>
          <a:bodyPr wrap="square" anchor="t" lIns="0" rIns="0" tIns="0" bIns="0">
            <a:spAutoFit/>
          </a:bodyPr>
          <a:lstStyle/>
          <a:p>
            <a:pPr algn="l">
              <a:spcAft>
                <a:spcPts val="400"/>
              </a:spcAft>
            </a:pPr>
            <a:r>
              <a:rPr sz="1000" b="0" i="0">
                <a:solidFill>
                  <a:srgbClr val="5E5755"/>
                </a:solidFill>
                <a:latin typeface="Arial"/>
              </a:rPr>
              <a:t>Easterbrook &amp; Fischel, “Limited Liability and the Corporation” (1985)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sz="3600"/>
              <a:t>Limited liability is a privilege, not a shield for abuse.</a:t>
            </a:r>
          </a:p>
        </p:txBody>
      </p:sp>
      <p:sp>
        <p:nvSpPr>
          <p:cNvPr id="3" name="TextBox 2"/>
          <p:cNvSpPr txBox="1"/>
          <p:nvPr/>
        </p:nvSpPr>
        <p:spPr>
          <a:xfrm>
            <a:off x="1124712" y="3977639"/>
            <a:ext cx="6894576" cy="457200"/>
          </a:xfrm>
          <a:prstGeom prst="rect">
            <a:avLst/>
          </a:prstGeom>
          <a:noFill/>
        </p:spPr>
        <p:txBody>
          <a:bodyPr wrap="square" anchor="t" lIns="0" rIns="0" tIns="0" bIns="0">
            <a:spAutoFit/>
          </a:bodyPr>
          <a:lstStyle/>
          <a:p>
            <a:pPr algn="ctr">
              <a:spcAft>
                <a:spcPts val="400"/>
              </a:spcAft>
            </a:pPr>
            <a:r>
              <a:rPr sz="1400" b="0" i="1">
                <a:solidFill>
                  <a:srgbClr val="5E5755"/>
                </a:solidFill>
                <a:latin typeface="Arial"/>
              </a:rPr>
              <a:t>The boundary holds only as long as the capital is real and the company is truly separate.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Team Contributions</a:t>
            </a:r>
          </a:p>
        </p:txBody>
      </p:sp>
      <p:graphicFrame>
        <p:nvGraphicFramePr>
          <p:cNvPr id="3" name="Table 2"/>
          <p:cNvGraphicFramePr>
            <a:graphicFrameLocks noGrp="1"/>
          </p:cNvGraphicFramePr>
          <p:nvPr/>
        </p:nvGraphicFramePr>
        <p:xfrm>
          <a:off x="713232" y="1234440"/>
          <a:ext cx="7717536" cy="2743200"/>
        </p:xfrm>
        <a:graphic>
          <a:graphicData uri="http://schemas.openxmlformats.org/drawingml/2006/table">
            <a:tbl>
              <a:tblPr firstRow="0" bandRow="0">
                <a:tableStyleId>{5C22544A-7EE6-4342-B048-85BDC9FD1C3A}</a:tableStyleId>
              </a:tblPr>
              <a:tblGrid>
                <a:gridCol w="2011680"/>
                <a:gridCol w="5705856"/>
              </a:tblGrid>
              <a:tr h="548640">
                <a:tc>
                  <a:txBody>
                    <a:bodyPr wrap="square"/>
                    <a:lstStyle/>
                    <a:p>
                      <a:r>
                        <a:rPr sz="1300" b="1" i="0">
                          <a:solidFill>
                            <a:srgbClr val="FFFFFF"/>
                          </a:solidFill>
                          <a:latin typeface="Arial"/>
                        </a:rPr>
                        <a:t>Member</a:t>
                      </a:r>
                    </a:p>
                  </a:txBody>
                  <a:tcPr marL="73152" marR="73152" marT="45720" marB="45720" anchor="ctr">
                    <a:solidFill>
                      <a:srgbClr val="3F3533"/>
                    </a:solidFill>
                  </a:tcPr>
                </a:tc>
                <a:tc>
                  <a:txBody>
                    <a:bodyPr wrap="square"/>
                    <a:lstStyle/>
                    <a:p>
                      <a:r>
                        <a:rPr sz="1300" b="1" i="0">
                          <a:solidFill>
                            <a:srgbClr val="FFFFFF"/>
                          </a:solidFill>
                          <a:latin typeface="Arial"/>
                        </a:rPr>
                        <a:t>Contribution</a:t>
                      </a:r>
                    </a:p>
                  </a:txBody>
                  <a:tcPr marL="73152" marR="73152" marT="45720" marB="45720" anchor="ctr">
                    <a:solidFill>
                      <a:srgbClr val="3F3533"/>
                    </a:solidFill>
                  </a:tcPr>
                </a:tc>
              </a:tr>
              <a:tr h="548640">
                <a:tc>
                  <a:txBody>
                    <a:bodyPr wrap="square"/>
                    <a:lstStyle/>
                    <a:p>
                      <a:r>
                        <a:rPr sz="1300" b="1" i="0">
                          <a:solidFill>
                            <a:srgbClr val="3F3533"/>
                          </a:solidFill>
                          <a:latin typeface="Arial"/>
                        </a:rPr>
                        <a:t>[Name]</a:t>
                      </a:r>
                    </a:p>
                  </a:txBody>
                  <a:tcPr marL="73152" marR="73152" marT="45720" marB="45720" anchor="ctr">
                    <a:solidFill>
                      <a:srgbClr val="F6F7FB"/>
                    </a:solidFill>
                  </a:tcPr>
                </a:tc>
                <a:tc>
                  <a:txBody>
                    <a:bodyPr wrap="square"/>
                    <a:lstStyle/>
                    <a:p>
                      <a:r>
                        <a:rPr sz="1300" b="0" i="0">
                          <a:solidFill>
                            <a:srgbClr val="3F3533"/>
                          </a:solidFill>
                          <a:latin typeface="Arial"/>
                        </a:rPr>
                        <a:t>Chinese slides and presentation</a:t>
                      </a:r>
                    </a:p>
                  </a:txBody>
                  <a:tcPr marL="73152" marR="73152" marT="45720" marB="45720" anchor="ctr">
                    <a:solidFill>
                      <a:srgbClr val="F6F7FB"/>
                    </a:solidFill>
                  </a:tcPr>
                </a:tc>
              </a:tr>
              <a:tr h="548640">
                <a:tc>
                  <a:txBody>
                    <a:bodyPr wrap="square"/>
                    <a:lstStyle/>
                    <a:p>
                      <a:r>
                        <a:rPr sz="1300" b="1" i="0">
                          <a:solidFill>
                            <a:srgbClr val="3F3533"/>
                          </a:solidFill>
                          <a:latin typeface="Arial"/>
                        </a:rPr>
                        <a:t>[Name]</a:t>
                      </a:r>
                    </a:p>
                  </a:txBody>
                  <a:tcPr marL="73152" marR="73152" marT="45720" marB="45720" anchor="ctr">
                    <a:solidFill>
                      <a:srgbClr val="FFFFFF"/>
                    </a:solidFill>
                  </a:tcPr>
                </a:tc>
                <a:tc>
                  <a:txBody>
                    <a:bodyPr wrap="square"/>
                    <a:lstStyle/>
                    <a:p>
                      <a:r>
                        <a:rPr sz="1300" b="0" i="0">
                          <a:solidFill>
                            <a:srgbClr val="3F3533"/>
                          </a:solidFill>
                          <a:latin typeface="Arial"/>
                        </a:rPr>
                        <a:t>English slides and presentation</a:t>
                      </a:r>
                    </a:p>
                  </a:txBody>
                  <a:tcPr marL="73152" marR="73152" marT="45720" marB="45720" anchor="ctr">
                    <a:solidFill>
                      <a:srgbClr val="FFFFFF"/>
                    </a:solidFill>
                  </a:tcPr>
                </a:tc>
              </a:tr>
              <a:tr h="548640">
                <a:tc>
                  <a:txBody>
                    <a:bodyPr wrap="square"/>
                    <a:lstStyle/>
                    <a:p>
                      <a:r>
                        <a:rPr sz="1300" b="1" i="0">
                          <a:solidFill>
                            <a:srgbClr val="3F3533"/>
                          </a:solidFill>
                          <a:latin typeface="Arial"/>
                        </a:rPr>
                        <a:t>[Name]</a:t>
                      </a:r>
                    </a:p>
                  </a:txBody>
                  <a:tcPr marL="73152" marR="73152" marT="45720" marB="45720" anchor="ctr">
                    <a:solidFill>
                      <a:srgbClr val="F6F7FB"/>
                    </a:solidFill>
                  </a:tcPr>
                </a:tc>
                <a:tc>
                  <a:txBody>
                    <a:bodyPr wrap="square"/>
                    <a:lstStyle/>
                    <a:p>
                      <a:r>
                        <a:rPr sz="1300" b="0" i="0">
                          <a:solidFill>
                            <a:srgbClr val="3F3533"/>
                          </a:solidFill>
                          <a:latin typeface="Arial"/>
                        </a:rPr>
                        <a:t>Research: statutes, judicial interpretations and cases</a:t>
                      </a:r>
                    </a:p>
                  </a:txBody>
                  <a:tcPr marL="73152" marR="73152" marT="45720" marB="45720" anchor="ctr">
                    <a:solidFill>
                      <a:srgbClr val="F6F7FB"/>
                    </a:solidFill>
                  </a:tcPr>
                </a:tc>
              </a:tr>
              <a:tr h="548640">
                <a:tc>
                  <a:txBody>
                    <a:bodyPr wrap="square"/>
                    <a:lstStyle/>
                    <a:p>
                      <a:r>
                        <a:rPr sz="1300" b="1" i="0">
                          <a:solidFill>
                            <a:srgbClr val="3F3533"/>
                          </a:solidFill>
                          <a:latin typeface="Arial"/>
                        </a:rPr>
                        <a:t>[Name]</a:t>
                      </a:r>
                    </a:p>
                  </a:txBody>
                  <a:tcPr marL="73152" marR="73152" marT="45720" marB="45720" anchor="ctr">
                    <a:solidFill>
                      <a:srgbClr val="FFFFFF"/>
                    </a:solidFill>
                  </a:tcPr>
                </a:tc>
                <a:tc>
                  <a:txBody>
                    <a:bodyPr wrap="square"/>
                    <a:lstStyle/>
                    <a:p>
                      <a:r>
                        <a:rPr sz="1300" b="0" i="0">
                          <a:solidFill>
                            <a:srgbClr val="3F3533"/>
                          </a:solidFill>
                          <a:latin typeface="Arial"/>
                        </a:rPr>
                        <a:t>[Contribution]</a:t>
                      </a:r>
                    </a:p>
                  </a:txBody>
                  <a:tcPr marL="73152" marR="73152" marT="45720" marB="45720"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a:t>
            </a:r>
          </a:p>
        </p:txBody>
      </p:sp>
      <p:sp>
        <p:nvSpPr>
          <p:cNvPr id="3" name="TextBox 2"/>
          <p:cNvSpPr txBox="1"/>
          <p:nvPr/>
        </p:nvSpPr>
        <p:spPr>
          <a:xfrm>
            <a:off x="713232" y="1143000"/>
            <a:ext cx="3749039" cy="320040"/>
          </a:xfrm>
          <a:prstGeom prst="rect">
            <a:avLst/>
          </a:prstGeom>
          <a:noFill/>
        </p:spPr>
        <p:txBody>
          <a:bodyPr wrap="square" anchor="t" lIns="0" rIns="0" tIns="0" bIns="0">
            <a:spAutoFit/>
          </a:bodyPr>
          <a:lstStyle/>
          <a:p>
            <a:pPr algn="l">
              <a:spcAft>
                <a:spcPts val="400"/>
              </a:spcAft>
            </a:pPr>
            <a:r>
              <a:rPr sz="1400" b="1" i="0">
                <a:solidFill>
                  <a:srgbClr val="3F3533"/>
                </a:solidFill>
                <a:latin typeface="Arial"/>
              </a:rPr>
              <a:t>Chinese law</a:t>
            </a:r>
          </a:p>
        </p:txBody>
      </p:sp>
      <p:sp>
        <p:nvSpPr>
          <p:cNvPr id="4" name="TextBox 3"/>
          <p:cNvSpPr txBox="1"/>
          <p:nvPr/>
        </p:nvSpPr>
        <p:spPr>
          <a:xfrm>
            <a:off x="713232" y="1508760"/>
            <a:ext cx="3749039" cy="3017520"/>
          </a:xfrm>
          <a:prstGeom prst="rect">
            <a:avLst/>
          </a:prstGeom>
          <a:noFill/>
        </p:spPr>
        <p:txBody>
          <a:bodyPr wrap="square" anchor="t" lIns="0" rIns="0" tIns="0" bIns="0">
            <a:spAutoFit/>
          </a:bodyPr>
          <a:lstStyle/>
          <a:p>
            <a:pPr algn="l" marL="182880" indent="-182880">
              <a:spcAft>
                <a:spcPts val="500"/>
              </a:spcAft>
              <a:buFont typeface="Arial"/>
              <a:buChar char="•"/>
            </a:pPr>
            <a:r>
              <a:rPr sz="1150" b="0" i="0">
                <a:solidFill>
                  <a:srgbClr val="3F3533"/>
                </a:solidFill>
                <a:latin typeface="Arial"/>
              </a:rPr>
              <a:t>PRC Company Law (2023 revision) Arts 3, 4, 23, 47–54</a:t>
            </a:r>
          </a:p>
          <a:p>
            <a:pPr algn="l" marL="182880" indent="-182880">
              <a:spcAft>
                <a:spcPts val="500"/>
              </a:spcAft>
              <a:buFont typeface="Arial"/>
              <a:buChar char="•"/>
            </a:pPr>
            <a:r>
              <a:rPr sz="1150" b="0" i="0">
                <a:solidFill>
                  <a:srgbClr val="3F3533"/>
                </a:solidFill>
                <a:latin typeface="Arial"/>
              </a:rPr>
              <a:t>PRC Civil Code Arts 60, 224</a:t>
            </a:r>
          </a:p>
          <a:p>
            <a:pPr algn="l" marL="182880" indent="-182880">
              <a:spcAft>
                <a:spcPts val="500"/>
              </a:spcAft>
              <a:buFont typeface="Arial"/>
              <a:buChar char="•"/>
            </a:pPr>
            <a:r>
              <a:rPr sz="1150" b="0" i="0">
                <a:solidFill>
                  <a:srgbClr val="3F3533"/>
                </a:solidFill>
                <a:latin typeface="Arial"/>
              </a:rPr>
              <a:t>PRC Patent Law Art. 10</a:t>
            </a:r>
          </a:p>
          <a:p>
            <a:pPr algn="l" marL="182880" indent="-182880">
              <a:spcAft>
                <a:spcPts val="500"/>
              </a:spcAft>
              <a:buFont typeface="Arial"/>
              <a:buChar char="•"/>
            </a:pPr>
            <a:r>
              <a:rPr sz="1150" b="0" i="0">
                <a:solidFill>
                  <a:srgbClr val="3F3533"/>
                </a:solidFill>
                <a:latin typeface="Arial"/>
              </a:rPr>
              <a:t>SPC Interpretation III on the Company Law Arts 9, 10, 13</a:t>
            </a:r>
          </a:p>
          <a:p>
            <a:pPr algn="l" marL="182880" indent="-182880">
              <a:spcAft>
                <a:spcPts val="500"/>
              </a:spcAft>
              <a:buFont typeface="Arial"/>
              <a:buChar char="•"/>
            </a:pPr>
            <a:r>
              <a:rPr sz="1150" b="0" i="0">
                <a:solidFill>
                  <a:srgbClr val="3F3533"/>
                </a:solidFill>
                <a:latin typeface="Arial"/>
              </a:rPr>
              <a:t>Minutes of the Ninth National Courts Civil and Commercial Trial Work Conference (2019)</a:t>
            </a:r>
          </a:p>
          <a:p>
            <a:pPr algn="l" marL="182880" indent="-182880">
              <a:spcAft>
                <a:spcPts val="500"/>
              </a:spcAft>
              <a:buFont typeface="Arial"/>
              <a:buChar char="•"/>
            </a:pPr>
            <a:r>
              <a:rPr sz="1150" b="0" i="0">
                <a:solidFill>
                  <a:srgbClr val="3F3533"/>
                </a:solidFill>
                <a:latin typeface="Arial"/>
              </a:rPr>
              <a:t>SPC Guiding Case No. 15</a:t>
            </a:r>
          </a:p>
        </p:txBody>
      </p:sp>
      <p:sp>
        <p:nvSpPr>
          <p:cNvPr id="5" name="TextBox 4"/>
          <p:cNvSpPr txBox="1"/>
          <p:nvPr/>
        </p:nvSpPr>
        <p:spPr>
          <a:xfrm>
            <a:off x="4663440" y="1143000"/>
            <a:ext cx="3749039" cy="320040"/>
          </a:xfrm>
          <a:prstGeom prst="rect">
            <a:avLst/>
          </a:prstGeom>
          <a:noFill/>
        </p:spPr>
        <p:txBody>
          <a:bodyPr wrap="square" anchor="t" lIns="0" rIns="0" tIns="0" bIns="0">
            <a:spAutoFit/>
          </a:bodyPr>
          <a:lstStyle/>
          <a:p>
            <a:pPr algn="l">
              <a:spcAft>
                <a:spcPts val="400"/>
              </a:spcAft>
            </a:pPr>
            <a:r>
              <a:rPr sz="1400" b="1" i="0">
                <a:solidFill>
                  <a:srgbClr val="3F3533"/>
                </a:solidFill>
                <a:latin typeface="Arial"/>
              </a:rPr>
              <a:t>Cases &amp; literature</a:t>
            </a:r>
          </a:p>
        </p:txBody>
      </p:sp>
      <p:sp>
        <p:nvSpPr>
          <p:cNvPr id="6" name="TextBox 5"/>
          <p:cNvSpPr txBox="1"/>
          <p:nvPr/>
        </p:nvSpPr>
        <p:spPr>
          <a:xfrm>
            <a:off x="4663440" y="1508760"/>
            <a:ext cx="3749039" cy="3017520"/>
          </a:xfrm>
          <a:prstGeom prst="rect">
            <a:avLst/>
          </a:prstGeom>
          <a:noFill/>
        </p:spPr>
        <p:txBody>
          <a:bodyPr wrap="square" anchor="t" lIns="0" rIns="0" tIns="0" bIns="0">
            <a:spAutoFit/>
          </a:bodyPr>
          <a:lstStyle/>
          <a:p>
            <a:pPr algn="l" marL="182880" indent="-182880">
              <a:spcAft>
                <a:spcPts val="500"/>
              </a:spcAft>
              <a:buFont typeface="Arial"/>
              <a:buChar char="•"/>
            </a:pPr>
            <a:r>
              <a:rPr sz="1150" b="0" i="0">
                <a:solidFill>
                  <a:srgbClr val="3F3533"/>
                </a:solidFill>
                <a:latin typeface="Arial"/>
              </a:rPr>
              <a:t>Salomon v A Salomon &amp; Co Ltd [1897] AC 22</a:t>
            </a:r>
          </a:p>
          <a:p>
            <a:pPr algn="l" marL="182880" indent="-182880">
              <a:spcAft>
                <a:spcPts val="500"/>
              </a:spcAft>
              <a:buFont typeface="Arial"/>
              <a:buChar char="•"/>
            </a:pPr>
            <a:r>
              <a:rPr sz="1150" b="0" i="0">
                <a:solidFill>
                  <a:srgbClr val="3F3533"/>
                </a:solidFill>
                <a:latin typeface="Arial"/>
              </a:rPr>
              <a:t>Prest v Petrodel Resources Ltd [2013] UKSC 34</a:t>
            </a:r>
          </a:p>
          <a:p>
            <a:pPr algn="l" marL="182880" indent="-182880">
              <a:spcAft>
                <a:spcPts val="500"/>
              </a:spcAft>
              <a:buFont typeface="Arial"/>
              <a:buChar char="•"/>
            </a:pPr>
            <a:r>
              <a:rPr sz="1150" b="0" i="0">
                <a:solidFill>
                  <a:srgbClr val="3F3533"/>
                </a:solidFill>
                <a:latin typeface="Arial"/>
              </a:rPr>
              <a:t>Adams v Cape Industries plc [1990] Ch 433</a:t>
            </a:r>
          </a:p>
          <a:p>
            <a:pPr algn="l" marL="182880" indent="-182880">
              <a:spcAft>
                <a:spcPts val="500"/>
              </a:spcAft>
              <a:buFont typeface="Arial"/>
              <a:buChar char="•"/>
            </a:pPr>
            <a:r>
              <a:rPr sz="1150" b="0" i="0">
                <a:solidFill>
                  <a:srgbClr val="3F3533"/>
                </a:solidFill>
                <a:latin typeface="Arial"/>
              </a:rPr>
              <a:t>Walkovszky v Carlton, 18 N.Y.2d 414 (1966)</a:t>
            </a:r>
          </a:p>
          <a:p>
            <a:pPr algn="l" marL="182880" indent="-182880">
              <a:spcAft>
                <a:spcPts val="500"/>
              </a:spcAft>
              <a:buFont typeface="Arial"/>
              <a:buChar char="•"/>
            </a:pPr>
            <a:r>
              <a:rPr sz="1150" b="0" i="0">
                <a:solidFill>
                  <a:srgbClr val="3F3533"/>
                </a:solidFill>
                <a:latin typeface="Arial"/>
              </a:rPr>
              <a:t>UK Companies Act 2006 s.593; Insolvency Act 1986 s.214</a:t>
            </a:r>
          </a:p>
          <a:p>
            <a:pPr algn="l" marL="182880" indent="-182880">
              <a:spcAft>
                <a:spcPts val="500"/>
              </a:spcAft>
              <a:buFont typeface="Arial"/>
              <a:buChar char="•"/>
            </a:pPr>
            <a:r>
              <a:rPr sz="1150" b="0" i="0">
                <a:solidFill>
                  <a:srgbClr val="3F3533"/>
                </a:solidFill>
                <a:latin typeface="Arial"/>
              </a:rPr>
              <a:t>Hansmann &amp; Kraakman, 110 Yale L.J. 387 (2000)</a:t>
            </a:r>
          </a:p>
          <a:p>
            <a:pPr algn="l" marL="182880" indent="-182880">
              <a:spcAft>
                <a:spcPts val="500"/>
              </a:spcAft>
              <a:buFont typeface="Arial"/>
              <a:buChar char="•"/>
            </a:pPr>
            <a:r>
              <a:rPr sz="1150" b="0" i="0">
                <a:solidFill>
                  <a:srgbClr val="3F3533"/>
                </a:solidFill>
                <a:latin typeface="Arial"/>
              </a:rPr>
              <a:t>Easterbrook &amp; Fischel, 52 U. Chi. L. Rev. 89 (1985)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6000"/>
              <a:t>Thank you!</a:t>
            </a:r>
          </a:p>
        </p:txBody>
      </p:sp>
      <p:sp>
        <p:nvSpPr>
          <p:cNvPr id="3" name="Subtitle 2"/>
          <p:cNvSpPr>
            <a:spLocks noGrp="1"/>
          </p:cNvSpPr>
          <p:nvPr>
            <p:ph type="subTitle" idx="1"/>
          </p:nvPr>
        </p:nvSpPr>
        <p:spPr/>
        <p:txBody>
          <a:bodyPr/>
          <a:lstStyle/>
          <a:p>
            <a:r>
              <a:t>Questions are welcome</a:t>
            </a:r>
          </a:p>
        </p:txBody>
      </p:sp>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inimalist Business Slides XL by Slidesgo">
  <a:themeElements>
    <a:clrScheme name="Simple Light">
      <a:dk1>
        <a:srgbClr val="000000"/>
      </a:dk1>
      <a:lt1>
        <a:srgbClr val="E3E7F0"/>
      </a:lt1>
      <a:dk2>
        <a:srgbClr val="000000"/>
      </a:dk2>
      <a:lt2>
        <a:srgbClr val="E3E7F0"/>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