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9" r:id="rId3"/>
    <p:sldId id="306" r:id="rId44"/>
    <p:sldId id="290" r:id="rId4"/>
    <p:sldId id="295" r:id="rId9"/>
    <p:sldId id="305" r:id="rId19"/>
    <p:sldId id="294" r:id="rId8"/>
    <p:sldId id="304"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3.xml"/><Relationship Id="rId8" Type="http://schemas.openxmlformats.org/officeDocument/2006/relationships/slide" Target="slides/slide6.xml"/><Relationship Id="rId9" Type="http://schemas.openxmlformats.org/officeDocument/2006/relationships/slide" Target="slides/slide4.xml"/><Relationship Id="rId18" Type="http://schemas.openxmlformats.org/officeDocument/2006/relationships/slide" Target="slides/slide7.xml"/><Relationship Id="rId19" Type="http://schemas.openxmlformats.org/officeDocument/2006/relationships/slide" Target="slides/slide5.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ableStyles" Target="tableStyles.xml"/><Relationship Id="rId44"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35963" y="707437"/>
            <a:ext cx="1170940" cy="277705"/>
          </a:xfrm>
        </p:spPr>
        <p:txBody>
          <a:bodyPr lIns="0" tIns="0" rIns="0" bIns="0"/>
          <a:lstStyle>
            <a:lvl1pPr>
              <a:defRPr sz="1600" b="1" i="0">
                <a:solidFill>
                  <a:schemeClr val="bg1"/>
                </a:solidFill>
                <a:latin typeface="Tahoma" panose="020B0804030504040204"/>
                <a:cs typeface="Tahoma" panose="020B0804030504040204"/>
              </a:defRPr>
            </a:lvl1pPr>
          </a:lstStyle>
          <a:p/>
        </p:txBody>
      </p:sp>
      <p:sp>
        <p:nvSpPr>
          <p:cNvPr id="3" name="Holder 3"/>
          <p:cNvSpPr>
            <a:spLocks noGrp="1"/>
          </p:cNvSpPr>
          <p:nvPr>
            <p:ph type="body" idx="1"/>
          </p:nvPr>
        </p:nvSpPr>
        <p:spPr>
          <a:xfrm>
            <a:off x="520583" y="1593835"/>
            <a:ext cx="11151445" cy="4552527"/>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296567" y="6399519"/>
            <a:ext cx="1946485" cy="224432"/>
          </a:xfrm>
        </p:spPr>
        <p:txBody>
          <a:bodyPr lIns="0" tIns="0" rIns="0" bIns="0"/>
          <a:lstStyle>
            <a:lvl1pPr>
              <a:defRPr sz="935" b="0" i="0">
                <a:solidFill>
                  <a:schemeClr val="tx1"/>
                </a:solidFill>
                <a:latin typeface="Tahoma" panose="020B0804030504040204"/>
                <a:cs typeface="Tahoma" panose="020B0804030504040204"/>
              </a:defRPr>
            </a:lvl1pPr>
          </a:lstStyle>
          <a:p>
            <a:pPr marL="12700">
              <a:lnSpc>
                <a:spcPct val="100000"/>
              </a:lnSpc>
              <a:spcBef>
                <a:spcPts val="75"/>
              </a:spcBef>
            </a:pPr>
            <a:r>
              <a:rPr dirty="0">
                <a:solidFill>
                  <a:srgbClr val="FFFFFF"/>
                </a:solidFill>
              </a:rPr>
              <a:t>Whatʼs</a:t>
            </a:r>
            <a:r>
              <a:rPr spc="50" dirty="0">
                <a:solidFill>
                  <a:srgbClr val="FFFFFF"/>
                </a:solidFill>
              </a:rPr>
              <a:t> </a:t>
            </a:r>
            <a:r>
              <a:rPr dirty="0">
                <a:solidFill>
                  <a:srgbClr val="FFFFFF"/>
                </a:solidFill>
              </a:rPr>
              <a:t>Next</a:t>
            </a:r>
            <a:r>
              <a:rPr spc="50" dirty="0">
                <a:solidFill>
                  <a:srgbClr val="FFFFFF"/>
                </a:solidFill>
              </a:rPr>
              <a:t> </a:t>
            </a:r>
            <a:r>
              <a:rPr dirty="0">
                <a:solidFill>
                  <a:srgbClr val="FFFFFF"/>
                </a:solidFill>
              </a:rPr>
              <a:t>2025</a:t>
            </a:r>
            <a:r>
              <a:rPr spc="325" dirty="0">
                <a:solidFill>
                  <a:srgbClr val="FFFFFF"/>
                </a:solidFill>
              </a:rPr>
              <a:t> </a:t>
            </a:r>
            <a:r>
              <a:rPr dirty="0">
                <a:solidFill>
                  <a:srgbClr val="FFFFFF"/>
                </a:solidFill>
              </a:rPr>
              <a:t>|</a:t>
            </a:r>
            <a:r>
              <a:rPr spc="325" dirty="0">
                <a:solidFill>
                  <a:srgbClr val="FFFFFF"/>
                </a:solidFill>
              </a:rPr>
              <a:t> </a:t>
            </a:r>
            <a:r>
              <a:rPr dirty="0">
                <a:solidFill>
                  <a:srgbClr val="FFFFFF"/>
                </a:solidFill>
              </a:rPr>
              <a:t>Trend</a:t>
            </a:r>
            <a:r>
              <a:rPr spc="50" dirty="0">
                <a:solidFill>
                  <a:srgbClr val="FFFFFF"/>
                </a:solidFill>
              </a:rPr>
              <a:t> </a:t>
            </a:r>
            <a:r>
              <a:rPr spc="-10" dirty="0">
                <a:solidFill>
                  <a:srgbClr val="FFFFFF"/>
                </a:solidFill>
              </a:rPr>
              <a:t>Report</a:t>
            </a:r>
            <a:endParaRPr spc="-10" dirty="0">
              <a:solidFill>
                <a:srgbClr val="FFFFFF"/>
              </a:solidFill>
            </a:endParaRPr>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731863" y="6443884"/>
            <a:ext cx="241300" cy="157480"/>
          </a:xfrm>
        </p:spPr>
        <p:txBody>
          <a:bodyPr lIns="0" tIns="0" rIns="0" bIns="0"/>
          <a:lstStyle>
            <a:lvl1pPr>
              <a:defRPr sz="800" b="0" i="0">
                <a:solidFill>
                  <a:schemeClr val="bg1"/>
                </a:solidFill>
                <a:latin typeface="Tahoma" panose="020B0804030504040204"/>
                <a:cs typeface="Tahoma" panose="020B0804030504040204"/>
              </a:defRPr>
            </a:lvl1pPr>
          </a:lstStyle>
          <a:p>
            <a:pPr marL="40005">
              <a:lnSpc>
                <a:spcPct val="100000"/>
              </a:lnSpc>
              <a:spcBef>
                <a:spcPts val="80"/>
              </a:spcBef>
            </a:pPr>
            <a:fld id="{81D60167-4931-47E6-BA6A-407CBD079E47}" type="slidenum">
              <a:rPr spc="-50" dirty="0"/>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35963" y="707437"/>
            <a:ext cx="1170940" cy="277705"/>
          </a:xfrm>
        </p:spPr>
        <p:txBody>
          <a:bodyPr lIns="0" tIns="0" rIns="0" bIns="0"/>
          <a:lstStyle>
            <a:lvl1pPr>
              <a:defRPr sz="1600" b="1" i="0">
                <a:solidFill>
                  <a:schemeClr val="bg1"/>
                </a:solidFill>
                <a:latin typeface="Tahoma" panose="020B0804030504040204"/>
                <a:cs typeface="Tahoma" panose="020B080403050404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a:xfrm>
            <a:off x="296567" y="6399519"/>
            <a:ext cx="1946485" cy="224432"/>
          </a:xfrm>
        </p:spPr>
        <p:txBody>
          <a:bodyPr lIns="0" tIns="0" rIns="0" bIns="0"/>
          <a:lstStyle>
            <a:lvl1pPr>
              <a:defRPr sz="935" b="0" i="0">
                <a:solidFill>
                  <a:schemeClr val="tx1"/>
                </a:solidFill>
                <a:latin typeface="Tahoma" panose="020B0804030504040204"/>
                <a:cs typeface="Tahoma" panose="020B0804030504040204"/>
              </a:defRPr>
            </a:lvl1pPr>
          </a:lstStyle>
          <a:p>
            <a:pPr marL="12700">
              <a:lnSpc>
                <a:spcPct val="100000"/>
              </a:lnSpc>
              <a:spcBef>
                <a:spcPts val="75"/>
              </a:spcBef>
            </a:pPr>
            <a:r>
              <a:rPr dirty="0">
                <a:solidFill>
                  <a:srgbClr val="FFFFFF"/>
                </a:solidFill>
              </a:rPr>
              <a:t>Whatʼs</a:t>
            </a:r>
            <a:r>
              <a:rPr spc="50" dirty="0">
                <a:solidFill>
                  <a:srgbClr val="FFFFFF"/>
                </a:solidFill>
              </a:rPr>
              <a:t> </a:t>
            </a:r>
            <a:r>
              <a:rPr dirty="0">
                <a:solidFill>
                  <a:srgbClr val="FFFFFF"/>
                </a:solidFill>
              </a:rPr>
              <a:t>Next</a:t>
            </a:r>
            <a:r>
              <a:rPr spc="50" dirty="0">
                <a:solidFill>
                  <a:srgbClr val="FFFFFF"/>
                </a:solidFill>
              </a:rPr>
              <a:t> </a:t>
            </a:r>
            <a:r>
              <a:rPr dirty="0">
                <a:solidFill>
                  <a:srgbClr val="FFFFFF"/>
                </a:solidFill>
              </a:rPr>
              <a:t>2025</a:t>
            </a:r>
            <a:r>
              <a:rPr spc="325" dirty="0">
                <a:solidFill>
                  <a:srgbClr val="FFFFFF"/>
                </a:solidFill>
              </a:rPr>
              <a:t> </a:t>
            </a:r>
            <a:r>
              <a:rPr dirty="0">
                <a:solidFill>
                  <a:srgbClr val="FFFFFF"/>
                </a:solidFill>
              </a:rPr>
              <a:t>|</a:t>
            </a:r>
            <a:r>
              <a:rPr spc="325" dirty="0">
                <a:solidFill>
                  <a:srgbClr val="FFFFFF"/>
                </a:solidFill>
              </a:rPr>
              <a:t> </a:t>
            </a:r>
            <a:r>
              <a:rPr dirty="0">
                <a:solidFill>
                  <a:srgbClr val="FFFFFF"/>
                </a:solidFill>
              </a:rPr>
              <a:t>Trend</a:t>
            </a:r>
            <a:r>
              <a:rPr spc="50" dirty="0">
                <a:solidFill>
                  <a:srgbClr val="FFFFFF"/>
                </a:solidFill>
              </a:rPr>
              <a:t> </a:t>
            </a:r>
            <a:r>
              <a:rPr spc="-10" dirty="0">
                <a:solidFill>
                  <a:srgbClr val="FFFFFF"/>
                </a:solidFill>
              </a:rPr>
              <a:t>Report</a:t>
            </a:r>
            <a:endParaRPr spc="-10" dirty="0">
              <a:solidFill>
                <a:srgbClr val="FFFFFF"/>
              </a:solidFill>
            </a:endParaRPr>
          </a:p>
        </p:txBody>
      </p:sp>
      <p:sp>
        <p:nvSpPr>
          <p:cNvPr id="6" name="Holder 6"/>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a:xfrm>
            <a:off x="11731863" y="6443884"/>
            <a:ext cx="241300" cy="157480"/>
          </a:xfrm>
        </p:spPr>
        <p:txBody>
          <a:bodyPr lIns="0" tIns="0" rIns="0" bIns="0"/>
          <a:lstStyle>
            <a:lvl1pPr>
              <a:defRPr sz="800" b="0" i="0">
                <a:solidFill>
                  <a:schemeClr val="bg1"/>
                </a:solidFill>
                <a:latin typeface="Tahoma" panose="020B0804030504040204"/>
                <a:cs typeface="Tahoma" panose="020B0804030504040204"/>
              </a:defRPr>
            </a:lvl1pPr>
          </a:lstStyle>
          <a:p>
            <a:pPr marL="40005">
              <a:lnSpc>
                <a:spcPct val="100000"/>
              </a:lnSpc>
              <a:spcBef>
                <a:spcPts val="80"/>
              </a:spcBef>
            </a:pPr>
            <a:fld id="{81D60167-4931-47E6-BA6A-407CBD079E47}" type="slidenum">
              <a:rPr spc="-50" dirty="0"/>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96567" y="6399519"/>
            <a:ext cx="1946485" cy="224432"/>
          </a:xfrm>
        </p:spPr>
        <p:txBody>
          <a:bodyPr lIns="0" tIns="0" rIns="0" bIns="0"/>
          <a:lstStyle>
            <a:lvl1pPr>
              <a:defRPr sz="935" b="0" i="0">
                <a:solidFill>
                  <a:schemeClr val="tx1"/>
                </a:solidFill>
                <a:latin typeface="Tahoma" panose="020B0804030504040204"/>
                <a:cs typeface="Tahoma" panose="020B0804030504040204"/>
              </a:defRPr>
            </a:lvl1pPr>
          </a:lstStyle>
          <a:p>
            <a:pPr marL="12700">
              <a:lnSpc>
                <a:spcPct val="100000"/>
              </a:lnSpc>
              <a:spcBef>
                <a:spcPts val="75"/>
              </a:spcBef>
            </a:pPr>
            <a:r>
              <a:rPr dirty="0">
                <a:solidFill>
                  <a:srgbClr val="FFFFFF"/>
                </a:solidFill>
              </a:rPr>
              <a:t>Whatʼs</a:t>
            </a:r>
            <a:r>
              <a:rPr spc="50" dirty="0">
                <a:solidFill>
                  <a:srgbClr val="FFFFFF"/>
                </a:solidFill>
              </a:rPr>
              <a:t> </a:t>
            </a:r>
            <a:r>
              <a:rPr dirty="0">
                <a:solidFill>
                  <a:srgbClr val="FFFFFF"/>
                </a:solidFill>
              </a:rPr>
              <a:t>Next</a:t>
            </a:r>
            <a:r>
              <a:rPr spc="50" dirty="0">
                <a:solidFill>
                  <a:srgbClr val="FFFFFF"/>
                </a:solidFill>
              </a:rPr>
              <a:t> </a:t>
            </a:r>
            <a:r>
              <a:rPr dirty="0">
                <a:solidFill>
                  <a:srgbClr val="FFFFFF"/>
                </a:solidFill>
              </a:rPr>
              <a:t>2025</a:t>
            </a:r>
            <a:r>
              <a:rPr spc="325" dirty="0">
                <a:solidFill>
                  <a:srgbClr val="FFFFFF"/>
                </a:solidFill>
              </a:rPr>
              <a:t> </a:t>
            </a:r>
            <a:r>
              <a:rPr dirty="0">
                <a:solidFill>
                  <a:srgbClr val="FFFFFF"/>
                </a:solidFill>
              </a:rPr>
              <a:t>|</a:t>
            </a:r>
            <a:r>
              <a:rPr spc="325" dirty="0">
                <a:solidFill>
                  <a:srgbClr val="FFFFFF"/>
                </a:solidFill>
              </a:rPr>
              <a:t> </a:t>
            </a:r>
            <a:r>
              <a:rPr dirty="0">
                <a:solidFill>
                  <a:srgbClr val="FFFFFF"/>
                </a:solidFill>
              </a:rPr>
              <a:t>Trend</a:t>
            </a:r>
            <a:r>
              <a:rPr spc="50" dirty="0">
                <a:solidFill>
                  <a:srgbClr val="FFFFFF"/>
                </a:solidFill>
              </a:rPr>
              <a:t> </a:t>
            </a:r>
            <a:r>
              <a:rPr spc="-10" dirty="0">
                <a:solidFill>
                  <a:srgbClr val="FFFFFF"/>
                </a:solidFill>
              </a:rPr>
              <a:t>Report</a:t>
            </a:r>
            <a:endParaRPr spc="-10" dirty="0">
              <a:solidFill>
                <a:srgbClr val="FFFFFF"/>
              </a:solidFill>
            </a:endParaRPr>
          </a:p>
        </p:txBody>
      </p:sp>
      <p:sp>
        <p:nvSpPr>
          <p:cNvPr id="3" name="Holder 3"/>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a:xfrm>
            <a:off x="11731863" y="6443884"/>
            <a:ext cx="241300" cy="157480"/>
          </a:xfrm>
        </p:spPr>
        <p:txBody>
          <a:bodyPr lIns="0" tIns="0" rIns="0" bIns="0"/>
          <a:lstStyle>
            <a:lvl1pPr>
              <a:defRPr sz="800" b="0" i="0">
                <a:solidFill>
                  <a:schemeClr val="bg1"/>
                </a:solidFill>
                <a:latin typeface="Tahoma" panose="020B0804030504040204"/>
                <a:cs typeface="Tahoma" panose="020B0804030504040204"/>
              </a:defRPr>
            </a:lvl1pPr>
          </a:lstStyle>
          <a:p>
            <a:pPr marL="40005">
              <a:lnSpc>
                <a:spcPct val="100000"/>
              </a:lnSpc>
              <a:spcBef>
                <a:spcPts val="80"/>
              </a:spcBef>
            </a:pPr>
            <a:fld id="{81D60167-4931-47E6-BA6A-407CBD079E47}" type="slidenum">
              <a:rPr spc="-50" dirty="0"/>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image" Target="../media/image1.jpeg"/><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 Id="rId7" Type="http://schemas.openxmlformats.org/officeDocument/2006/relationships/tags" Target="../tags/tag6.xml"/><Relationship Id="rId8" Type="http://schemas.openxmlformats.org/officeDocument/2006/relationships/tags" Target="../tags/tag7.xml"/><Relationship Id="rId9" Type="http://schemas.openxmlformats.org/officeDocument/2006/relationships/image" Target="../media/image2.png"/><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slideLayout" Target="../slideLayouts/slideLayout4.xml"/><Relationship Id="rId13" Type="http://schemas.openxmlformats.org/officeDocument/2006/relationships/image" Target="../media/image49.png"/><Relationship Id="rId14" Type="http://schemas.openxmlformats.org/officeDocument/2006/relationships/hyperlink" Target="https://ads.tiktok.com/business/library/TikTok_Whats_Next_2025_Trend_Report_en_AUNZ.pdf" TargetMode="External"/></Relationships>
</file>

<file path=ppt/slides/_rels/slide2.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hyperlink" Target="https://ads.tiktok.com/business/library/TikTok_Whats_Next_2025_Trend_Report_en_AUNZ.pdf" TargetMode="External"/></Relationships>
</file>

<file path=ppt/slides/_rels/slide4.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slideLayout" Target="../slideLayouts/slideLayout2.xml"/><Relationship Id="rId15" Type="http://schemas.openxmlformats.org/officeDocument/2006/relationships/hyperlink" Target="https://doi.org/10.2753/JEC1086-4415160201" TargetMode="External"/><Relationship Id="rId16" Type="http://schemas.openxmlformats.org/officeDocument/2006/relationships/hyperlink" Target="https://doi.org/10.1016/j.elerap.2012.12.003" TargetMode="External"/><Relationship Id="rId17" Type="http://schemas.openxmlformats.org/officeDocument/2006/relationships/hyperlink" Target="https://m.leiphone.com/category/industrynews/ftEL80g3iMhJRGh9.html"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hyperlink" Target="https://www.cbndata.com/information/68175" TargetMode="External"/><Relationship Id="rId10" Type="http://schemas.openxmlformats.org/officeDocument/2006/relationships/hyperlink" Target="https://finance.sina.cn/chanjing/gsxw/2020-06-18/detail-iircuyvi9161778.d.html" TargetMode="External"/><Relationship Id="rId11" Type="http://schemas.openxmlformats.org/officeDocument/2006/relationships/hyperlink" Target="https://technode.com/2020/09/17/bytedance-builds-walls-for-its-budding-e-commerce-ecosystem/" TargetMode="External"/><Relationship Id="rId12" Type="http://schemas.openxmlformats.org/officeDocument/2006/relationships/hyperlink" Target="https://m.leiphone.com/category/industrynews/ftEL80g3iMhJRGh9.html" TargetMode="External"/><Relationship Id="rId13" Type="http://schemas.openxmlformats.org/officeDocument/2006/relationships/hyperlink" Target="http://www.jjckb.cn/2022-05/31/c_1310609911.htm" TargetMode="External"/><Relationship Id="rId14" Type="http://schemas.openxmlformats.org/officeDocument/2006/relationships/hyperlink" Target="https://eu.36kr.com/en/p/3166066575158018" TargetMode="External"/><Relationship Id="rId15" Type="http://schemas.openxmlformats.org/officeDocument/2006/relationships/hyperlink" Target="https://finance.sina.com.cn/roll/2025-12-09/doc-inhahnvi2176549.shtml" TargetMode="External"/></Relationships>
</file>

<file path=ppt/slides/_rels/slide6.xml.rels><?xml version='1.0' encoding='UTF-8' standalone='yes'?>
<Relationships xmlns="http://schemas.openxmlformats.org/package/2006/relationships"><Relationship Id="rId1" Type="http://schemas.openxmlformats.org/officeDocument/2006/relationships/image" Target="../media/image53.jpeg"/><Relationship Id="rId2" Type="http://schemas.openxmlformats.org/officeDocument/2006/relationships/image" Target="../media/image54.png"/><Relationship Id="rId3" Type="http://schemas.openxmlformats.org/officeDocument/2006/relationships/hyperlink" Target="https://www.tiktok.com/business/library/TikTok_WhatsNext_2024TrendReport.pdf" TargetMode="External"/><Relationship Id="rId4" Type="http://schemas.openxmlformats.org/officeDocument/2006/relationships/slideLayout" Target="../slideLayouts/slideLayout3.xml"/><Relationship Id="rId5" Type="http://schemas.openxmlformats.org/officeDocument/2006/relationships/hyperlink" Target="https://ads.tiktok.com/business/library/TikTok_Whats_Next_2025_Trend_Report_en_AUNZ.pdf" TargetMode="External"/><Relationship Id="rId6" Type="http://schemas.openxmlformats.org/officeDocument/2006/relationships/hyperlink" Target="https://finance.sina.com.cn/tech/roll/2026-03-17/doc-inhrfshc8397107.shtml" TargetMode="External"/><Relationship Id="rId7" Type="http://schemas.openxmlformats.org/officeDocument/2006/relationships/hyperlink" Target="https://eu.36kr.com/en/p/3166066575158018" TargetMode="External"/><Relationship Id="rId8" Type="http://schemas.openxmlformats.org/officeDocument/2006/relationships/hyperlink" Target="https://finance.sina.com.cn/roll/2025-12-09/doc-inhahnvi2176549.shtml" TargetMode="External"/></Relationships>
</file>

<file path=ppt/slides/_rels/slide7.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90.jpeg"/><Relationship Id="rId3"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hyperlink" Target="https://ads.tiktok.com/business/library/TikTok_Whats_Next_2025_Trend_Report_en_AUNZ.pdf" TargetMode="External"/><Relationship Id="rId6" Type="http://schemas.openxmlformats.org/officeDocument/2006/relationships/hyperlink" Target="http://www.jjckb.cn/2022-05/31/c_1310609911.htm" TargetMode="External"/><Relationship Id="rId7" Type="http://schemas.openxmlformats.org/officeDocument/2006/relationships/hyperlink" Target="https://doi.org/10.1016/j.elerap.2019.100886" TargetMode="External"/><Relationship Id="rId8" Type="http://schemas.openxmlformats.org/officeDocument/2006/relationships/hyperlink" Target="https://doi.org/10.1016/j.jbusres.2018.08.0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0" name="组合 29"/>
          <p:cNvGrpSpPr/>
          <p:nvPr/>
        </p:nvGrpSpPr>
        <p:grpSpPr>
          <a:xfrm>
            <a:off x="2141500" y="2569"/>
            <a:ext cx="10054233" cy="6919919"/>
            <a:chOff x="12728829" y="514350"/>
            <a:chExt cx="5646420" cy="3886200"/>
          </a:xfrm>
        </p:grpSpPr>
        <p:sp>
          <p:nvSpPr>
            <p:cNvPr id="14" name="PA-任意多边形 13"/>
            <p:cNvSpPr/>
            <p:nvPr>
              <p:custDataLst>
                <p:tags r:id="rId7"/>
              </p:custDataLst>
            </p:nvPr>
          </p:nvSpPr>
          <p:spPr>
            <a:xfrm>
              <a:off x="12728829" y="514350"/>
              <a:ext cx="5604891" cy="3874674"/>
            </a:xfrm>
            <a:custGeom>
              <a:avLst/>
              <a:gdLst>
                <a:gd name="connsiteX0" fmla="*/ 0 w 5604891"/>
                <a:gd name="connsiteY0" fmla="*/ 0 h 3874674"/>
                <a:gd name="connsiteX1" fmla="*/ 5604891 w 5604891"/>
                <a:gd name="connsiteY1" fmla="*/ 0 h 3874674"/>
                <a:gd name="connsiteX2" fmla="*/ 5604891 w 5604891"/>
                <a:gd name="connsiteY2" fmla="*/ 3874675 h 3874674"/>
                <a:gd name="connsiteX3" fmla="*/ 0 w 5604891"/>
                <a:gd name="connsiteY3" fmla="*/ 3874675 h 3874674"/>
              </a:gdLst>
              <a:ahLst/>
              <a:cxnLst>
                <a:cxn ang="0">
                  <a:pos x="connsiteX0" y="connsiteY0"/>
                </a:cxn>
                <a:cxn ang="0">
                  <a:pos x="connsiteX1" y="connsiteY1"/>
                </a:cxn>
                <a:cxn ang="0">
                  <a:pos x="connsiteX2" y="connsiteY2"/>
                </a:cxn>
                <a:cxn ang="0">
                  <a:pos x="connsiteX3" y="connsiteY3"/>
                </a:cxn>
              </a:cxnLst>
              <a:rect l="l" t="t" r="r" b="b"/>
              <a:pathLst>
                <a:path w="5604891" h="3874674">
                  <a:moveTo>
                    <a:pt x="0" y="0"/>
                  </a:moveTo>
                  <a:lnTo>
                    <a:pt x="5604891" y="0"/>
                  </a:lnTo>
                  <a:lnTo>
                    <a:pt x="5604891" y="3874675"/>
                  </a:lnTo>
                  <a:lnTo>
                    <a:pt x="0" y="3874675"/>
                  </a:lnTo>
                  <a:close/>
                </a:path>
              </a:pathLst>
            </a:custGeom>
            <a:solidFill>
              <a:srgbClr val="000000">
                <a:alpha val="0"/>
              </a:srgbClr>
            </a:solidFill>
            <a:ln w="0" cap="flat">
              <a:noFill/>
              <a:prstDash val="solid"/>
              <a:miter/>
            </a:ln>
          </p:spPr>
          <p:txBody>
            <a:bodyPr rtlCol="0" anchor="ctr"/>
            <a:lstStyle/>
            <a:p>
              <a:endParaRPr lang="zh-CN" altLang="en-US" sz="2400"/>
            </a:p>
          </p:txBody>
        </p:sp>
        <p:pic>
          <p:nvPicPr>
            <p:cNvPr id="15" name="PA-图片 14"/>
            <p:cNvPicPr>
              <a:picLocks noChangeAspect="1"/>
            </p:cNvPicPr>
            <p:nvPr>
              <p:custDataLst>
                <p:tags r:id="rId8"/>
              </p:custDataLst>
            </p:nvPr>
          </p:nvPicPr>
          <p:blipFill>
            <a:blip r:embed="rId9"/>
            <a:stretch>
              <a:fillRect/>
            </a:stretch>
          </p:blipFill>
          <p:spPr>
            <a:xfrm>
              <a:off x="12728829" y="514350"/>
              <a:ext cx="5646420" cy="3886200"/>
            </a:xfrm>
            <a:custGeom>
              <a:avLst/>
              <a:gdLst>
                <a:gd name="connsiteX0" fmla="*/ -169 w 5646420"/>
                <a:gd name="connsiteY0" fmla="*/ -221 h 3886200"/>
                <a:gd name="connsiteX1" fmla="*/ 5646252 w 5646420"/>
                <a:gd name="connsiteY1" fmla="*/ -221 h 3886200"/>
                <a:gd name="connsiteX2" fmla="*/ 5646252 w 5646420"/>
                <a:gd name="connsiteY2" fmla="*/ 3885979 h 3886200"/>
                <a:gd name="connsiteX3" fmla="*/ -169 w 5646420"/>
                <a:gd name="connsiteY3" fmla="*/ 3885979 h 3886200"/>
              </a:gdLst>
              <a:ahLst/>
              <a:cxnLst>
                <a:cxn ang="0">
                  <a:pos x="connsiteX0" y="connsiteY0"/>
                </a:cxn>
                <a:cxn ang="0">
                  <a:pos x="connsiteX1" y="connsiteY1"/>
                </a:cxn>
                <a:cxn ang="0">
                  <a:pos x="connsiteX2" y="connsiteY2"/>
                </a:cxn>
                <a:cxn ang="0">
                  <a:pos x="connsiteX3" y="connsiteY3"/>
                </a:cxn>
              </a:cxnLst>
              <a:rect l="l" t="t" r="r" b="b"/>
              <a:pathLst>
                <a:path w="5646420" h="3886200">
                  <a:moveTo>
                    <a:pt x="-169" y="-221"/>
                  </a:moveTo>
                  <a:lnTo>
                    <a:pt x="5646252" y="-221"/>
                  </a:lnTo>
                  <a:lnTo>
                    <a:pt x="5646252" y="3885979"/>
                  </a:lnTo>
                  <a:lnTo>
                    <a:pt x="-169" y="3885979"/>
                  </a:lnTo>
                  <a:close/>
                </a:path>
              </a:pathLst>
            </a:custGeom>
          </p:spPr>
        </p:pic>
        <p:sp>
          <p:nvSpPr>
            <p:cNvPr id="16" name="PA-任意多边形 15"/>
            <p:cNvSpPr/>
            <p:nvPr>
              <p:custDataLst>
                <p:tags r:id="rId10"/>
              </p:custDataLst>
            </p:nvPr>
          </p:nvSpPr>
          <p:spPr>
            <a:xfrm>
              <a:off x="16692276" y="4046505"/>
              <a:ext cx="1467421" cy="159543"/>
            </a:xfrm>
            <a:custGeom>
              <a:avLst/>
              <a:gdLst>
                <a:gd name="connsiteX0" fmla="*/ 0 w 1467421"/>
                <a:gd name="connsiteY0" fmla="*/ 0 h 159543"/>
                <a:gd name="connsiteX1" fmla="*/ 1467421 w 1467421"/>
                <a:gd name="connsiteY1" fmla="*/ 0 h 159543"/>
                <a:gd name="connsiteX2" fmla="*/ 1467421 w 1467421"/>
                <a:gd name="connsiteY2" fmla="*/ 159544 h 159543"/>
                <a:gd name="connsiteX3" fmla="*/ 0 w 1467421"/>
                <a:gd name="connsiteY3" fmla="*/ 159544 h 159543"/>
              </a:gdLst>
              <a:ahLst/>
              <a:cxnLst>
                <a:cxn ang="0">
                  <a:pos x="connsiteX0" y="connsiteY0"/>
                </a:cxn>
                <a:cxn ang="0">
                  <a:pos x="connsiteX1" y="connsiteY1"/>
                </a:cxn>
                <a:cxn ang="0">
                  <a:pos x="connsiteX2" y="connsiteY2"/>
                </a:cxn>
                <a:cxn ang="0">
                  <a:pos x="connsiteX3" y="connsiteY3"/>
                </a:cxn>
              </a:cxnLst>
              <a:rect l="l" t="t" r="r" b="b"/>
              <a:pathLst>
                <a:path w="1467421" h="159543">
                  <a:moveTo>
                    <a:pt x="0" y="0"/>
                  </a:moveTo>
                  <a:lnTo>
                    <a:pt x="1467421" y="0"/>
                  </a:lnTo>
                  <a:lnTo>
                    <a:pt x="1467421" y="159544"/>
                  </a:lnTo>
                  <a:lnTo>
                    <a:pt x="0" y="159544"/>
                  </a:lnTo>
                  <a:close/>
                </a:path>
              </a:pathLst>
            </a:custGeom>
            <a:solidFill>
              <a:srgbClr val="000000">
                <a:alpha val="0"/>
              </a:srgbClr>
            </a:solidFill>
            <a:ln w="0" cap="flat">
              <a:noFill/>
              <a:prstDash val="solid"/>
              <a:miter/>
            </a:ln>
          </p:spPr>
          <p:txBody>
            <a:bodyPr rtlCol="0" anchor="ctr"/>
            <a:lstStyle/>
            <a:p>
              <a:endParaRPr lang="zh-CN" altLang="en-US" sz="2400"/>
            </a:p>
          </p:txBody>
        </p:sp>
      </p:grpSp>
      <p:pic>
        <p:nvPicPr>
          <p:cNvPr id="31" name="Picture 30" descr="image.png"/>
          <p:cNvPicPr>
            <a:picLocks noChangeAspect="1"/>
          </p:cNvPicPr>
          <p:nvPr/>
        </p:nvPicPr>
        <p:blipFill>
          <a:blip r:embed="rId13"/>
          <a:stretch>
            <a:fillRect/>
          </a:stretch>
        </p:blipFill>
        <p:spPr>
          <a:xfrm>
            <a:off x="530352" y="1207008"/>
            <a:ext cx="287717" cy="329184"/>
          </a:xfrm>
          <a:prstGeom prst="rect">
            <a:avLst/>
          </a:prstGeom>
        </p:spPr>
      </p:pic>
      <p:sp>
        <p:nvSpPr>
          <p:cNvPr id="32" name="TextBox 31"/>
          <p:cNvSpPr txBox="1"/>
          <p:nvPr/>
        </p:nvSpPr>
        <p:spPr>
          <a:xfrm>
            <a:off x="896112" y="1216152"/>
            <a:ext cx="2926080" cy="329184"/>
          </a:xfrm>
          <a:prstGeom prst="rect">
            <a:avLst/>
          </a:prstGeom>
          <a:noFill/>
        </p:spPr>
        <p:txBody>
          <a:bodyPr wrap="none" lIns="0" rIns="0" tIns="0" bIns="0" anchor="ctr">
            <a:spAutoFit/>
          </a:bodyPr>
          <a:lstStyle/>
          <a:p>
            <a:pPr algn="l"/>
            <a:r>
              <a:rPr sz="1600" b="1" i="0">
                <a:solidFill>
                  <a:srgbClr val="FFFFFF"/>
                </a:solidFill>
                <a:latin typeface="Arial"/>
                <a:ea typeface="Microsoft YaHei"/>
                <a:cs typeface="Arial"/>
              </a:rPr>
              <a:t>抖音</a:t>
            </a:r>
            <a:r>
              <a:rPr sz="1300" b="0" i="0">
                <a:solidFill>
                  <a:srgbClr val="C9C9C9"/>
                </a:solidFill>
                <a:latin typeface="Arial"/>
                <a:ea typeface="Microsoft YaHei"/>
                <a:cs typeface="Arial"/>
              </a:rPr>
              <a:t>  ×  社交电商</a:t>
            </a:r>
          </a:p>
        </p:txBody>
      </p:sp>
      <p:sp>
        <p:nvSpPr>
          <p:cNvPr id="33" name="TextBox 32"/>
          <p:cNvSpPr txBox="1"/>
          <p:nvPr/>
        </p:nvSpPr>
        <p:spPr>
          <a:xfrm>
            <a:off x="502920" y="1828800"/>
            <a:ext cx="4572000" cy="1737360"/>
          </a:xfrm>
          <a:prstGeom prst="rect">
            <a:avLst/>
          </a:prstGeom>
          <a:noFill/>
        </p:spPr>
        <p:txBody>
          <a:bodyPr wrap="square" lIns="0" rIns="0" tIns="0" bIns="0" anchor="t">
            <a:spAutoFit/>
          </a:bodyPr>
          <a:lstStyle/>
          <a:p>
            <a:pPr algn="l">
              <a:spcAft>
                <a:spcPts val="400"/>
              </a:spcAft>
            </a:pPr>
            <a:r>
              <a:rPr sz="4000" b="1" i="0">
                <a:solidFill>
                  <a:srgbClr val="FFFFFF"/>
                </a:solidFill>
                <a:latin typeface="Arial"/>
                <a:ea typeface="Microsoft YaHei"/>
                <a:cs typeface="Arial"/>
              </a:rPr>
              <a:t>从内容平台</a:t>
            </a:r>
          </a:p>
          <a:p>
            <a:pPr algn="l">
              <a:spcAft>
                <a:spcPts val="400"/>
              </a:spcAft>
            </a:pPr>
            <a:r>
              <a:rPr sz="4000" b="1" i="0">
                <a:solidFill>
                  <a:srgbClr val="25F4EE"/>
                </a:solidFill>
                <a:latin typeface="Arial"/>
                <a:ea typeface="Microsoft YaHei"/>
                <a:cs typeface="Arial"/>
              </a:rPr>
              <a:t>到商业基础设施</a:t>
            </a:r>
          </a:p>
        </p:txBody>
      </p:sp>
      <p:sp>
        <p:nvSpPr>
          <p:cNvPr id="34" name="TextBox 33"/>
          <p:cNvSpPr txBox="1"/>
          <p:nvPr/>
        </p:nvSpPr>
        <p:spPr>
          <a:xfrm>
            <a:off x="502920" y="3611880"/>
            <a:ext cx="4754880" cy="822960"/>
          </a:xfrm>
          <a:prstGeom prst="rect">
            <a:avLst/>
          </a:prstGeom>
          <a:noFill/>
        </p:spPr>
        <p:txBody>
          <a:bodyPr wrap="square" lIns="0" rIns="0" tIns="0" bIns="0" anchor="t">
            <a:spAutoFit/>
          </a:bodyPr>
          <a:lstStyle/>
          <a:p>
            <a:pPr algn="l"/>
            <a:r>
              <a:rPr sz="1600" b="0" i="0">
                <a:solidFill>
                  <a:srgbClr val="FFFFFF"/>
                </a:solidFill>
                <a:latin typeface="Arial"/>
                <a:ea typeface="Microsoft YaHei"/>
                <a:cs typeface="Arial"/>
              </a:rPr>
              <a:t>抖音布局社交电商的动因、商业模式与发展前景</a:t>
            </a:r>
          </a:p>
        </p:txBody>
      </p:sp>
      <p:sp>
        <p:nvSpPr>
          <p:cNvPr id="35" name="Rounded Rectangle 34"/>
          <p:cNvSpPr/>
          <p:nvPr/>
        </p:nvSpPr>
        <p:spPr>
          <a:xfrm>
            <a:off x="502920" y="4572000"/>
            <a:ext cx="2573019" cy="347472"/>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00" b="1" i="0">
                <a:solidFill>
                  <a:srgbClr val="FFFFFF"/>
                </a:solidFill>
                <a:latin typeface="Arial"/>
                <a:ea typeface="Microsoft YaHei"/>
                <a:cs typeface="Arial"/>
              </a:rPr>
              <a:t>第一部分 · 背景、概念与布局现状</a:t>
            </a:r>
          </a:p>
        </p:txBody>
      </p:sp>
      <p:sp>
        <p:nvSpPr>
          <p:cNvPr id="36" name="TextBox 35"/>
          <p:cNvSpPr txBox="1"/>
          <p:nvPr/>
        </p:nvSpPr>
        <p:spPr>
          <a:xfrm>
            <a:off x="502920" y="5120640"/>
            <a:ext cx="4206240" cy="1097280"/>
          </a:xfrm>
          <a:prstGeom prst="rect">
            <a:avLst/>
          </a:prstGeom>
          <a:noFill/>
        </p:spPr>
        <p:txBody>
          <a:bodyPr wrap="square" lIns="0" rIns="0" tIns="0" bIns="0" anchor="t">
            <a:spAutoFit/>
          </a:bodyPr>
          <a:lstStyle/>
          <a:p>
            <a:pPr algn="l">
              <a:spcAft>
                <a:spcPts val="300"/>
              </a:spcAft>
            </a:pPr>
            <a:r>
              <a:rPr sz="1150" b="0" i="0">
                <a:solidFill>
                  <a:srgbClr val="C9C9C9"/>
                </a:solidFill>
                <a:latin typeface="Arial"/>
                <a:ea typeface="Microsoft YaHei"/>
                <a:cs typeface="Arial"/>
              </a:rPr>
              <a:t>网络与新媒体营销 · 小组汇报</a:t>
            </a:r>
          </a:p>
          <a:p>
            <a:pPr algn="l">
              <a:spcAft>
                <a:spcPts val="300"/>
              </a:spcAft>
            </a:pPr>
            <a:r>
              <a:rPr sz="1150" b="0" i="0">
                <a:solidFill>
                  <a:srgbClr val="C9C9C9"/>
                </a:solidFill>
                <a:latin typeface="Arial"/>
                <a:ea typeface="Microsoft YaHei"/>
                <a:cs typeface="Arial"/>
              </a:rPr>
              <a:t>[第X组] · 汇报人：[你的姓名]</a:t>
            </a:r>
          </a:p>
          <a:p>
            <a:pPr algn="l">
              <a:spcAft>
                <a:spcPts val="300"/>
              </a:spcAft>
            </a:pPr>
            <a:r>
              <a:rPr sz="1150" b="0" i="0">
                <a:solidFill>
                  <a:srgbClr val="C9C9C9"/>
                </a:solidFill>
                <a:latin typeface="Arial"/>
                <a:ea typeface="Microsoft YaHei"/>
                <a:cs typeface="Arial"/>
              </a:rPr>
              <a:t>[组员B] · [组员C] · [组员D]  |  2026年10月20日</a:t>
            </a:r>
          </a:p>
        </p:txBody>
      </p:sp>
      <p:sp>
        <p:nvSpPr>
          <p:cNvPr id="37" name="TextBox 36"/>
          <p:cNvSpPr txBox="1"/>
          <p:nvPr/>
        </p:nvSpPr>
        <p:spPr>
          <a:xfrm>
            <a:off x="8229600" y="6601968"/>
            <a:ext cx="3840480" cy="182880"/>
          </a:xfrm>
          <a:prstGeom prst="rect">
            <a:avLst/>
          </a:prstGeom>
          <a:noFill/>
        </p:spPr>
        <p:txBody>
          <a:bodyPr wrap="square" lIns="0" rIns="0" tIns="0" bIns="0" anchor="t">
            <a:spAutoFit/>
          </a:bodyPr>
          <a:lstStyle/>
          <a:p>
            <a:pPr algn="r"/>
            <a:r>
              <a:rPr sz="650" b="0" i="0">
                <a:solidFill>
                  <a:srgbClr val="FFD3DB"/>
                </a:solidFill>
                <a:latin typeface="Arial"/>
                <a:ea typeface="Microsoft YaHei"/>
                <a:cs typeface="Arial"/>
              </a:rPr>
              <a:t>图片来源：</a:t>
            </a:r>
            <a:r>
              <a:rPr sz="650" b="0" i="0">
                <a:solidFill>
                  <a:srgbClr val="FFD3DB"/>
                </a:solidFill>
                <a:latin typeface="Arial"/>
                <a:ea typeface="Microsoft YaHei"/>
                <a:cs typeface="Arial"/>
                <a:hlinkClick r:id="rId14">
                  <a:extLst>
                    <a:ext uri="{A12FA001-AC4F-418D-AE19-62706E023703}">
                      <ahyp:hlinkClr xmlns:ahyp="http://schemas.microsoft.com/office/drawing/2018/hyperlinkcolor" val="tx"/>
                    </a:ext>
                  </a:extLst>
                </a:hlinkClick>
              </a:rPr>
              <a:t>TikTok What's Next 2025 趋势报告</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9" name="object 69"/>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网络与新媒体营销 | 小组汇报</a:t>
            </a:r>
            <a:endParaRPr sz="1245" spc="-10" dirty="0">
              <a:solidFill>
                <a:srgbClr val="FFFFFF"/>
              </a:solidFill>
            </a:endParaRPr>
          </a:p>
        </p:txBody>
      </p:sp>
      <p:sp>
        <p:nvSpPr>
          <p:cNvPr id="70" name="object 70"/>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71" name="TextBox 70"/>
          <p:cNvSpPr txBox="1"/>
          <p:nvPr/>
        </p:nvSpPr>
        <p:spPr>
          <a:xfrm>
            <a:off x="502920" y="347472"/>
            <a:ext cx="1115568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小组分工：谁讲什么</a:t>
            </a:r>
          </a:p>
        </p:txBody>
      </p:sp>
      <p:sp>
        <p:nvSpPr>
          <p:cNvPr id="72" name="TextBox 71"/>
          <p:cNvSpPr txBox="1"/>
          <p:nvPr/>
        </p:nvSpPr>
        <p:spPr>
          <a:xfrm>
            <a:off x="502920" y="987552"/>
            <a:ext cx="11155680" cy="365760"/>
          </a:xfrm>
          <a:prstGeom prst="rect">
            <a:avLst/>
          </a:prstGeom>
          <a:noFill/>
        </p:spPr>
        <p:txBody>
          <a:bodyPr wrap="square" lIns="0" rIns="0" tIns="0" bIns="0" anchor="t">
            <a:spAutoFit/>
          </a:bodyPr>
          <a:lstStyle/>
          <a:p>
            <a:pPr algn="l"/>
            <a:r>
              <a:rPr sz="1300" b="0" i="0">
                <a:solidFill>
                  <a:srgbClr val="C9C9C9"/>
                </a:solidFill>
                <a:latin typeface="Arial"/>
                <a:ea typeface="Microsoft YaHei"/>
                <a:cs typeface="Arial"/>
              </a:rPr>
              <a:t>四位汇报人，回答四个问题：是什么、为什么、怎么做、往哪去</a:t>
            </a:r>
          </a:p>
        </p:txBody>
      </p:sp>
      <p:sp>
        <p:nvSpPr>
          <p:cNvPr id="73" name="Rounded Rectangle 72"/>
          <p:cNvSpPr/>
          <p:nvPr/>
        </p:nvSpPr>
        <p:spPr>
          <a:xfrm>
            <a:off x="502920" y="1691640"/>
            <a:ext cx="2651760" cy="4343400"/>
          </a:xfrm>
          <a:prstGeom prst="roundRect">
            <a:avLst>
              <a:gd name="adj" fmla="val 8000"/>
            </a:avLst>
          </a:prstGeom>
          <a:solidFill>
            <a:srgbClr val="0B1F1F"/>
          </a:solidFill>
          <a:ln w="285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758952" y="1965960"/>
            <a:ext cx="685800" cy="685800"/>
          </a:xfrm>
          <a:prstGeom prst="ellipse">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000000"/>
                </a:solidFill>
                <a:latin typeface="Arial"/>
                <a:ea typeface="Microsoft YaHei"/>
                <a:cs typeface="Arial"/>
              </a:rPr>
              <a:t>A</a:t>
            </a:r>
          </a:p>
        </p:txBody>
      </p:sp>
      <p:sp>
        <p:nvSpPr>
          <p:cNvPr id="75" name="Rounded Rectangle 74"/>
          <p:cNvSpPr/>
          <p:nvPr/>
        </p:nvSpPr>
        <p:spPr>
          <a:xfrm>
            <a:off x="1691640" y="2157984"/>
            <a:ext cx="1097280" cy="292608"/>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00" b="1" i="0">
                <a:solidFill>
                  <a:srgbClr val="000000"/>
                </a:solidFill>
                <a:latin typeface="Arial"/>
                <a:ea typeface="Microsoft YaHei"/>
                <a:cs typeface="Arial"/>
              </a:rPr>
              <a:t>正在汇报</a:t>
            </a:r>
          </a:p>
        </p:txBody>
      </p:sp>
      <p:sp>
        <p:nvSpPr>
          <p:cNvPr id="76" name="TextBox 75"/>
          <p:cNvSpPr txBox="1"/>
          <p:nvPr/>
        </p:nvSpPr>
        <p:spPr>
          <a:xfrm>
            <a:off x="758952" y="2834640"/>
            <a:ext cx="219456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[你的姓名]</a:t>
            </a:r>
          </a:p>
        </p:txBody>
      </p:sp>
      <p:sp>
        <p:nvSpPr>
          <p:cNvPr id="77" name="TextBox 76"/>
          <p:cNvSpPr txBox="1"/>
          <p:nvPr/>
        </p:nvSpPr>
        <p:spPr>
          <a:xfrm>
            <a:off x="758952" y="3200400"/>
            <a:ext cx="2194560" cy="274320"/>
          </a:xfrm>
          <a:prstGeom prst="rect">
            <a:avLst/>
          </a:prstGeom>
          <a:noFill/>
        </p:spPr>
        <p:txBody>
          <a:bodyPr wrap="square" lIns="0" rIns="0" tIns="0" bIns="0" anchor="t">
            <a:spAutoFit/>
          </a:bodyPr>
          <a:lstStyle/>
          <a:p>
            <a:pPr algn="l"/>
            <a:r>
              <a:rPr sz="1100" b="1" i="0">
                <a:solidFill>
                  <a:srgbClr val="25F4EE"/>
                </a:solidFill>
                <a:latin typeface="Arial"/>
                <a:ea typeface="Microsoft YaHei"/>
                <a:cs typeface="Arial"/>
              </a:rPr>
              <a:t>第一部分 · 是什么</a:t>
            </a:r>
          </a:p>
        </p:txBody>
      </p:sp>
      <p:sp>
        <p:nvSpPr>
          <p:cNvPr id="78" name="TextBox 77"/>
          <p:cNvSpPr txBox="1"/>
          <p:nvPr/>
        </p:nvSpPr>
        <p:spPr>
          <a:xfrm>
            <a:off x="758952" y="3520440"/>
            <a:ext cx="2240280" cy="5486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背景、概念与布局现状</a:t>
            </a:r>
          </a:p>
        </p:txBody>
      </p:sp>
      <p:sp>
        <p:nvSpPr>
          <p:cNvPr id="79" name="TextBox 78"/>
          <p:cNvSpPr txBox="1"/>
          <p:nvPr/>
        </p:nvSpPr>
        <p:spPr>
          <a:xfrm>
            <a:off x="758952" y="4114800"/>
            <a:ext cx="2240280" cy="1325880"/>
          </a:xfrm>
          <a:prstGeom prst="rect">
            <a:avLst/>
          </a:prstGeom>
          <a:noFill/>
        </p:spPr>
        <p:txBody>
          <a:bodyPr wrap="square" lIns="0" rIns="0" tIns="0" bIns="0" anchor="t">
            <a:spAutoFit/>
          </a:bodyPr>
          <a:lstStyle/>
          <a:p>
            <a:pPr algn="l" marL="155448" indent="-155448">
              <a:spcAft>
                <a:spcPts val="400"/>
              </a:spcAft>
              <a:buClr>
                <a:srgbClr val="25F4EE"/>
              </a:buClr>
              <a:buFont typeface="Arial"/>
              <a:buChar char="•"/>
            </a:pPr>
            <a:r>
              <a:rPr sz="1150" b="0" i="0">
                <a:solidFill>
                  <a:srgbClr val="C9C9C9"/>
                </a:solidFill>
                <a:latin typeface="Arial"/>
                <a:ea typeface="Microsoft YaHei"/>
                <a:cs typeface="Arial"/>
              </a:rPr>
              <a:t>社交电商与兴趣电商的区别</a:t>
            </a:r>
          </a:p>
          <a:p>
            <a:pPr algn="l" marL="155448" indent="-155448">
              <a:spcAft>
                <a:spcPts val="400"/>
              </a:spcAft>
              <a:buClr>
                <a:srgbClr val="25F4EE"/>
              </a:buClr>
              <a:buFont typeface="Arial"/>
              <a:buChar char="•"/>
            </a:pPr>
            <a:r>
              <a:rPr sz="1150" b="0" i="0">
                <a:solidFill>
                  <a:srgbClr val="C9C9C9"/>
                </a:solidFill>
                <a:latin typeface="Arial"/>
                <a:ea typeface="Microsoft YaHei"/>
                <a:cs typeface="Arial"/>
              </a:rPr>
              <a:t>抖音电商的发展历程</a:t>
            </a:r>
          </a:p>
          <a:p>
            <a:pPr algn="l" marL="155448" indent="-155448">
              <a:spcAft>
                <a:spcPts val="400"/>
              </a:spcAft>
              <a:buClr>
                <a:srgbClr val="25F4EE"/>
              </a:buClr>
              <a:buFont typeface="Arial"/>
              <a:buChar char="•"/>
            </a:pPr>
            <a:r>
              <a:rPr sz="1150" b="0" i="0">
                <a:solidFill>
                  <a:srgbClr val="C9C9C9"/>
                </a:solidFill>
                <a:latin typeface="Arial"/>
                <a:ea typeface="Microsoft YaHei"/>
                <a:cs typeface="Arial"/>
              </a:rPr>
              <a:t>当前布局：内容场、货架场、服务体系</a:t>
            </a:r>
          </a:p>
        </p:txBody>
      </p:sp>
      <p:sp>
        <p:nvSpPr>
          <p:cNvPr id="80" name="TextBox 79"/>
          <p:cNvSpPr txBox="1"/>
          <p:nvPr/>
        </p:nvSpPr>
        <p:spPr>
          <a:xfrm>
            <a:off x="758952" y="5559552"/>
            <a:ext cx="2194560" cy="274320"/>
          </a:xfrm>
          <a:prstGeom prst="rect">
            <a:avLst/>
          </a:prstGeom>
          <a:noFill/>
        </p:spPr>
        <p:txBody>
          <a:bodyPr wrap="square" lIns="0" rIns="0" tIns="0" bIns="0" anchor="t">
            <a:spAutoFit/>
          </a:bodyPr>
          <a:lstStyle/>
          <a:p>
            <a:pPr algn="l"/>
            <a:r>
              <a:rPr sz="1000" b="1" i="0">
                <a:solidFill>
                  <a:srgbClr val="8C8C8C"/>
                </a:solidFill>
                <a:latin typeface="Arial"/>
                <a:ea typeface="Microsoft YaHei"/>
                <a:cs typeface="Arial"/>
              </a:rPr>
              <a:t>时长  </a:t>
            </a:r>
            <a:r>
              <a:rPr sz="1200" b="1" i="0">
                <a:solidFill>
                  <a:srgbClr val="FFFFFF"/>
                </a:solidFill>
                <a:latin typeface="Arial"/>
                <a:ea typeface="Microsoft YaHei"/>
                <a:cs typeface="Arial"/>
              </a:rPr>
              <a:t>约4.5分钟</a:t>
            </a:r>
          </a:p>
        </p:txBody>
      </p:sp>
      <p:sp>
        <p:nvSpPr>
          <p:cNvPr id="81" name="Rounded Rectangle 80"/>
          <p:cNvSpPr/>
          <p:nvPr/>
        </p:nvSpPr>
        <p:spPr>
          <a:xfrm>
            <a:off x="3364991" y="1691640"/>
            <a:ext cx="2651760" cy="4343400"/>
          </a:xfrm>
          <a:prstGeom prst="roundRect">
            <a:avLst>
              <a:gd name="adj" fmla="val 8000"/>
            </a:avLst>
          </a:prstGeom>
          <a:solidFill>
            <a:srgbClr val="0E0E0E"/>
          </a:solidFill>
          <a:ln w="15875">
            <a:solidFill>
              <a:srgbClr val="FE2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3621024" y="1965960"/>
            <a:ext cx="685800" cy="685800"/>
          </a:xfrm>
          <a:prstGeom prst="ellipse">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000000"/>
                </a:solidFill>
                <a:latin typeface="Arial"/>
                <a:ea typeface="Microsoft YaHei"/>
                <a:cs typeface="Arial"/>
              </a:rPr>
              <a:t>B</a:t>
            </a:r>
          </a:p>
        </p:txBody>
      </p:sp>
      <p:sp>
        <p:nvSpPr>
          <p:cNvPr id="83" name="TextBox 82"/>
          <p:cNvSpPr txBox="1"/>
          <p:nvPr/>
        </p:nvSpPr>
        <p:spPr>
          <a:xfrm>
            <a:off x="3621024" y="2834640"/>
            <a:ext cx="219456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[组员B]</a:t>
            </a:r>
          </a:p>
        </p:txBody>
      </p:sp>
      <p:sp>
        <p:nvSpPr>
          <p:cNvPr id="84" name="TextBox 83"/>
          <p:cNvSpPr txBox="1"/>
          <p:nvPr/>
        </p:nvSpPr>
        <p:spPr>
          <a:xfrm>
            <a:off x="3621024" y="3200400"/>
            <a:ext cx="2194560" cy="274320"/>
          </a:xfrm>
          <a:prstGeom prst="rect">
            <a:avLst/>
          </a:prstGeom>
          <a:noFill/>
        </p:spPr>
        <p:txBody>
          <a:bodyPr wrap="square" lIns="0" rIns="0" tIns="0" bIns="0" anchor="t">
            <a:spAutoFit/>
          </a:bodyPr>
          <a:lstStyle/>
          <a:p>
            <a:pPr algn="l"/>
            <a:r>
              <a:rPr sz="1100" b="1" i="0">
                <a:solidFill>
                  <a:srgbClr val="FE2C55"/>
                </a:solidFill>
                <a:latin typeface="Arial"/>
                <a:ea typeface="Microsoft YaHei"/>
                <a:cs typeface="Arial"/>
              </a:rPr>
              <a:t>第二部分 · 为什么</a:t>
            </a:r>
          </a:p>
        </p:txBody>
      </p:sp>
      <p:sp>
        <p:nvSpPr>
          <p:cNvPr id="85" name="TextBox 84"/>
          <p:cNvSpPr txBox="1"/>
          <p:nvPr/>
        </p:nvSpPr>
        <p:spPr>
          <a:xfrm>
            <a:off x="3621024" y="3520440"/>
            <a:ext cx="2240280" cy="5486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抖音进入电商的动因</a:t>
            </a:r>
          </a:p>
        </p:txBody>
      </p:sp>
      <p:sp>
        <p:nvSpPr>
          <p:cNvPr id="86" name="TextBox 85"/>
          <p:cNvSpPr txBox="1"/>
          <p:nvPr/>
        </p:nvSpPr>
        <p:spPr>
          <a:xfrm>
            <a:off x="3621024" y="4114800"/>
            <a:ext cx="2240280" cy="1325880"/>
          </a:xfrm>
          <a:prstGeom prst="rect">
            <a:avLst/>
          </a:prstGeom>
          <a:noFill/>
        </p:spPr>
        <p:txBody>
          <a:bodyPr wrap="square" lIns="0" rIns="0" tIns="0" bIns="0" anchor="t">
            <a:spAutoFit/>
          </a:bodyPr>
          <a:lstStyle/>
          <a:p>
            <a:pPr algn="l" marL="155448" indent="-155448">
              <a:spcAft>
                <a:spcPts val="400"/>
              </a:spcAft>
              <a:buClr>
                <a:srgbClr val="FE2C55"/>
              </a:buClr>
              <a:buFont typeface="Arial"/>
              <a:buChar char="•"/>
            </a:pPr>
            <a:r>
              <a:rPr sz="1150" b="0" i="0">
                <a:solidFill>
                  <a:srgbClr val="C9C9C9"/>
                </a:solidFill>
                <a:latin typeface="Arial"/>
                <a:ea typeface="Microsoft YaHei"/>
                <a:cs typeface="Arial"/>
              </a:rPr>
              <a:t>用户规模、流量与内容优势</a:t>
            </a:r>
          </a:p>
          <a:p>
            <a:pPr algn="l" marL="155448" indent="-155448">
              <a:spcAft>
                <a:spcPts val="400"/>
              </a:spcAft>
              <a:buClr>
                <a:srgbClr val="FE2C55"/>
              </a:buClr>
              <a:buFont typeface="Arial"/>
              <a:buChar char="•"/>
            </a:pPr>
            <a:r>
              <a:rPr sz="1150" b="0" i="0">
                <a:solidFill>
                  <a:srgbClr val="C9C9C9"/>
                </a:solidFill>
                <a:latin typeface="Arial"/>
                <a:ea typeface="Microsoft YaHei"/>
                <a:cs typeface="Arial"/>
              </a:rPr>
              <a:t>算法与数据能力</a:t>
            </a:r>
          </a:p>
          <a:p>
            <a:pPr algn="l" marL="155448" indent="-155448">
              <a:spcAft>
                <a:spcPts val="400"/>
              </a:spcAft>
              <a:buClr>
                <a:srgbClr val="FE2C55"/>
              </a:buClr>
              <a:buFont typeface="Arial"/>
              <a:buChar char="•"/>
            </a:pPr>
            <a:r>
              <a:rPr sz="1150" b="0" i="0">
                <a:solidFill>
                  <a:srgbClr val="C9C9C9"/>
                </a:solidFill>
                <a:latin typeface="Arial"/>
                <a:ea typeface="Microsoft YaHei"/>
                <a:cs typeface="Arial"/>
              </a:rPr>
              <a:t>商业变现与市场竞争</a:t>
            </a:r>
          </a:p>
        </p:txBody>
      </p:sp>
      <p:sp>
        <p:nvSpPr>
          <p:cNvPr id="87" name="TextBox 86"/>
          <p:cNvSpPr txBox="1"/>
          <p:nvPr/>
        </p:nvSpPr>
        <p:spPr>
          <a:xfrm>
            <a:off x="3621024" y="5559552"/>
            <a:ext cx="2194560" cy="274320"/>
          </a:xfrm>
          <a:prstGeom prst="rect">
            <a:avLst/>
          </a:prstGeom>
          <a:noFill/>
        </p:spPr>
        <p:txBody>
          <a:bodyPr wrap="square" lIns="0" rIns="0" tIns="0" bIns="0" anchor="t">
            <a:spAutoFit/>
          </a:bodyPr>
          <a:lstStyle/>
          <a:p>
            <a:pPr algn="l"/>
            <a:r>
              <a:rPr sz="1000" b="1" i="0">
                <a:solidFill>
                  <a:srgbClr val="8C8C8C"/>
                </a:solidFill>
                <a:latin typeface="Arial"/>
                <a:ea typeface="Microsoft YaHei"/>
                <a:cs typeface="Arial"/>
              </a:rPr>
              <a:t>时长  </a:t>
            </a:r>
            <a:r>
              <a:rPr sz="1200" b="1" i="0">
                <a:solidFill>
                  <a:srgbClr val="FFFFFF"/>
                </a:solidFill>
                <a:latin typeface="Arial"/>
                <a:ea typeface="Microsoft YaHei"/>
                <a:cs typeface="Arial"/>
              </a:rPr>
              <a:t>约4分钟</a:t>
            </a:r>
          </a:p>
        </p:txBody>
      </p:sp>
      <p:sp>
        <p:nvSpPr>
          <p:cNvPr id="88" name="Rounded Rectangle 87"/>
          <p:cNvSpPr/>
          <p:nvPr/>
        </p:nvSpPr>
        <p:spPr>
          <a:xfrm>
            <a:off x="6227064" y="1691640"/>
            <a:ext cx="2651760" cy="4343400"/>
          </a:xfrm>
          <a:prstGeom prst="roundRect">
            <a:avLst>
              <a:gd name="adj" fmla="val 8000"/>
            </a:avLst>
          </a:prstGeom>
          <a:solidFill>
            <a:srgbClr val="0E0E0E"/>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6483096" y="1965960"/>
            <a:ext cx="685800" cy="685800"/>
          </a:xfrm>
          <a:prstGeom prst="ellipse">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000000"/>
                </a:solidFill>
                <a:latin typeface="Arial"/>
                <a:ea typeface="Microsoft YaHei"/>
                <a:cs typeface="Arial"/>
              </a:rPr>
              <a:t>C</a:t>
            </a:r>
          </a:p>
        </p:txBody>
      </p:sp>
      <p:sp>
        <p:nvSpPr>
          <p:cNvPr id="90" name="TextBox 89"/>
          <p:cNvSpPr txBox="1"/>
          <p:nvPr/>
        </p:nvSpPr>
        <p:spPr>
          <a:xfrm>
            <a:off x="6483096" y="2834640"/>
            <a:ext cx="219456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[组员C]</a:t>
            </a:r>
          </a:p>
        </p:txBody>
      </p:sp>
      <p:sp>
        <p:nvSpPr>
          <p:cNvPr id="91" name="TextBox 90"/>
          <p:cNvSpPr txBox="1"/>
          <p:nvPr/>
        </p:nvSpPr>
        <p:spPr>
          <a:xfrm>
            <a:off x="6483096" y="3200400"/>
            <a:ext cx="2194560" cy="274320"/>
          </a:xfrm>
          <a:prstGeom prst="rect">
            <a:avLst/>
          </a:prstGeom>
          <a:noFill/>
        </p:spPr>
        <p:txBody>
          <a:bodyPr wrap="square" lIns="0" rIns="0" tIns="0" bIns="0" anchor="t">
            <a:spAutoFit/>
          </a:bodyPr>
          <a:lstStyle/>
          <a:p>
            <a:pPr algn="l"/>
            <a:r>
              <a:rPr sz="1100" b="1" i="0">
                <a:solidFill>
                  <a:srgbClr val="25F4EE"/>
                </a:solidFill>
                <a:latin typeface="Arial"/>
                <a:ea typeface="Microsoft YaHei"/>
                <a:cs typeface="Arial"/>
              </a:rPr>
              <a:t>第三部分 · 怎么做</a:t>
            </a:r>
          </a:p>
        </p:txBody>
      </p:sp>
      <p:sp>
        <p:nvSpPr>
          <p:cNvPr id="92" name="TextBox 91"/>
          <p:cNvSpPr txBox="1"/>
          <p:nvPr/>
        </p:nvSpPr>
        <p:spPr>
          <a:xfrm>
            <a:off x="6483096" y="3520440"/>
            <a:ext cx="2240280" cy="5486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商业模式与营销机制</a:t>
            </a:r>
          </a:p>
        </p:txBody>
      </p:sp>
      <p:sp>
        <p:nvSpPr>
          <p:cNvPr id="93" name="TextBox 92"/>
          <p:cNvSpPr txBox="1"/>
          <p:nvPr/>
        </p:nvSpPr>
        <p:spPr>
          <a:xfrm>
            <a:off x="6483096" y="4114800"/>
            <a:ext cx="2240280" cy="1325880"/>
          </a:xfrm>
          <a:prstGeom prst="rect">
            <a:avLst/>
          </a:prstGeom>
          <a:noFill/>
        </p:spPr>
        <p:txBody>
          <a:bodyPr wrap="square" lIns="0" rIns="0" tIns="0" bIns="0" anchor="t">
            <a:spAutoFit/>
          </a:bodyPr>
          <a:lstStyle/>
          <a:p>
            <a:pPr algn="l" marL="155448" indent="-155448">
              <a:spcAft>
                <a:spcPts val="400"/>
              </a:spcAft>
              <a:buClr>
                <a:srgbClr val="25F4EE"/>
              </a:buClr>
              <a:buFont typeface="Arial"/>
              <a:buChar char="•"/>
            </a:pPr>
            <a:r>
              <a:rPr sz="1150" b="0" i="0">
                <a:solidFill>
                  <a:srgbClr val="C9C9C9"/>
                </a:solidFill>
                <a:latin typeface="Arial"/>
                <a:ea typeface="Microsoft YaHei"/>
                <a:cs typeface="Arial"/>
              </a:rPr>
              <a:t>兴趣电商的运行逻辑</a:t>
            </a:r>
          </a:p>
          <a:p>
            <a:pPr algn="l" marL="155448" indent="-155448">
              <a:spcAft>
                <a:spcPts val="400"/>
              </a:spcAft>
              <a:buClr>
                <a:srgbClr val="25F4EE"/>
              </a:buClr>
              <a:buFont typeface="Arial"/>
              <a:buChar char="•"/>
            </a:pPr>
            <a:r>
              <a:rPr sz="1150" b="0" i="0">
                <a:solidFill>
                  <a:srgbClr val="C9C9C9"/>
                </a:solidFill>
                <a:latin typeface="Arial"/>
                <a:ea typeface="Microsoft YaHei"/>
                <a:cs typeface="Arial"/>
              </a:rPr>
              <a:t>交易场景、参与者与盈利</a:t>
            </a:r>
          </a:p>
          <a:p>
            <a:pPr algn="l" marL="155448" indent="-155448">
              <a:spcAft>
                <a:spcPts val="400"/>
              </a:spcAft>
              <a:buClr>
                <a:srgbClr val="25F4EE"/>
              </a:buClr>
              <a:buFont typeface="Arial"/>
              <a:buChar char="•"/>
            </a:pPr>
            <a:r>
              <a:rPr sz="1150" b="0" i="0">
                <a:solidFill>
                  <a:srgbClr val="C9C9C9"/>
                </a:solidFill>
                <a:latin typeface="Arial"/>
                <a:ea typeface="Microsoft YaHei"/>
                <a:cs typeface="Arial"/>
              </a:rPr>
              <a:t>新媒体营销转化链路</a:t>
            </a:r>
          </a:p>
        </p:txBody>
      </p:sp>
      <p:sp>
        <p:nvSpPr>
          <p:cNvPr id="94" name="TextBox 93"/>
          <p:cNvSpPr txBox="1"/>
          <p:nvPr/>
        </p:nvSpPr>
        <p:spPr>
          <a:xfrm>
            <a:off x="6483096" y="5559552"/>
            <a:ext cx="2194560" cy="274320"/>
          </a:xfrm>
          <a:prstGeom prst="rect">
            <a:avLst/>
          </a:prstGeom>
          <a:noFill/>
        </p:spPr>
        <p:txBody>
          <a:bodyPr wrap="square" lIns="0" rIns="0" tIns="0" bIns="0" anchor="t">
            <a:spAutoFit/>
          </a:bodyPr>
          <a:lstStyle/>
          <a:p>
            <a:pPr algn="l"/>
            <a:r>
              <a:rPr sz="1000" b="1" i="0">
                <a:solidFill>
                  <a:srgbClr val="8C8C8C"/>
                </a:solidFill>
                <a:latin typeface="Arial"/>
                <a:ea typeface="Microsoft YaHei"/>
                <a:cs typeface="Arial"/>
              </a:rPr>
              <a:t>时长  </a:t>
            </a:r>
            <a:r>
              <a:rPr sz="1200" b="1" i="0">
                <a:solidFill>
                  <a:srgbClr val="FFFFFF"/>
                </a:solidFill>
                <a:latin typeface="Arial"/>
                <a:ea typeface="Microsoft YaHei"/>
                <a:cs typeface="Arial"/>
              </a:rPr>
              <a:t>4–5分钟</a:t>
            </a:r>
          </a:p>
        </p:txBody>
      </p:sp>
      <p:sp>
        <p:nvSpPr>
          <p:cNvPr id="95" name="Rounded Rectangle 94"/>
          <p:cNvSpPr/>
          <p:nvPr/>
        </p:nvSpPr>
        <p:spPr>
          <a:xfrm>
            <a:off x="9089136" y="1691640"/>
            <a:ext cx="2651760" cy="4343400"/>
          </a:xfrm>
          <a:prstGeom prst="roundRect">
            <a:avLst>
              <a:gd name="adj" fmla="val 8000"/>
            </a:avLst>
          </a:prstGeom>
          <a:solidFill>
            <a:srgbClr val="0E0E0E"/>
          </a:solidFill>
          <a:ln w="15875">
            <a:solidFill>
              <a:srgbClr val="FE2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9345168" y="1965960"/>
            <a:ext cx="685800" cy="685800"/>
          </a:xfrm>
          <a:prstGeom prst="ellipse">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000000"/>
                </a:solidFill>
                <a:latin typeface="Arial"/>
                <a:ea typeface="Microsoft YaHei"/>
                <a:cs typeface="Arial"/>
              </a:rPr>
              <a:t>D</a:t>
            </a:r>
          </a:p>
        </p:txBody>
      </p:sp>
      <p:sp>
        <p:nvSpPr>
          <p:cNvPr id="97" name="TextBox 96"/>
          <p:cNvSpPr txBox="1"/>
          <p:nvPr/>
        </p:nvSpPr>
        <p:spPr>
          <a:xfrm>
            <a:off x="9345168" y="2834640"/>
            <a:ext cx="219456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[组员D]</a:t>
            </a:r>
          </a:p>
        </p:txBody>
      </p:sp>
      <p:sp>
        <p:nvSpPr>
          <p:cNvPr id="98" name="TextBox 97"/>
          <p:cNvSpPr txBox="1"/>
          <p:nvPr/>
        </p:nvSpPr>
        <p:spPr>
          <a:xfrm>
            <a:off x="9345168" y="3200400"/>
            <a:ext cx="2194560" cy="274320"/>
          </a:xfrm>
          <a:prstGeom prst="rect">
            <a:avLst/>
          </a:prstGeom>
          <a:noFill/>
        </p:spPr>
        <p:txBody>
          <a:bodyPr wrap="square" lIns="0" rIns="0" tIns="0" bIns="0" anchor="t">
            <a:spAutoFit/>
          </a:bodyPr>
          <a:lstStyle/>
          <a:p>
            <a:pPr algn="l"/>
            <a:r>
              <a:rPr sz="1100" b="1" i="0">
                <a:solidFill>
                  <a:srgbClr val="FE2C55"/>
                </a:solidFill>
                <a:latin typeface="Arial"/>
                <a:ea typeface="Microsoft YaHei"/>
                <a:cs typeface="Arial"/>
              </a:rPr>
              <a:t>第四部分 · 往哪去</a:t>
            </a:r>
          </a:p>
        </p:txBody>
      </p:sp>
      <p:sp>
        <p:nvSpPr>
          <p:cNvPr id="99" name="TextBox 98"/>
          <p:cNvSpPr txBox="1"/>
          <p:nvPr/>
        </p:nvSpPr>
        <p:spPr>
          <a:xfrm>
            <a:off x="9345168" y="3520440"/>
            <a:ext cx="2240280" cy="5486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问题、前景与结论</a:t>
            </a:r>
          </a:p>
        </p:txBody>
      </p:sp>
      <p:sp>
        <p:nvSpPr>
          <p:cNvPr id="100" name="TextBox 99"/>
          <p:cNvSpPr txBox="1"/>
          <p:nvPr/>
        </p:nvSpPr>
        <p:spPr>
          <a:xfrm>
            <a:off x="9345168" y="4114800"/>
            <a:ext cx="2240280" cy="1325880"/>
          </a:xfrm>
          <a:prstGeom prst="rect">
            <a:avLst/>
          </a:prstGeom>
          <a:noFill/>
        </p:spPr>
        <p:txBody>
          <a:bodyPr wrap="square" lIns="0" rIns="0" tIns="0" bIns="0" anchor="t">
            <a:spAutoFit/>
          </a:bodyPr>
          <a:lstStyle/>
          <a:p>
            <a:pPr algn="l" marL="155448" indent="-155448">
              <a:spcAft>
                <a:spcPts val="400"/>
              </a:spcAft>
              <a:buClr>
                <a:srgbClr val="FE2C55"/>
              </a:buClr>
              <a:buFont typeface="Arial"/>
              <a:buChar char="•"/>
            </a:pPr>
            <a:r>
              <a:rPr sz="1150" b="0" i="0">
                <a:solidFill>
                  <a:srgbClr val="C9C9C9"/>
                </a:solidFill>
                <a:latin typeface="Arial"/>
                <a:ea typeface="Microsoft YaHei"/>
                <a:cs typeface="Arial"/>
              </a:rPr>
              <a:t>当前存在的问题与风险</a:t>
            </a:r>
          </a:p>
          <a:p>
            <a:pPr algn="l" marL="155448" indent="-155448">
              <a:spcAft>
                <a:spcPts val="400"/>
              </a:spcAft>
              <a:buClr>
                <a:srgbClr val="FE2C55"/>
              </a:buClr>
              <a:buFont typeface="Arial"/>
              <a:buChar char="•"/>
            </a:pPr>
            <a:r>
              <a:rPr sz="1150" b="0" i="0">
                <a:solidFill>
                  <a:srgbClr val="C9C9C9"/>
                </a:solidFill>
                <a:latin typeface="Arial"/>
                <a:ea typeface="Microsoft YaHei"/>
                <a:cs typeface="Arial"/>
              </a:rPr>
              <a:t>未来发展趋势</a:t>
            </a:r>
          </a:p>
          <a:p>
            <a:pPr algn="l" marL="155448" indent="-155448">
              <a:spcAft>
                <a:spcPts val="400"/>
              </a:spcAft>
              <a:buClr>
                <a:srgbClr val="FE2C55"/>
              </a:buClr>
              <a:buFont typeface="Arial"/>
              <a:buChar char="•"/>
            </a:pPr>
            <a:r>
              <a:rPr sz="1150" b="0" i="0">
                <a:solidFill>
                  <a:srgbClr val="C9C9C9"/>
                </a:solidFill>
                <a:latin typeface="Arial"/>
                <a:ea typeface="Microsoft YaHei"/>
                <a:cs typeface="Arial"/>
              </a:rPr>
              <a:t>发展建议与总结</a:t>
            </a:r>
          </a:p>
        </p:txBody>
      </p:sp>
      <p:sp>
        <p:nvSpPr>
          <p:cNvPr id="101" name="TextBox 100"/>
          <p:cNvSpPr txBox="1"/>
          <p:nvPr/>
        </p:nvSpPr>
        <p:spPr>
          <a:xfrm>
            <a:off x="9345168" y="5559552"/>
            <a:ext cx="2194560" cy="274320"/>
          </a:xfrm>
          <a:prstGeom prst="rect">
            <a:avLst/>
          </a:prstGeom>
          <a:noFill/>
        </p:spPr>
        <p:txBody>
          <a:bodyPr wrap="square" lIns="0" rIns="0" tIns="0" bIns="0" anchor="t">
            <a:spAutoFit/>
          </a:bodyPr>
          <a:lstStyle/>
          <a:p>
            <a:pPr algn="l"/>
            <a:r>
              <a:rPr sz="1000" b="1" i="0">
                <a:solidFill>
                  <a:srgbClr val="8C8C8C"/>
                </a:solidFill>
                <a:latin typeface="Arial"/>
                <a:ea typeface="Microsoft YaHei"/>
                <a:cs typeface="Arial"/>
              </a:rPr>
              <a:t>时长  </a:t>
            </a:r>
            <a:r>
              <a:rPr sz="1200" b="1" i="0">
                <a:solidFill>
                  <a:srgbClr val="FFFFFF"/>
                </a:solidFill>
                <a:latin typeface="Arial"/>
                <a:ea typeface="Microsoft YaHei"/>
                <a:cs typeface="Arial"/>
              </a:rPr>
              <a:t>4–5分钟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5" name="object 15"/>
          <p:cNvGrpSpPr/>
          <p:nvPr/>
        </p:nvGrpSpPr>
        <p:grpSpPr>
          <a:xfrm>
            <a:off x="6689033" y="1183767"/>
            <a:ext cx="4677833" cy="5674360"/>
            <a:chOff x="5016775" y="887825"/>
            <a:chExt cx="3508375" cy="4255770"/>
          </a:xfrm>
        </p:grpSpPr>
        <p:pic>
          <p:nvPicPr>
            <p:cNvPr id="16" name="object 16"/>
            <p:cNvPicPr/>
            <p:nvPr/>
          </p:nvPicPr>
          <p:blipFill>
            <a:blip r:embed="rId1" cstate="print"/>
            <a:stretch>
              <a:fillRect/>
            </a:stretch>
          </p:blipFill>
          <p:spPr>
            <a:xfrm>
              <a:off x="5265597" y="1070608"/>
              <a:ext cx="3259302" cy="4072891"/>
            </a:xfrm>
            <a:prstGeom prst="rect">
              <a:avLst/>
            </a:prstGeom>
          </p:spPr>
        </p:pic>
        <p:pic>
          <p:nvPicPr>
            <p:cNvPr id="17" name="object 17"/>
            <p:cNvPicPr/>
            <p:nvPr/>
          </p:nvPicPr>
          <p:blipFill>
            <a:blip r:embed="rId2" cstate="print"/>
            <a:stretch>
              <a:fillRect/>
            </a:stretch>
          </p:blipFill>
          <p:spPr>
            <a:xfrm>
              <a:off x="5016775" y="887825"/>
              <a:ext cx="841777" cy="1828083"/>
            </a:xfrm>
            <a:prstGeom prst="rect">
              <a:avLst/>
            </a:prstGeom>
          </p:spPr>
        </p:pic>
      </p:grpSp>
      <p:sp>
        <p:nvSpPr>
          <p:cNvPr id="18" name="object 18"/>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网络与新媒体营销 | 小组汇报</a:t>
            </a:r>
            <a:endParaRPr sz="1245" spc="-10" dirty="0">
              <a:solidFill>
                <a:srgbClr val="FFFFFF"/>
              </a:solidFill>
            </a:endParaRPr>
          </a:p>
        </p:txBody>
      </p:sp>
      <p:sp>
        <p:nvSpPr>
          <p:cNvPr id="19" name="object 19"/>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20" name="TextBox 19"/>
          <p:cNvSpPr txBox="1"/>
          <p:nvPr/>
        </p:nvSpPr>
        <p:spPr>
          <a:xfrm>
            <a:off x="502920" y="347472"/>
            <a:ext cx="640080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汇报框架与研究问题</a:t>
            </a:r>
          </a:p>
        </p:txBody>
      </p:sp>
      <p:sp>
        <p:nvSpPr>
          <p:cNvPr id="21" name="TextBox 20"/>
          <p:cNvSpPr txBox="1"/>
          <p:nvPr/>
        </p:nvSpPr>
        <p:spPr>
          <a:xfrm>
            <a:off x="502920" y="987552"/>
            <a:ext cx="6400800" cy="365760"/>
          </a:xfrm>
          <a:prstGeom prst="rect">
            <a:avLst/>
          </a:prstGeom>
          <a:noFill/>
        </p:spPr>
        <p:txBody>
          <a:bodyPr wrap="square" lIns="0" rIns="0" tIns="0" bIns="0" anchor="t">
            <a:spAutoFit/>
          </a:bodyPr>
          <a:lstStyle/>
          <a:p>
            <a:pPr algn="l"/>
            <a:r>
              <a:rPr sz="1300" b="0" i="0">
                <a:solidFill>
                  <a:srgbClr val="C9C9C9"/>
                </a:solidFill>
                <a:latin typeface="Arial"/>
                <a:ea typeface="Microsoft YaHei"/>
                <a:cs typeface="Arial"/>
              </a:rPr>
              <a:t>抖音如何从一个内容平台成长为电商巨头？</a:t>
            </a:r>
          </a:p>
        </p:txBody>
      </p:sp>
      <p:sp>
        <p:nvSpPr>
          <p:cNvPr id="22" name="Rounded Rectangle 21"/>
          <p:cNvSpPr/>
          <p:nvPr/>
        </p:nvSpPr>
        <p:spPr>
          <a:xfrm>
            <a:off x="384048" y="1472184"/>
            <a:ext cx="5989320" cy="987552"/>
          </a:xfrm>
          <a:prstGeom prst="roundRect">
            <a:avLst>
              <a:gd name="adj" fmla="val 8000"/>
            </a:avLst>
          </a:prstGeom>
          <a:solidFill>
            <a:srgbClr val="0B1F1F"/>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4937760" y="1618488"/>
            <a:ext cx="1280160" cy="274320"/>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950" b="1" i="0">
                <a:solidFill>
                  <a:srgbClr val="000000"/>
                </a:solidFill>
                <a:latin typeface="Arial"/>
                <a:ea typeface="Microsoft YaHei"/>
                <a:cs typeface="Arial"/>
              </a:rPr>
              <a:t>进行中 · 第一部分</a:t>
            </a:r>
          </a:p>
        </p:txBody>
      </p:sp>
      <p:sp>
        <p:nvSpPr>
          <p:cNvPr id="24" name="TextBox 23"/>
          <p:cNvSpPr txBox="1"/>
          <p:nvPr/>
        </p:nvSpPr>
        <p:spPr>
          <a:xfrm>
            <a:off x="566928" y="1600200"/>
            <a:ext cx="822960" cy="640080"/>
          </a:xfrm>
          <a:prstGeom prst="rect">
            <a:avLst/>
          </a:prstGeom>
          <a:noFill/>
        </p:spPr>
        <p:txBody>
          <a:bodyPr wrap="square" lIns="0" rIns="0" tIns="0" bIns="0" anchor="t">
            <a:spAutoFit/>
          </a:bodyPr>
          <a:lstStyle/>
          <a:p>
            <a:pPr algn="l"/>
            <a:r>
              <a:rPr sz="3000" b="1" i="0">
                <a:solidFill>
                  <a:srgbClr val="25F4EE"/>
                </a:solidFill>
                <a:latin typeface="Arial"/>
                <a:ea typeface="Microsoft YaHei"/>
                <a:cs typeface="Arial"/>
              </a:rPr>
              <a:t>01</a:t>
            </a:r>
          </a:p>
        </p:txBody>
      </p:sp>
      <p:sp>
        <p:nvSpPr>
          <p:cNvPr id="25" name="TextBox 24"/>
          <p:cNvSpPr txBox="1"/>
          <p:nvPr/>
        </p:nvSpPr>
        <p:spPr>
          <a:xfrm>
            <a:off x="1417320" y="1618488"/>
            <a:ext cx="347472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抖音在建设什么？</a:t>
            </a:r>
          </a:p>
        </p:txBody>
      </p:sp>
      <p:sp>
        <p:nvSpPr>
          <p:cNvPr id="26" name="TextBox 25"/>
          <p:cNvSpPr txBox="1"/>
          <p:nvPr/>
        </p:nvSpPr>
        <p:spPr>
          <a:xfrm>
            <a:off x="1417320" y="2029967"/>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概念界定 · 发展历程 · 当前电商布局</a:t>
            </a:r>
          </a:p>
        </p:txBody>
      </p:sp>
      <p:cxnSp>
        <p:nvCxnSpPr>
          <p:cNvPr id="27" name="Connector 26"/>
          <p:cNvCxnSpPr/>
          <p:nvPr/>
        </p:nvCxnSpPr>
        <p:spPr>
          <a:xfrm>
            <a:off x="502920" y="2514600"/>
            <a:ext cx="57607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937760" y="2761487"/>
            <a:ext cx="1280160" cy="256032"/>
          </a:xfrm>
          <a:prstGeom prst="rect">
            <a:avLst/>
          </a:prstGeom>
          <a:noFill/>
        </p:spPr>
        <p:txBody>
          <a:bodyPr wrap="square" lIns="0" rIns="0" tIns="0" bIns="0" anchor="t">
            <a:spAutoFit/>
          </a:bodyPr>
          <a:lstStyle/>
          <a:p>
            <a:pPr algn="ctr"/>
            <a:r>
              <a:rPr sz="1050" b="0" i="0">
                <a:solidFill>
                  <a:srgbClr val="8C8C8C"/>
                </a:solidFill>
                <a:latin typeface="Arial"/>
                <a:ea typeface="Microsoft YaHei"/>
                <a:cs typeface="Arial"/>
              </a:rPr>
              <a:t>第二部分</a:t>
            </a:r>
          </a:p>
        </p:txBody>
      </p:sp>
      <p:sp>
        <p:nvSpPr>
          <p:cNvPr id="29" name="TextBox 28"/>
          <p:cNvSpPr txBox="1"/>
          <p:nvPr/>
        </p:nvSpPr>
        <p:spPr>
          <a:xfrm>
            <a:off x="566928" y="2715768"/>
            <a:ext cx="822960" cy="640080"/>
          </a:xfrm>
          <a:prstGeom prst="rect">
            <a:avLst/>
          </a:prstGeom>
          <a:noFill/>
        </p:spPr>
        <p:txBody>
          <a:bodyPr wrap="square" lIns="0" rIns="0" tIns="0" bIns="0" anchor="t">
            <a:spAutoFit/>
          </a:bodyPr>
          <a:lstStyle/>
          <a:p>
            <a:pPr algn="l"/>
            <a:r>
              <a:rPr sz="3000" b="1" i="0">
                <a:solidFill>
                  <a:srgbClr val="FE2C55"/>
                </a:solidFill>
                <a:latin typeface="Arial"/>
                <a:ea typeface="Microsoft YaHei"/>
                <a:cs typeface="Arial"/>
              </a:rPr>
              <a:t>02</a:t>
            </a:r>
          </a:p>
        </p:txBody>
      </p:sp>
      <p:sp>
        <p:nvSpPr>
          <p:cNvPr id="30" name="TextBox 29"/>
          <p:cNvSpPr txBox="1"/>
          <p:nvPr/>
        </p:nvSpPr>
        <p:spPr>
          <a:xfrm>
            <a:off x="1417320" y="2734056"/>
            <a:ext cx="347472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抖音为什么进入电商？</a:t>
            </a:r>
          </a:p>
        </p:txBody>
      </p:sp>
      <p:sp>
        <p:nvSpPr>
          <p:cNvPr id="31" name="TextBox 30"/>
          <p:cNvSpPr txBox="1"/>
          <p:nvPr/>
        </p:nvSpPr>
        <p:spPr>
          <a:xfrm>
            <a:off x="1417320" y="3145535"/>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流量 · 内容 · 算法 · 变现 · 竞争</a:t>
            </a:r>
          </a:p>
        </p:txBody>
      </p:sp>
      <p:cxnSp>
        <p:nvCxnSpPr>
          <p:cNvPr id="32" name="Connector 31"/>
          <p:cNvCxnSpPr/>
          <p:nvPr/>
        </p:nvCxnSpPr>
        <p:spPr>
          <a:xfrm>
            <a:off x="502920" y="3630168"/>
            <a:ext cx="57607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937760" y="3877055"/>
            <a:ext cx="1280160" cy="256032"/>
          </a:xfrm>
          <a:prstGeom prst="rect">
            <a:avLst/>
          </a:prstGeom>
          <a:noFill/>
        </p:spPr>
        <p:txBody>
          <a:bodyPr wrap="square" lIns="0" rIns="0" tIns="0" bIns="0" anchor="t">
            <a:spAutoFit/>
          </a:bodyPr>
          <a:lstStyle/>
          <a:p>
            <a:pPr algn="ctr"/>
            <a:r>
              <a:rPr sz="1050" b="0" i="0">
                <a:solidFill>
                  <a:srgbClr val="8C8C8C"/>
                </a:solidFill>
                <a:latin typeface="Arial"/>
                <a:ea typeface="Microsoft YaHei"/>
                <a:cs typeface="Arial"/>
              </a:rPr>
              <a:t>第三部分</a:t>
            </a:r>
          </a:p>
        </p:txBody>
      </p:sp>
      <p:sp>
        <p:nvSpPr>
          <p:cNvPr id="34" name="TextBox 33"/>
          <p:cNvSpPr txBox="1"/>
          <p:nvPr/>
        </p:nvSpPr>
        <p:spPr>
          <a:xfrm>
            <a:off x="566928" y="3831335"/>
            <a:ext cx="822960" cy="640080"/>
          </a:xfrm>
          <a:prstGeom prst="rect">
            <a:avLst/>
          </a:prstGeom>
          <a:noFill/>
        </p:spPr>
        <p:txBody>
          <a:bodyPr wrap="square" lIns="0" rIns="0" tIns="0" bIns="0" anchor="t">
            <a:spAutoFit/>
          </a:bodyPr>
          <a:lstStyle/>
          <a:p>
            <a:pPr algn="l"/>
            <a:r>
              <a:rPr sz="3000" b="1" i="0">
                <a:solidFill>
                  <a:srgbClr val="FE2C55"/>
                </a:solidFill>
                <a:latin typeface="Arial"/>
                <a:ea typeface="Microsoft YaHei"/>
                <a:cs typeface="Arial"/>
              </a:rPr>
              <a:t>03</a:t>
            </a:r>
          </a:p>
        </p:txBody>
      </p:sp>
      <p:sp>
        <p:nvSpPr>
          <p:cNvPr id="35" name="TextBox 34"/>
          <p:cNvSpPr txBox="1"/>
          <p:nvPr/>
        </p:nvSpPr>
        <p:spPr>
          <a:xfrm>
            <a:off x="1417320" y="3849623"/>
            <a:ext cx="347472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商业模式如何运转？</a:t>
            </a:r>
          </a:p>
        </p:txBody>
      </p:sp>
      <p:sp>
        <p:nvSpPr>
          <p:cNvPr id="36" name="TextBox 35"/>
          <p:cNvSpPr txBox="1"/>
          <p:nvPr/>
        </p:nvSpPr>
        <p:spPr>
          <a:xfrm>
            <a:off x="1417320" y="4261103"/>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兴趣电商逻辑 · 参与者 · 盈利方式 · 营销链路</a:t>
            </a:r>
          </a:p>
        </p:txBody>
      </p:sp>
      <p:cxnSp>
        <p:nvCxnSpPr>
          <p:cNvPr id="37" name="Connector 36"/>
          <p:cNvCxnSpPr/>
          <p:nvPr/>
        </p:nvCxnSpPr>
        <p:spPr>
          <a:xfrm>
            <a:off x="502920" y="4745736"/>
            <a:ext cx="57607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937760" y="4992624"/>
            <a:ext cx="1280160" cy="256032"/>
          </a:xfrm>
          <a:prstGeom prst="rect">
            <a:avLst/>
          </a:prstGeom>
          <a:noFill/>
        </p:spPr>
        <p:txBody>
          <a:bodyPr wrap="square" lIns="0" rIns="0" tIns="0" bIns="0" anchor="t">
            <a:spAutoFit/>
          </a:bodyPr>
          <a:lstStyle/>
          <a:p>
            <a:pPr algn="ctr"/>
            <a:r>
              <a:rPr sz="1050" b="0" i="0">
                <a:solidFill>
                  <a:srgbClr val="8C8C8C"/>
                </a:solidFill>
                <a:latin typeface="Arial"/>
                <a:ea typeface="Microsoft YaHei"/>
                <a:cs typeface="Arial"/>
              </a:rPr>
              <a:t>第四部分</a:t>
            </a:r>
          </a:p>
        </p:txBody>
      </p:sp>
      <p:sp>
        <p:nvSpPr>
          <p:cNvPr id="39" name="TextBox 38"/>
          <p:cNvSpPr txBox="1"/>
          <p:nvPr/>
        </p:nvSpPr>
        <p:spPr>
          <a:xfrm>
            <a:off x="566928" y="4946904"/>
            <a:ext cx="822960" cy="640080"/>
          </a:xfrm>
          <a:prstGeom prst="rect">
            <a:avLst/>
          </a:prstGeom>
          <a:noFill/>
        </p:spPr>
        <p:txBody>
          <a:bodyPr wrap="square" lIns="0" rIns="0" tIns="0" bIns="0" anchor="t">
            <a:spAutoFit/>
          </a:bodyPr>
          <a:lstStyle/>
          <a:p>
            <a:pPr algn="l"/>
            <a:r>
              <a:rPr sz="3000" b="1" i="0">
                <a:solidFill>
                  <a:srgbClr val="FE2C55"/>
                </a:solidFill>
                <a:latin typeface="Arial"/>
                <a:ea typeface="Microsoft YaHei"/>
                <a:cs typeface="Arial"/>
              </a:rPr>
              <a:t>04</a:t>
            </a:r>
          </a:p>
        </p:txBody>
      </p:sp>
      <p:sp>
        <p:nvSpPr>
          <p:cNvPr id="40" name="TextBox 39"/>
          <p:cNvSpPr txBox="1"/>
          <p:nvPr/>
        </p:nvSpPr>
        <p:spPr>
          <a:xfrm>
            <a:off x="1417320" y="4965192"/>
            <a:ext cx="347472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未来走向哪里？</a:t>
            </a:r>
          </a:p>
        </p:txBody>
      </p:sp>
      <p:sp>
        <p:nvSpPr>
          <p:cNvPr id="41" name="TextBox 40"/>
          <p:cNvSpPr txBox="1"/>
          <p:nvPr/>
        </p:nvSpPr>
        <p:spPr>
          <a:xfrm>
            <a:off x="1417320" y="5376672"/>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风险 · 发展趋势 · 建议 · 结论</a:t>
            </a:r>
          </a:p>
        </p:txBody>
      </p:sp>
      <p:sp>
        <p:nvSpPr>
          <p:cNvPr id="42" name="TextBox 41"/>
          <p:cNvSpPr txBox="1"/>
          <p:nvPr/>
        </p:nvSpPr>
        <p:spPr>
          <a:xfrm>
            <a:off x="6720840" y="6601968"/>
            <a:ext cx="2743200" cy="182880"/>
          </a:xfrm>
          <a:prstGeom prst="rect">
            <a:avLst/>
          </a:prstGeom>
          <a:noFill/>
        </p:spPr>
        <p:txBody>
          <a:bodyPr wrap="square" lIns="0" rIns="0" tIns="0" bIns="0" anchor="t">
            <a:spAutoFit/>
          </a:bodyPr>
          <a:lstStyle/>
          <a:p>
            <a:pPr algn="r"/>
            <a:r>
              <a:rPr sz="650" b="0" i="0">
                <a:solidFill>
                  <a:srgbClr val="8C8C8C"/>
                </a:solidFill>
                <a:latin typeface="Arial"/>
                <a:ea typeface="Microsoft YaHei"/>
                <a:cs typeface="Arial"/>
              </a:rPr>
              <a:t>图片来源：</a:t>
            </a:r>
            <a:r>
              <a:rPr sz="650" b="0" i="0">
                <a:solidFill>
                  <a:srgbClr val="8C8C8C"/>
                </a:solidFill>
                <a:latin typeface="Arial"/>
                <a:ea typeface="Microsoft YaHei"/>
                <a:cs typeface="Arial"/>
                <a:hlinkClick r:id="rId4">
                  <a:extLst>
                    <a:ext uri="{A12FA001-AC4F-418D-AE19-62706E023703}">
                      <ahyp:hlinkClr xmlns:ahyp="http://schemas.microsoft.com/office/drawing/2018/hyperlinkcolor" val="tx"/>
                    </a:ext>
                  </a:extLst>
                </a:hlinkClick>
              </a:rPr>
              <a:t>TikTok What's Next 2025 趋势报告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9" name="object 69"/>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网络与新媒体营销 | 小组汇报</a:t>
            </a:r>
            <a:endParaRPr sz="1245" spc="-10" dirty="0">
              <a:solidFill>
                <a:srgbClr val="FFFFFF"/>
              </a:solidFill>
            </a:endParaRPr>
          </a:p>
        </p:txBody>
      </p:sp>
      <p:sp>
        <p:nvSpPr>
          <p:cNvPr id="70" name="object 70"/>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71" name="TextBox 70"/>
          <p:cNvSpPr txBox="1"/>
          <p:nvPr/>
        </p:nvSpPr>
        <p:spPr>
          <a:xfrm>
            <a:off x="502920" y="347472"/>
            <a:ext cx="1115568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核心概念：谁在找谁？</a:t>
            </a:r>
          </a:p>
        </p:txBody>
      </p:sp>
      <p:sp>
        <p:nvSpPr>
          <p:cNvPr id="72" name="TextBox 71"/>
          <p:cNvSpPr txBox="1"/>
          <p:nvPr/>
        </p:nvSpPr>
        <p:spPr>
          <a:xfrm>
            <a:off x="502920" y="987552"/>
            <a:ext cx="11155680" cy="365760"/>
          </a:xfrm>
          <a:prstGeom prst="rect">
            <a:avLst/>
          </a:prstGeom>
          <a:noFill/>
        </p:spPr>
        <p:txBody>
          <a:bodyPr wrap="square" lIns="0" rIns="0" tIns="0" bIns="0" anchor="t">
            <a:spAutoFit/>
          </a:bodyPr>
          <a:lstStyle/>
          <a:p>
            <a:pPr algn="l"/>
            <a:r>
              <a:rPr sz="1300" b="0" i="0">
                <a:solidFill>
                  <a:srgbClr val="C9C9C9"/>
                </a:solidFill>
                <a:latin typeface="Arial"/>
                <a:ea typeface="Microsoft YaHei"/>
                <a:cs typeface="Arial"/>
              </a:rPr>
              <a:t>三种网络零售逻辑，以及抖音所处的位置</a:t>
            </a:r>
          </a:p>
        </p:txBody>
      </p:sp>
      <p:sp>
        <p:nvSpPr>
          <p:cNvPr id="73" name="Rounded Rectangle 72"/>
          <p:cNvSpPr/>
          <p:nvPr/>
        </p:nvSpPr>
        <p:spPr>
          <a:xfrm>
            <a:off x="502920" y="1691640"/>
            <a:ext cx="3566160" cy="3611880"/>
          </a:xfrm>
          <a:prstGeom prst="roundRect">
            <a:avLst>
              <a:gd name="adj" fmla="val 8000"/>
            </a:avLst>
          </a:prstGeom>
          <a:solidFill>
            <a:srgbClr val="0E0E0E"/>
          </a:solid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ounded Rectangle 73"/>
          <p:cNvSpPr/>
          <p:nvPr/>
        </p:nvSpPr>
        <p:spPr>
          <a:xfrm>
            <a:off x="731520" y="1527048"/>
            <a:ext cx="995679" cy="329184"/>
          </a:xfrm>
          <a:prstGeom prst="roundRect">
            <a:avLst>
              <a:gd name="adj" fmla="val 5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50" b="1" i="0">
                <a:solidFill>
                  <a:srgbClr val="000000"/>
                </a:solidFill>
                <a:latin typeface="Arial"/>
                <a:ea typeface="Microsoft YaHei"/>
                <a:cs typeface="Arial"/>
              </a:rPr>
              <a:t>货架电商</a:t>
            </a:r>
          </a:p>
        </p:txBody>
      </p:sp>
      <p:sp>
        <p:nvSpPr>
          <p:cNvPr id="75" name="TextBox 74"/>
          <p:cNvSpPr txBox="1"/>
          <p:nvPr/>
        </p:nvSpPr>
        <p:spPr>
          <a:xfrm>
            <a:off x="777240" y="2057400"/>
            <a:ext cx="3063240" cy="502920"/>
          </a:xfrm>
          <a:prstGeom prst="rect">
            <a:avLst/>
          </a:prstGeom>
          <a:noFill/>
        </p:spPr>
        <p:txBody>
          <a:bodyPr wrap="square" lIns="0" rIns="0" tIns="0" bIns="0" anchor="t">
            <a:spAutoFit/>
          </a:bodyPr>
          <a:lstStyle/>
          <a:p>
            <a:pPr algn="l"/>
            <a:r>
              <a:rPr sz="2400" b="1" i="0">
                <a:solidFill>
                  <a:srgbClr val="FFFFFF"/>
                </a:solidFill>
                <a:latin typeface="Arial"/>
                <a:ea typeface="Microsoft YaHei"/>
                <a:cs typeface="Arial"/>
              </a:rPr>
              <a:t>人找货</a:t>
            </a:r>
          </a:p>
        </p:txBody>
      </p:sp>
      <p:sp>
        <p:nvSpPr>
          <p:cNvPr id="76" name="TextBox 75"/>
          <p:cNvSpPr txBox="1"/>
          <p:nvPr/>
        </p:nvSpPr>
        <p:spPr>
          <a:xfrm>
            <a:off x="777240" y="2743200"/>
            <a:ext cx="3063240" cy="1097280"/>
          </a:xfrm>
          <a:prstGeom prst="rect">
            <a:avLst/>
          </a:prstGeom>
          <a:noFill/>
        </p:spPr>
        <p:txBody>
          <a:bodyPr wrap="square" lIns="0" rIns="0" tIns="0" bIns="0" anchor="t">
            <a:spAutoFit/>
          </a:bodyPr>
          <a:lstStyle/>
          <a:p>
            <a:pPr algn="l"/>
            <a:r>
              <a:rPr sz="1300" b="0" i="0">
                <a:solidFill>
                  <a:srgbClr val="FFFFFF"/>
                </a:solidFill>
                <a:latin typeface="Arial"/>
                <a:ea typeface="Microsoft YaHei"/>
                <a:cs typeface="Arial"/>
              </a:rPr>
              <a:t>消费者先有明确需求，再去搜索、比价、下单。</a:t>
            </a:r>
          </a:p>
        </p:txBody>
      </p:sp>
      <p:sp>
        <p:nvSpPr>
          <p:cNvPr id="77" name="TextBox 76"/>
          <p:cNvSpPr txBox="1"/>
          <p:nvPr/>
        </p:nvSpPr>
        <p:spPr>
          <a:xfrm>
            <a:off x="777240" y="3931920"/>
            <a:ext cx="3063240" cy="1280160"/>
          </a:xfrm>
          <a:prstGeom prst="rect">
            <a:avLst/>
          </a:prstGeom>
          <a:noFill/>
        </p:spPr>
        <p:txBody>
          <a:bodyPr wrap="square" lIns="0" rIns="0" tIns="0" bIns="0" anchor="t">
            <a:spAutoFit/>
          </a:bodyPr>
          <a:lstStyle/>
          <a:p>
            <a:pPr algn="l">
              <a:spcAft>
                <a:spcPts val="200"/>
              </a:spcAft>
            </a:pPr>
            <a:r>
              <a:rPr sz="1000" b="1" i="0">
                <a:solidFill>
                  <a:srgbClr val="8C8C8C"/>
                </a:solidFill>
                <a:latin typeface="Arial"/>
                <a:ea typeface="Microsoft YaHei"/>
                <a:cs typeface="Arial"/>
              </a:rPr>
              <a:t>驱动因素</a:t>
            </a:r>
          </a:p>
          <a:p>
            <a:pPr algn="l">
              <a:spcAft>
                <a:spcPts val="200"/>
              </a:spcAft>
            </a:pPr>
            <a:r>
              <a:rPr sz="1300" b="0" i="0">
                <a:solidFill>
                  <a:srgbClr val="FFFFFF"/>
                </a:solidFill>
                <a:latin typeface="Arial"/>
                <a:ea typeface="Microsoft YaHei"/>
                <a:cs typeface="Arial"/>
              </a:rPr>
              <a:t>搜索、价格、评价</a:t>
            </a:r>
          </a:p>
          <a:p>
            <a:pPr algn="l">
              <a:spcAft>
                <a:spcPts val="200"/>
              </a:spcAft>
            </a:pPr>
            <a:r>
              <a:rPr sz="1000" b="1" i="0">
                <a:solidFill>
                  <a:srgbClr val="8C8C8C"/>
                </a:solidFill>
                <a:latin typeface="Arial"/>
                <a:ea typeface="Microsoft YaHei"/>
                <a:cs typeface="Arial"/>
              </a:rPr>
              <a:t>代表平台</a:t>
            </a:r>
          </a:p>
          <a:p>
            <a:pPr algn="l">
              <a:spcAft>
                <a:spcPts val="200"/>
              </a:spcAft>
            </a:pPr>
            <a:r>
              <a:rPr sz="1300" b="0" i="0">
                <a:solidFill>
                  <a:srgbClr val="FFFFFF"/>
                </a:solidFill>
                <a:latin typeface="Arial"/>
                <a:ea typeface="Microsoft YaHei"/>
                <a:cs typeface="Arial"/>
              </a:rPr>
              <a:t>淘宝、京东</a:t>
            </a:r>
          </a:p>
        </p:txBody>
      </p:sp>
      <p:sp>
        <p:nvSpPr>
          <p:cNvPr id="78" name="Rounded Rectangle 77"/>
          <p:cNvSpPr/>
          <p:nvPr/>
        </p:nvSpPr>
        <p:spPr>
          <a:xfrm>
            <a:off x="4325112" y="1691640"/>
            <a:ext cx="3566160" cy="3611880"/>
          </a:xfrm>
          <a:prstGeom prst="roundRect">
            <a:avLst>
              <a:gd name="adj" fmla="val 8000"/>
            </a:avLst>
          </a:prstGeom>
          <a:solidFill>
            <a:srgbClr val="0E0E0E"/>
          </a:solidFill>
          <a:ln w="15875">
            <a:solidFill>
              <a:srgbClr val="FE2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a:off x="4553712" y="1527048"/>
            <a:ext cx="995679" cy="329184"/>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50" b="1" i="0">
                <a:solidFill>
                  <a:srgbClr val="000000"/>
                </a:solidFill>
                <a:latin typeface="Arial"/>
                <a:ea typeface="Microsoft YaHei"/>
                <a:cs typeface="Arial"/>
              </a:rPr>
              <a:t>社交电商</a:t>
            </a:r>
          </a:p>
        </p:txBody>
      </p:sp>
      <p:sp>
        <p:nvSpPr>
          <p:cNvPr id="80" name="TextBox 79"/>
          <p:cNvSpPr txBox="1"/>
          <p:nvPr/>
        </p:nvSpPr>
        <p:spPr>
          <a:xfrm>
            <a:off x="4599431" y="2057400"/>
            <a:ext cx="3063240" cy="502920"/>
          </a:xfrm>
          <a:prstGeom prst="rect">
            <a:avLst/>
          </a:prstGeom>
          <a:noFill/>
        </p:spPr>
        <p:txBody>
          <a:bodyPr wrap="square" lIns="0" rIns="0" tIns="0" bIns="0" anchor="t">
            <a:spAutoFit/>
          </a:bodyPr>
          <a:lstStyle/>
          <a:p>
            <a:pPr algn="l"/>
            <a:r>
              <a:rPr sz="2400" b="1" i="0">
                <a:solidFill>
                  <a:srgbClr val="FE2C55"/>
                </a:solidFill>
                <a:latin typeface="Arial"/>
                <a:ea typeface="Microsoft YaHei"/>
                <a:cs typeface="Arial"/>
              </a:rPr>
              <a:t>人推荐货</a:t>
            </a:r>
          </a:p>
        </p:txBody>
      </p:sp>
      <p:sp>
        <p:nvSpPr>
          <p:cNvPr id="81" name="TextBox 80"/>
          <p:cNvSpPr txBox="1"/>
          <p:nvPr/>
        </p:nvSpPr>
        <p:spPr>
          <a:xfrm>
            <a:off x="4599431" y="2743200"/>
            <a:ext cx="3063240" cy="1097280"/>
          </a:xfrm>
          <a:prstGeom prst="rect">
            <a:avLst/>
          </a:prstGeom>
          <a:noFill/>
        </p:spPr>
        <p:txBody>
          <a:bodyPr wrap="square" lIns="0" rIns="0" tIns="0" bIns="0" anchor="t">
            <a:spAutoFit/>
          </a:bodyPr>
          <a:lstStyle/>
          <a:p>
            <a:pPr algn="l"/>
            <a:r>
              <a:rPr sz="1300" b="0" i="0">
                <a:solidFill>
                  <a:srgbClr val="FFFFFF"/>
                </a:solidFill>
                <a:latin typeface="Arial"/>
                <a:ea typeface="Microsoft YaHei"/>
                <a:cs typeface="Arial"/>
              </a:rPr>
              <a:t>借助社交媒体和用户互动来支持商品交易（Liang &amp; Turban, 2011）。</a:t>
            </a:r>
          </a:p>
        </p:txBody>
      </p:sp>
      <p:sp>
        <p:nvSpPr>
          <p:cNvPr id="82" name="TextBox 81"/>
          <p:cNvSpPr txBox="1"/>
          <p:nvPr/>
        </p:nvSpPr>
        <p:spPr>
          <a:xfrm>
            <a:off x="4599431" y="3931920"/>
            <a:ext cx="3063240" cy="1280160"/>
          </a:xfrm>
          <a:prstGeom prst="rect">
            <a:avLst/>
          </a:prstGeom>
          <a:noFill/>
        </p:spPr>
        <p:txBody>
          <a:bodyPr wrap="square" lIns="0" rIns="0" tIns="0" bIns="0" anchor="t">
            <a:spAutoFit/>
          </a:bodyPr>
          <a:lstStyle/>
          <a:p>
            <a:pPr algn="l">
              <a:spcAft>
                <a:spcPts val="200"/>
              </a:spcAft>
            </a:pPr>
            <a:r>
              <a:rPr sz="1000" b="1" i="0">
                <a:solidFill>
                  <a:srgbClr val="8C8C8C"/>
                </a:solidFill>
                <a:latin typeface="Arial"/>
                <a:ea typeface="Microsoft YaHei"/>
                <a:cs typeface="Arial"/>
              </a:rPr>
              <a:t>驱动因素</a:t>
            </a:r>
          </a:p>
          <a:p>
            <a:pPr algn="l">
              <a:spcAft>
                <a:spcPts val="200"/>
              </a:spcAft>
            </a:pPr>
            <a:r>
              <a:rPr sz="1300" b="0" i="0">
                <a:solidFill>
                  <a:srgbClr val="FFFFFF"/>
                </a:solidFill>
                <a:latin typeface="Arial"/>
                <a:ea typeface="Microsoft YaHei"/>
                <a:cs typeface="Arial"/>
              </a:rPr>
              <a:t>信任、社交关系、用户生成内容</a:t>
            </a:r>
          </a:p>
          <a:p>
            <a:pPr algn="l">
              <a:spcAft>
                <a:spcPts val="200"/>
              </a:spcAft>
            </a:pPr>
            <a:r>
              <a:rPr sz="1000" b="1" i="0">
                <a:solidFill>
                  <a:srgbClr val="8C8C8C"/>
                </a:solidFill>
                <a:latin typeface="Arial"/>
                <a:ea typeface="Microsoft YaHei"/>
                <a:cs typeface="Arial"/>
              </a:rPr>
              <a:t>代表平台</a:t>
            </a:r>
          </a:p>
          <a:p>
            <a:pPr algn="l">
              <a:spcAft>
                <a:spcPts val="200"/>
              </a:spcAft>
            </a:pPr>
            <a:r>
              <a:rPr sz="1300" b="0" i="0">
                <a:solidFill>
                  <a:srgbClr val="FFFFFF"/>
                </a:solidFill>
                <a:latin typeface="Arial"/>
                <a:ea typeface="Microsoft YaHei"/>
                <a:cs typeface="Arial"/>
              </a:rPr>
              <a:t>拼多多拼团、微信</a:t>
            </a:r>
          </a:p>
        </p:txBody>
      </p:sp>
      <p:sp>
        <p:nvSpPr>
          <p:cNvPr id="83" name="Rounded Rectangle 82"/>
          <p:cNvSpPr/>
          <p:nvPr/>
        </p:nvSpPr>
        <p:spPr>
          <a:xfrm>
            <a:off x="8147304" y="1691640"/>
            <a:ext cx="3566160" cy="3611880"/>
          </a:xfrm>
          <a:prstGeom prst="roundRect">
            <a:avLst>
              <a:gd name="adj" fmla="val 8000"/>
            </a:avLst>
          </a:prstGeom>
          <a:solidFill>
            <a:srgbClr val="0E0E0E"/>
          </a:solidFill>
          <a:ln w="285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ounded Rectangle 83"/>
          <p:cNvSpPr/>
          <p:nvPr/>
        </p:nvSpPr>
        <p:spPr>
          <a:xfrm>
            <a:off x="8375904" y="1527048"/>
            <a:ext cx="995679" cy="329184"/>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50" b="1" i="0">
                <a:solidFill>
                  <a:srgbClr val="000000"/>
                </a:solidFill>
                <a:latin typeface="Arial"/>
                <a:ea typeface="Microsoft YaHei"/>
                <a:cs typeface="Arial"/>
              </a:rPr>
              <a:t>兴趣电商</a:t>
            </a:r>
          </a:p>
        </p:txBody>
      </p:sp>
      <p:sp>
        <p:nvSpPr>
          <p:cNvPr id="85" name="TextBox 84"/>
          <p:cNvSpPr txBox="1"/>
          <p:nvPr/>
        </p:nvSpPr>
        <p:spPr>
          <a:xfrm>
            <a:off x="8421624" y="2057400"/>
            <a:ext cx="3063240" cy="502920"/>
          </a:xfrm>
          <a:prstGeom prst="rect">
            <a:avLst/>
          </a:prstGeom>
          <a:noFill/>
        </p:spPr>
        <p:txBody>
          <a:bodyPr wrap="square" lIns="0" rIns="0" tIns="0" bIns="0" anchor="t">
            <a:spAutoFit/>
          </a:bodyPr>
          <a:lstStyle/>
          <a:p>
            <a:pPr algn="l"/>
            <a:r>
              <a:rPr sz="2400" b="1" i="0">
                <a:solidFill>
                  <a:srgbClr val="25F4EE"/>
                </a:solidFill>
                <a:latin typeface="Arial"/>
                <a:ea typeface="Microsoft YaHei"/>
                <a:cs typeface="Arial"/>
              </a:rPr>
              <a:t>货找人</a:t>
            </a:r>
          </a:p>
        </p:txBody>
      </p:sp>
      <p:sp>
        <p:nvSpPr>
          <p:cNvPr id="86" name="TextBox 85"/>
          <p:cNvSpPr txBox="1"/>
          <p:nvPr/>
        </p:nvSpPr>
        <p:spPr>
          <a:xfrm>
            <a:off x="8421624" y="2743200"/>
            <a:ext cx="3063240" cy="1097280"/>
          </a:xfrm>
          <a:prstGeom prst="rect">
            <a:avLst/>
          </a:prstGeom>
          <a:noFill/>
        </p:spPr>
        <p:txBody>
          <a:bodyPr wrap="square" lIns="0" rIns="0" tIns="0" bIns="0" anchor="t">
            <a:spAutoFit/>
          </a:bodyPr>
          <a:lstStyle/>
          <a:p>
            <a:pPr algn="l"/>
            <a:r>
              <a:rPr sz="1300" b="0" i="0">
                <a:solidFill>
                  <a:srgbClr val="FFFFFF"/>
                </a:solidFill>
                <a:latin typeface="Arial"/>
                <a:ea typeface="Microsoft YaHei"/>
                <a:cs typeface="Arial"/>
              </a:rPr>
              <a:t>算法把商品内容推送给有潜在兴趣的用户，激发用户原本没有意识到的需求。</a:t>
            </a:r>
          </a:p>
        </p:txBody>
      </p:sp>
      <p:sp>
        <p:nvSpPr>
          <p:cNvPr id="87" name="TextBox 86"/>
          <p:cNvSpPr txBox="1"/>
          <p:nvPr/>
        </p:nvSpPr>
        <p:spPr>
          <a:xfrm>
            <a:off x="8421624" y="3931920"/>
            <a:ext cx="3063240" cy="1280160"/>
          </a:xfrm>
          <a:prstGeom prst="rect">
            <a:avLst/>
          </a:prstGeom>
          <a:noFill/>
        </p:spPr>
        <p:txBody>
          <a:bodyPr wrap="square" lIns="0" rIns="0" tIns="0" bIns="0" anchor="t">
            <a:spAutoFit/>
          </a:bodyPr>
          <a:lstStyle/>
          <a:p>
            <a:pPr algn="l">
              <a:spcAft>
                <a:spcPts val="200"/>
              </a:spcAft>
            </a:pPr>
            <a:r>
              <a:rPr sz="1000" b="1" i="0">
                <a:solidFill>
                  <a:srgbClr val="8C8C8C"/>
                </a:solidFill>
                <a:latin typeface="Arial"/>
                <a:ea typeface="Microsoft YaHei"/>
                <a:cs typeface="Arial"/>
              </a:rPr>
              <a:t>驱动因素</a:t>
            </a:r>
          </a:p>
          <a:p>
            <a:pPr algn="l">
              <a:spcAft>
                <a:spcPts val="200"/>
              </a:spcAft>
            </a:pPr>
            <a:r>
              <a:rPr sz="1300" b="0" i="0">
                <a:solidFill>
                  <a:srgbClr val="FFFFFF"/>
                </a:solidFill>
                <a:latin typeface="Arial"/>
                <a:ea typeface="Microsoft YaHei"/>
                <a:cs typeface="Arial"/>
              </a:rPr>
              <a:t>内容 + 推荐算法</a:t>
            </a:r>
          </a:p>
          <a:p>
            <a:pPr algn="l">
              <a:spcAft>
                <a:spcPts val="200"/>
              </a:spcAft>
            </a:pPr>
            <a:r>
              <a:rPr sz="1000" b="1" i="0">
                <a:solidFill>
                  <a:srgbClr val="8C8C8C"/>
                </a:solidFill>
                <a:latin typeface="Arial"/>
                <a:ea typeface="Microsoft YaHei"/>
                <a:cs typeface="Arial"/>
              </a:rPr>
              <a:t>代表平台</a:t>
            </a:r>
          </a:p>
          <a:p>
            <a:pPr algn="l">
              <a:spcAft>
                <a:spcPts val="200"/>
              </a:spcAft>
            </a:pPr>
            <a:r>
              <a:rPr sz="1300" b="0" i="0">
                <a:solidFill>
                  <a:srgbClr val="FFFFFF"/>
                </a:solidFill>
                <a:latin typeface="Arial"/>
                <a:ea typeface="Microsoft YaHei"/>
                <a:cs typeface="Arial"/>
              </a:rPr>
              <a:t>抖音（2021年提出该概念）</a:t>
            </a:r>
          </a:p>
        </p:txBody>
      </p:sp>
      <p:sp>
        <p:nvSpPr>
          <p:cNvPr id="88" name="TextBox 87"/>
          <p:cNvSpPr txBox="1"/>
          <p:nvPr/>
        </p:nvSpPr>
        <p:spPr>
          <a:xfrm>
            <a:off x="502920" y="5577840"/>
            <a:ext cx="11155680" cy="36576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抖音电商 = 社交电商 + 算法推荐：</a:t>
            </a:r>
            <a:r>
              <a:rPr sz="1500" b="0" i="0">
                <a:solidFill>
                  <a:srgbClr val="C9C9C9"/>
                </a:solidFill>
                <a:latin typeface="Arial"/>
                <a:ea typeface="Microsoft YaHei"/>
                <a:cs typeface="Arial"/>
              </a:rPr>
              <a:t>用户在</a:t>
            </a:r>
            <a:r>
              <a:rPr sz="1500" b="1" i="0">
                <a:solidFill>
                  <a:srgbClr val="25F4EE"/>
                </a:solidFill>
                <a:latin typeface="Arial"/>
                <a:ea typeface="Microsoft YaHei"/>
                <a:cs typeface="Arial"/>
              </a:rPr>
              <a:t>“看”</a:t>
            </a:r>
            <a:r>
              <a:rPr sz="1500" b="0" i="0">
                <a:solidFill>
                  <a:srgbClr val="C9C9C9"/>
                </a:solidFill>
                <a:latin typeface="Arial"/>
                <a:ea typeface="Microsoft YaHei"/>
                <a:cs typeface="Arial"/>
              </a:rPr>
              <a:t>的过程中就完成了</a:t>
            </a:r>
            <a:r>
              <a:rPr sz="1500" b="1" i="0">
                <a:solidFill>
                  <a:srgbClr val="FE2C55"/>
                </a:solidFill>
                <a:latin typeface="Arial"/>
                <a:ea typeface="Microsoft YaHei"/>
                <a:cs typeface="Arial"/>
              </a:rPr>
              <a:t>“买”</a:t>
            </a:r>
            <a:r>
              <a:rPr sz="1500" b="0" i="0">
                <a:solidFill>
                  <a:srgbClr val="C9C9C9"/>
                </a:solidFill>
                <a:latin typeface="Arial"/>
                <a:ea typeface="Microsoft YaHei"/>
                <a:cs typeface="Arial"/>
              </a:rPr>
              <a:t>。</a:t>
            </a:r>
          </a:p>
        </p:txBody>
      </p:sp>
      <p:sp>
        <p:nvSpPr>
          <p:cNvPr id="89" name="TextBox 88"/>
          <p:cNvSpPr txBox="1"/>
          <p:nvPr/>
        </p:nvSpPr>
        <p:spPr>
          <a:xfrm>
            <a:off x="3429000" y="6419088"/>
            <a:ext cx="822960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资料来源：</a:t>
            </a:r>
            <a:r>
              <a:rPr sz="700" b="0" i="0">
                <a:solidFill>
                  <a:srgbClr val="8C8C8C"/>
                </a:solidFill>
                <a:latin typeface="Arial"/>
                <a:ea typeface="Microsoft YaHei"/>
                <a:cs typeface="Arial"/>
                <a:hlinkClick r:id="rId15">
                  <a:extLst>
                    <a:ext uri="{A12FA001-AC4F-418D-AE19-62706E023703}">
                      <ahyp:hlinkClr xmlns:ahyp="http://schemas.microsoft.com/office/drawing/2018/hyperlinkcolor" val="tx"/>
                    </a:ext>
                  </a:extLst>
                </a:hlinkClick>
              </a:rPr>
              <a:t>Liang &amp; Turban (2011), Int. J. Electronic Commerce 16(2)</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6">
                  <a:extLst>
                    <a:ext uri="{A12FA001-AC4F-418D-AE19-62706E023703}">
                      <ahyp:hlinkClr xmlns:ahyp="http://schemas.microsoft.com/office/drawing/2018/hyperlinkcolor" val="tx"/>
                    </a:ext>
                  </a:extLst>
                </a:hlinkClick>
              </a:rPr>
              <a:t>Huang &amp; Benyoucef (2013), ECRA 12(4)</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7">
                  <a:extLst>
                    <a:ext uri="{A12FA001-AC4F-418D-AE19-62706E023703}">
                      <ahyp:hlinkClr xmlns:ahyp="http://schemas.microsoft.com/office/drawing/2018/hyperlinkcolor" val="tx"/>
                    </a:ext>
                  </a:extLst>
                </a:hlinkClick>
              </a:rPr>
              <a:t>雷锋网：首届抖音电商生态大会（2021）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object 3"/>
          <p:cNvPicPr/>
          <p:nvPr/>
        </p:nvPicPr>
        <p:blipFill>
          <a:blip r:embed="rId1" cstate="print"/>
          <a:stretch>
            <a:fillRect/>
          </a:stretch>
        </p:blipFill>
        <p:spPr>
          <a:xfrm>
            <a:off x="11722707" y="222771"/>
            <a:ext cx="202335" cy="231891"/>
          </a:xfrm>
          <a:prstGeom prst="rect">
            <a:avLst/>
          </a:prstGeom>
        </p:spPr>
      </p:pic>
      <p:grpSp>
        <p:nvGrpSpPr>
          <p:cNvPr id="4" name="object 4"/>
          <p:cNvGrpSpPr/>
          <p:nvPr/>
        </p:nvGrpSpPr>
        <p:grpSpPr>
          <a:xfrm>
            <a:off x="3396000" y="2267333"/>
            <a:ext cx="6644640" cy="3617807"/>
            <a:chOff x="2547000" y="1700500"/>
            <a:chExt cx="4983480" cy="2713355"/>
          </a:xfrm>
        </p:grpSpPr>
        <p:sp>
          <p:nvSpPr>
            <p:cNvPr id="5" name="object 5"/>
            <p:cNvSpPr/>
            <p:nvPr/>
          </p:nvSpPr>
          <p:spPr>
            <a:xfrm>
              <a:off x="2561288" y="1920175"/>
              <a:ext cx="4954905" cy="2479675"/>
            </a:xfrm>
            <a:custGeom>
              <a:avLst/>
              <a:gdLst/>
              <a:ahLst/>
              <a:cxnLst/>
              <a:rect l="l" t="t" r="r" b="b"/>
              <a:pathLst>
                <a:path w="4954905" h="2479675">
                  <a:moveTo>
                    <a:pt x="4954649" y="0"/>
                  </a:moveTo>
                  <a:lnTo>
                    <a:pt x="4954649" y="2479199"/>
                  </a:lnTo>
                </a:path>
                <a:path w="4954905" h="2479675">
                  <a:moveTo>
                    <a:pt x="0" y="2053849"/>
                  </a:moveTo>
                  <a:lnTo>
                    <a:pt x="3990599" y="2053849"/>
                  </a:lnTo>
                </a:path>
                <a:path w="4954905" h="2479675">
                  <a:moveTo>
                    <a:pt x="12849" y="409949"/>
                  </a:moveTo>
                  <a:lnTo>
                    <a:pt x="4003449" y="409949"/>
                  </a:lnTo>
                </a:path>
              </a:pathLst>
            </a:custGeom>
            <a:ln w="28574">
              <a:solidFill>
                <a:srgbClr val="3BFFF4"/>
              </a:solidFill>
              <a:prstDash val="lgDash"/>
            </a:ln>
          </p:spPr>
          <p:txBody>
            <a:bodyPr wrap="square" lIns="0" tIns="0" rIns="0" bIns="0" rtlCol="0"/>
            <a:lstStyle/>
            <a:p>
              <a:endParaRPr sz="2400"/>
            </a:p>
          </p:txBody>
        </p:sp>
        <p:sp>
          <p:nvSpPr>
            <p:cNvPr id="6" name="object 6"/>
            <p:cNvSpPr/>
            <p:nvPr/>
          </p:nvSpPr>
          <p:spPr>
            <a:xfrm>
              <a:off x="3509399" y="1710025"/>
              <a:ext cx="2112645" cy="1149985"/>
            </a:xfrm>
            <a:custGeom>
              <a:avLst/>
              <a:gdLst/>
              <a:ahLst/>
              <a:cxnLst/>
              <a:rect l="l" t="t" r="r" b="b"/>
              <a:pathLst>
                <a:path w="2112645" h="1149985">
                  <a:moveTo>
                    <a:pt x="2041427" y="1149599"/>
                  </a:moveTo>
                  <a:lnTo>
                    <a:pt x="70872" y="1149599"/>
                  </a:lnTo>
                  <a:lnTo>
                    <a:pt x="43285" y="1144030"/>
                  </a:lnTo>
                  <a:lnTo>
                    <a:pt x="20758" y="1128841"/>
                  </a:lnTo>
                  <a:lnTo>
                    <a:pt x="5569" y="1106314"/>
                  </a:lnTo>
                  <a:lnTo>
                    <a:pt x="0" y="1078727"/>
                  </a:lnTo>
                  <a:lnTo>
                    <a:pt x="0" y="70872"/>
                  </a:lnTo>
                  <a:lnTo>
                    <a:pt x="5475" y="43751"/>
                  </a:lnTo>
                  <a:lnTo>
                    <a:pt x="5569" y="43285"/>
                  </a:lnTo>
                  <a:lnTo>
                    <a:pt x="20758" y="20758"/>
                  </a:lnTo>
                  <a:lnTo>
                    <a:pt x="43285" y="5569"/>
                  </a:lnTo>
                  <a:lnTo>
                    <a:pt x="70872" y="0"/>
                  </a:lnTo>
                  <a:lnTo>
                    <a:pt x="2041427" y="0"/>
                  </a:lnTo>
                  <a:lnTo>
                    <a:pt x="2080747" y="11907"/>
                  </a:lnTo>
                  <a:lnTo>
                    <a:pt x="2106905" y="43751"/>
                  </a:lnTo>
                  <a:lnTo>
                    <a:pt x="2112299" y="70872"/>
                  </a:lnTo>
                  <a:lnTo>
                    <a:pt x="2112299" y="1078727"/>
                  </a:lnTo>
                  <a:lnTo>
                    <a:pt x="2106730" y="1106314"/>
                  </a:lnTo>
                  <a:lnTo>
                    <a:pt x="2091541" y="1128841"/>
                  </a:lnTo>
                  <a:lnTo>
                    <a:pt x="2069014" y="1144030"/>
                  </a:lnTo>
                  <a:lnTo>
                    <a:pt x="2041427" y="1149599"/>
                  </a:lnTo>
                  <a:close/>
                </a:path>
              </a:pathLst>
            </a:custGeom>
            <a:solidFill>
              <a:srgbClr val="000000"/>
            </a:solidFill>
          </p:spPr>
          <p:txBody>
            <a:bodyPr wrap="square" lIns="0" tIns="0" rIns="0" bIns="0" rtlCol="0"/>
            <a:lstStyle/>
            <a:p>
              <a:endParaRPr sz="2400"/>
            </a:p>
          </p:txBody>
        </p:sp>
        <p:sp>
          <p:nvSpPr>
            <p:cNvPr id="7" name="object 7"/>
            <p:cNvSpPr/>
            <p:nvPr/>
          </p:nvSpPr>
          <p:spPr>
            <a:xfrm>
              <a:off x="3509399" y="1710025"/>
              <a:ext cx="2112645" cy="1149985"/>
            </a:xfrm>
            <a:custGeom>
              <a:avLst/>
              <a:gdLst/>
              <a:ahLst/>
              <a:cxnLst/>
              <a:rect l="l" t="t" r="r" b="b"/>
              <a:pathLst>
                <a:path w="2112645" h="1149985">
                  <a:moveTo>
                    <a:pt x="0" y="70872"/>
                  </a:moveTo>
                  <a:lnTo>
                    <a:pt x="5569" y="43285"/>
                  </a:lnTo>
                  <a:lnTo>
                    <a:pt x="20758" y="20758"/>
                  </a:lnTo>
                  <a:lnTo>
                    <a:pt x="43285" y="5569"/>
                  </a:lnTo>
                  <a:lnTo>
                    <a:pt x="70872" y="0"/>
                  </a:lnTo>
                  <a:lnTo>
                    <a:pt x="2041427" y="0"/>
                  </a:lnTo>
                  <a:lnTo>
                    <a:pt x="2080747" y="11907"/>
                  </a:lnTo>
                  <a:lnTo>
                    <a:pt x="2106905" y="43751"/>
                  </a:lnTo>
                  <a:lnTo>
                    <a:pt x="2112299" y="70872"/>
                  </a:lnTo>
                  <a:lnTo>
                    <a:pt x="2112299" y="1078727"/>
                  </a:lnTo>
                  <a:lnTo>
                    <a:pt x="2106730" y="1106314"/>
                  </a:lnTo>
                  <a:lnTo>
                    <a:pt x="2091541" y="1128841"/>
                  </a:lnTo>
                  <a:lnTo>
                    <a:pt x="2069014" y="1144030"/>
                  </a:lnTo>
                  <a:lnTo>
                    <a:pt x="2041427" y="1149599"/>
                  </a:lnTo>
                  <a:lnTo>
                    <a:pt x="70872" y="1149599"/>
                  </a:lnTo>
                  <a:lnTo>
                    <a:pt x="43285" y="1144030"/>
                  </a:lnTo>
                  <a:lnTo>
                    <a:pt x="20758" y="1128841"/>
                  </a:lnTo>
                  <a:lnTo>
                    <a:pt x="5569" y="1106314"/>
                  </a:lnTo>
                  <a:lnTo>
                    <a:pt x="0" y="1078727"/>
                  </a:lnTo>
                  <a:lnTo>
                    <a:pt x="0" y="70872"/>
                  </a:lnTo>
                  <a:close/>
                </a:path>
              </a:pathLst>
            </a:custGeom>
            <a:ln w="19049">
              <a:solidFill>
                <a:srgbClr val="3BFFF4"/>
              </a:solidFill>
            </a:ln>
          </p:spPr>
          <p:txBody>
            <a:bodyPr wrap="square" lIns="0" tIns="0" rIns="0" bIns="0" rtlCol="0"/>
            <a:lstStyle/>
            <a:p>
              <a:endParaRPr sz="2400"/>
            </a:p>
          </p:txBody>
        </p:sp>
      </p:grpSp>
      <p:grpSp>
        <p:nvGrpSpPr>
          <p:cNvPr id="10" name="object 10"/>
          <p:cNvGrpSpPr/>
          <p:nvPr/>
        </p:nvGrpSpPr>
        <p:grpSpPr>
          <a:xfrm>
            <a:off x="8549116" y="4363516"/>
            <a:ext cx="2842260" cy="1679787"/>
            <a:chOff x="6411837" y="3272637"/>
            <a:chExt cx="2131695" cy="1259840"/>
          </a:xfrm>
        </p:grpSpPr>
        <p:sp>
          <p:nvSpPr>
            <p:cNvPr id="11" name="object 11"/>
            <p:cNvSpPr/>
            <p:nvPr/>
          </p:nvSpPr>
          <p:spPr>
            <a:xfrm>
              <a:off x="6421362" y="3282162"/>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12" name="object 12"/>
            <p:cNvSpPr/>
            <p:nvPr/>
          </p:nvSpPr>
          <p:spPr>
            <a:xfrm>
              <a:off x="6421362" y="3282162"/>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14" name="object 14"/>
          <p:cNvGrpSpPr/>
          <p:nvPr/>
        </p:nvGrpSpPr>
        <p:grpSpPr>
          <a:xfrm>
            <a:off x="801084" y="2267333"/>
            <a:ext cx="2847340" cy="1679787"/>
            <a:chOff x="600813" y="1700500"/>
            <a:chExt cx="2135505" cy="1259840"/>
          </a:xfrm>
        </p:grpSpPr>
        <p:sp>
          <p:nvSpPr>
            <p:cNvPr id="15" name="object 15"/>
            <p:cNvSpPr/>
            <p:nvPr/>
          </p:nvSpPr>
          <p:spPr>
            <a:xfrm>
              <a:off x="610338" y="1710025"/>
              <a:ext cx="2116455" cy="1240790"/>
            </a:xfrm>
            <a:custGeom>
              <a:avLst/>
              <a:gdLst/>
              <a:ahLst/>
              <a:cxnLst/>
              <a:rect l="l" t="t" r="r" b="b"/>
              <a:pathLst>
                <a:path w="2116455" h="1240789">
                  <a:moveTo>
                    <a:pt x="20397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9741" y="0"/>
                  </a:lnTo>
                  <a:lnTo>
                    <a:pt x="2082160" y="12845"/>
                  </a:lnTo>
                  <a:lnTo>
                    <a:pt x="2110379" y="47198"/>
                  </a:lnTo>
                  <a:lnTo>
                    <a:pt x="2116200" y="76458"/>
                  </a:lnTo>
                  <a:lnTo>
                    <a:pt x="2116200" y="1163741"/>
                  </a:lnTo>
                  <a:lnTo>
                    <a:pt x="2110191" y="1193502"/>
                  </a:lnTo>
                  <a:lnTo>
                    <a:pt x="2093805" y="1217805"/>
                  </a:lnTo>
                  <a:lnTo>
                    <a:pt x="2069502" y="1234191"/>
                  </a:lnTo>
                  <a:lnTo>
                    <a:pt x="2039741" y="1240199"/>
                  </a:lnTo>
                  <a:close/>
                </a:path>
              </a:pathLst>
            </a:custGeom>
            <a:solidFill>
              <a:srgbClr val="000000"/>
            </a:solidFill>
          </p:spPr>
          <p:txBody>
            <a:bodyPr wrap="square" lIns="0" tIns="0" rIns="0" bIns="0" rtlCol="0"/>
            <a:lstStyle/>
            <a:p>
              <a:endParaRPr sz="2400"/>
            </a:p>
          </p:txBody>
        </p:sp>
        <p:sp>
          <p:nvSpPr>
            <p:cNvPr id="16" name="object 16"/>
            <p:cNvSpPr/>
            <p:nvPr/>
          </p:nvSpPr>
          <p:spPr>
            <a:xfrm>
              <a:off x="610338" y="1710025"/>
              <a:ext cx="2116455" cy="1240790"/>
            </a:xfrm>
            <a:custGeom>
              <a:avLst/>
              <a:gdLst/>
              <a:ahLst/>
              <a:cxnLst/>
              <a:rect l="l" t="t" r="r" b="b"/>
              <a:pathLst>
                <a:path w="2116455" h="1240789">
                  <a:moveTo>
                    <a:pt x="0" y="76458"/>
                  </a:moveTo>
                  <a:lnTo>
                    <a:pt x="6008" y="46697"/>
                  </a:lnTo>
                  <a:lnTo>
                    <a:pt x="22394" y="22394"/>
                  </a:lnTo>
                  <a:lnTo>
                    <a:pt x="46697" y="6008"/>
                  </a:lnTo>
                  <a:lnTo>
                    <a:pt x="76458" y="0"/>
                  </a:lnTo>
                  <a:lnTo>
                    <a:pt x="2039741" y="0"/>
                  </a:lnTo>
                  <a:lnTo>
                    <a:pt x="2082160" y="12845"/>
                  </a:lnTo>
                  <a:lnTo>
                    <a:pt x="2110379" y="47198"/>
                  </a:lnTo>
                  <a:lnTo>
                    <a:pt x="2116200" y="76458"/>
                  </a:lnTo>
                  <a:lnTo>
                    <a:pt x="2116200" y="1163741"/>
                  </a:lnTo>
                  <a:lnTo>
                    <a:pt x="2110191" y="1193502"/>
                  </a:lnTo>
                  <a:lnTo>
                    <a:pt x="2093805" y="1217805"/>
                  </a:lnTo>
                  <a:lnTo>
                    <a:pt x="2069502" y="1234191"/>
                  </a:lnTo>
                  <a:lnTo>
                    <a:pt x="20397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18" name="object 18"/>
          <p:cNvGrpSpPr/>
          <p:nvPr/>
        </p:nvGrpSpPr>
        <p:grpSpPr>
          <a:xfrm>
            <a:off x="8526732" y="2267333"/>
            <a:ext cx="2842260" cy="1679787"/>
            <a:chOff x="6395049" y="1700500"/>
            <a:chExt cx="2131695" cy="1259840"/>
          </a:xfrm>
        </p:grpSpPr>
        <p:sp>
          <p:nvSpPr>
            <p:cNvPr id="19" name="object 19"/>
            <p:cNvSpPr/>
            <p:nvPr/>
          </p:nvSpPr>
          <p:spPr>
            <a:xfrm>
              <a:off x="6404574" y="1710025"/>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1" y="12845"/>
                  </a:lnTo>
                  <a:lnTo>
                    <a:pt x="2106479" y="47198"/>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20" name="object 20"/>
            <p:cNvSpPr/>
            <p:nvPr/>
          </p:nvSpPr>
          <p:spPr>
            <a:xfrm>
              <a:off x="6404574" y="1710025"/>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1" y="12845"/>
                  </a:lnTo>
                  <a:lnTo>
                    <a:pt x="2106479" y="47198"/>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22" name="object 22"/>
          <p:cNvGrpSpPr/>
          <p:nvPr/>
        </p:nvGrpSpPr>
        <p:grpSpPr>
          <a:xfrm>
            <a:off x="4654565" y="4363500"/>
            <a:ext cx="2842260" cy="1679787"/>
            <a:chOff x="3490924" y="3272625"/>
            <a:chExt cx="2131695" cy="1259840"/>
          </a:xfrm>
        </p:grpSpPr>
        <p:sp>
          <p:nvSpPr>
            <p:cNvPr id="23" name="object 23"/>
            <p:cNvSpPr/>
            <p:nvPr/>
          </p:nvSpPr>
          <p:spPr>
            <a:xfrm>
              <a:off x="3500449" y="3282150"/>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24" name="object 24"/>
            <p:cNvSpPr/>
            <p:nvPr/>
          </p:nvSpPr>
          <p:spPr>
            <a:xfrm>
              <a:off x="3500449" y="3282150"/>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27" name="object 27"/>
          <p:cNvGrpSpPr/>
          <p:nvPr/>
        </p:nvGrpSpPr>
        <p:grpSpPr>
          <a:xfrm>
            <a:off x="801100" y="4363516"/>
            <a:ext cx="2842260" cy="1679787"/>
            <a:chOff x="600825" y="3272637"/>
            <a:chExt cx="2131695" cy="1259840"/>
          </a:xfrm>
        </p:grpSpPr>
        <p:sp>
          <p:nvSpPr>
            <p:cNvPr id="28" name="object 28"/>
            <p:cNvSpPr/>
            <p:nvPr/>
          </p:nvSpPr>
          <p:spPr>
            <a:xfrm>
              <a:off x="610350" y="3282162"/>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29" name="object 29"/>
            <p:cNvSpPr/>
            <p:nvPr/>
          </p:nvSpPr>
          <p:spPr>
            <a:xfrm>
              <a:off x="610350" y="3282162"/>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32" name="object 32"/>
          <p:cNvGrpSpPr/>
          <p:nvPr/>
        </p:nvGrpSpPr>
        <p:grpSpPr>
          <a:xfrm>
            <a:off x="4918195" y="2070192"/>
            <a:ext cx="422487" cy="419947"/>
            <a:chOff x="3688646" y="1552644"/>
            <a:chExt cx="316865" cy="314960"/>
          </a:xfrm>
        </p:grpSpPr>
        <p:sp>
          <p:nvSpPr>
            <p:cNvPr id="33" name="object 33"/>
            <p:cNvSpPr/>
            <p:nvPr/>
          </p:nvSpPr>
          <p:spPr>
            <a:xfrm>
              <a:off x="3698171" y="1562169"/>
              <a:ext cx="297815" cy="295910"/>
            </a:xfrm>
            <a:custGeom>
              <a:avLst/>
              <a:gdLst/>
              <a:ahLst/>
              <a:cxnLst/>
              <a:rect l="l" t="t" r="r" b="b"/>
              <a:pathLst>
                <a:path w="297814" h="295910">
                  <a:moveTo>
                    <a:pt x="148649" y="295799"/>
                  </a:moveTo>
                  <a:lnTo>
                    <a:pt x="101665" y="288259"/>
                  </a:lnTo>
                  <a:lnTo>
                    <a:pt x="60859" y="267263"/>
                  </a:lnTo>
                  <a:lnTo>
                    <a:pt x="28680" y="235247"/>
                  </a:lnTo>
                  <a:lnTo>
                    <a:pt x="7578" y="194647"/>
                  </a:lnTo>
                  <a:lnTo>
                    <a:pt x="0" y="147899"/>
                  </a:lnTo>
                  <a:lnTo>
                    <a:pt x="7578" y="101152"/>
                  </a:lnTo>
                  <a:lnTo>
                    <a:pt x="28680" y="60552"/>
                  </a:lnTo>
                  <a:lnTo>
                    <a:pt x="60859" y="28536"/>
                  </a:lnTo>
                  <a:lnTo>
                    <a:pt x="101665" y="7540"/>
                  </a:lnTo>
                  <a:lnTo>
                    <a:pt x="148649" y="0"/>
                  </a:lnTo>
                  <a:lnTo>
                    <a:pt x="177785" y="2868"/>
                  </a:lnTo>
                  <a:lnTo>
                    <a:pt x="231121" y="24848"/>
                  </a:lnTo>
                  <a:lnTo>
                    <a:pt x="272325" y="65845"/>
                  </a:lnTo>
                  <a:lnTo>
                    <a:pt x="294417" y="118911"/>
                  </a:lnTo>
                  <a:lnTo>
                    <a:pt x="297299" y="147899"/>
                  </a:lnTo>
                  <a:lnTo>
                    <a:pt x="289721" y="194647"/>
                  </a:lnTo>
                  <a:lnTo>
                    <a:pt x="268619" y="235247"/>
                  </a:lnTo>
                  <a:lnTo>
                    <a:pt x="236440" y="267263"/>
                  </a:lnTo>
                  <a:lnTo>
                    <a:pt x="195634" y="288259"/>
                  </a:lnTo>
                  <a:lnTo>
                    <a:pt x="148649" y="295799"/>
                  </a:lnTo>
                  <a:close/>
                </a:path>
              </a:pathLst>
            </a:custGeom>
            <a:solidFill>
              <a:srgbClr val="3BFFF4"/>
            </a:solidFill>
          </p:spPr>
          <p:txBody>
            <a:bodyPr wrap="square" lIns="0" tIns="0" rIns="0" bIns="0" rtlCol="0"/>
            <a:lstStyle/>
            <a:p>
              <a:endParaRPr sz="2400"/>
            </a:p>
          </p:txBody>
        </p:sp>
        <p:sp>
          <p:nvSpPr>
            <p:cNvPr id="34" name="object 34"/>
            <p:cNvSpPr/>
            <p:nvPr/>
          </p:nvSpPr>
          <p:spPr>
            <a:xfrm>
              <a:off x="3698171" y="1562169"/>
              <a:ext cx="297815" cy="295910"/>
            </a:xfrm>
            <a:custGeom>
              <a:avLst/>
              <a:gdLst/>
              <a:ahLst/>
              <a:cxnLst/>
              <a:rect l="l" t="t" r="r" b="b"/>
              <a:pathLst>
                <a:path w="297814" h="295910">
                  <a:moveTo>
                    <a:pt x="0" y="147899"/>
                  </a:moveTo>
                  <a:lnTo>
                    <a:pt x="7578" y="101152"/>
                  </a:lnTo>
                  <a:lnTo>
                    <a:pt x="28680" y="60552"/>
                  </a:lnTo>
                  <a:lnTo>
                    <a:pt x="60859" y="28536"/>
                  </a:lnTo>
                  <a:lnTo>
                    <a:pt x="101665" y="7540"/>
                  </a:lnTo>
                  <a:lnTo>
                    <a:pt x="148649" y="0"/>
                  </a:lnTo>
                  <a:lnTo>
                    <a:pt x="205536" y="11258"/>
                  </a:lnTo>
                  <a:lnTo>
                    <a:pt x="253761" y="43318"/>
                  </a:lnTo>
                  <a:lnTo>
                    <a:pt x="285984" y="91301"/>
                  </a:lnTo>
                  <a:lnTo>
                    <a:pt x="297299" y="147899"/>
                  </a:lnTo>
                  <a:lnTo>
                    <a:pt x="289721" y="194647"/>
                  </a:lnTo>
                  <a:lnTo>
                    <a:pt x="268619" y="235247"/>
                  </a:lnTo>
                  <a:lnTo>
                    <a:pt x="236440" y="267263"/>
                  </a:lnTo>
                  <a:lnTo>
                    <a:pt x="195634" y="288259"/>
                  </a:lnTo>
                  <a:lnTo>
                    <a:pt x="148649" y="295799"/>
                  </a:lnTo>
                  <a:lnTo>
                    <a:pt x="101665" y="288259"/>
                  </a:lnTo>
                  <a:lnTo>
                    <a:pt x="60859" y="267263"/>
                  </a:lnTo>
                  <a:lnTo>
                    <a:pt x="28680" y="235247"/>
                  </a:lnTo>
                  <a:lnTo>
                    <a:pt x="7578" y="194647"/>
                  </a:lnTo>
                  <a:lnTo>
                    <a:pt x="0" y="147899"/>
                  </a:lnTo>
                  <a:close/>
                </a:path>
              </a:pathLst>
            </a:custGeom>
            <a:ln w="19049">
              <a:solidFill>
                <a:srgbClr val="3BFFF4"/>
              </a:solidFill>
            </a:ln>
          </p:spPr>
          <p:txBody>
            <a:bodyPr wrap="square" lIns="0" tIns="0" rIns="0" bIns="0" rtlCol="0"/>
            <a:lstStyle/>
            <a:p>
              <a:endParaRPr sz="2400"/>
            </a:p>
          </p:txBody>
        </p:sp>
      </p:grpSp>
      <p:sp>
        <p:nvSpPr>
          <p:cNvPr id="35" name="object 35"/>
          <p:cNvSpPr txBox="1"/>
          <p:nvPr/>
        </p:nvSpPr>
        <p:spPr>
          <a:xfrm>
            <a:off x="4922448" y="2141408"/>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latin typeface="Tahoma" panose="020B0804030504040204"/>
                <a:cs typeface="Tahoma" panose="020B0804030504040204"/>
              </a:rPr>
              <a:t>02</a:t>
            </a:r>
            <a:endParaRPr sz="1465">
              <a:latin typeface="Tahoma" panose="020B0804030504040204"/>
              <a:cs typeface="Tahoma" panose="020B0804030504040204"/>
            </a:endParaRPr>
          </a:p>
        </p:txBody>
      </p:sp>
      <p:grpSp>
        <p:nvGrpSpPr>
          <p:cNvPr id="36" name="object 36"/>
          <p:cNvGrpSpPr/>
          <p:nvPr/>
        </p:nvGrpSpPr>
        <p:grpSpPr>
          <a:xfrm>
            <a:off x="8800321" y="4172117"/>
            <a:ext cx="422487" cy="419947"/>
            <a:chOff x="6600241" y="3129088"/>
            <a:chExt cx="316865" cy="314960"/>
          </a:xfrm>
        </p:grpSpPr>
        <p:sp>
          <p:nvSpPr>
            <p:cNvPr id="37" name="object 37"/>
            <p:cNvSpPr/>
            <p:nvPr/>
          </p:nvSpPr>
          <p:spPr>
            <a:xfrm>
              <a:off x="6609766" y="3138613"/>
              <a:ext cx="297815" cy="295910"/>
            </a:xfrm>
            <a:custGeom>
              <a:avLst/>
              <a:gdLst/>
              <a:ahLst/>
              <a:cxnLst/>
              <a:rect l="l" t="t" r="r" b="b"/>
              <a:pathLst>
                <a:path w="297815" h="295910">
                  <a:moveTo>
                    <a:pt x="148649" y="295800"/>
                  </a:moveTo>
                  <a:lnTo>
                    <a:pt x="101664" y="288260"/>
                  </a:lnTo>
                  <a:lnTo>
                    <a:pt x="60858" y="267264"/>
                  </a:lnTo>
                  <a:lnTo>
                    <a:pt x="28680" y="235247"/>
                  </a:lnTo>
                  <a:lnTo>
                    <a:pt x="7578" y="194648"/>
                  </a:lnTo>
                  <a:lnTo>
                    <a:pt x="0" y="147900"/>
                  </a:lnTo>
                  <a:lnTo>
                    <a:pt x="7578" y="101152"/>
                  </a:lnTo>
                  <a:lnTo>
                    <a:pt x="28680" y="60552"/>
                  </a:lnTo>
                  <a:lnTo>
                    <a:pt x="60858" y="28536"/>
                  </a:lnTo>
                  <a:lnTo>
                    <a:pt x="101664" y="7540"/>
                  </a:lnTo>
                  <a:lnTo>
                    <a:pt x="148649" y="0"/>
                  </a:lnTo>
                  <a:lnTo>
                    <a:pt x="177785" y="2868"/>
                  </a:lnTo>
                  <a:lnTo>
                    <a:pt x="231120" y="24849"/>
                  </a:lnTo>
                  <a:lnTo>
                    <a:pt x="272324" y="65845"/>
                  </a:lnTo>
                  <a:lnTo>
                    <a:pt x="294417" y="118911"/>
                  </a:lnTo>
                  <a:lnTo>
                    <a:pt x="297299" y="147900"/>
                  </a:lnTo>
                  <a:lnTo>
                    <a:pt x="289721" y="194648"/>
                  </a:lnTo>
                  <a:lnTo>
                    <a:pt x="268619" y="235247"/>
                  </a:lnTo>
                  <a:lnTo>
                    <a:pt x="236440" y="267264"/>
                  </a:lnTo>
                  <a:lnTo>
                    <a:pt x="195634" y="288260"/>
                  </a:lnTo>
                  <a:lnTo>
                    <a:pt x="148649" y="295800"/>
                  </a:lnTo>
                  <a:close/>
                </a:path>
              </a:pathLst>
            </a:custGeom>
            <a:solidFill>
              <a:srgbClr val="3BFFF4"/>
            </a:solidFill>
          </p:spPr>
          <p:txBody>
            <a:bodyPr wrap="square" lIns="0" tIns="0" rIns="0" bIns="0" rtlCol="0"/>
            <a:lstStyle/>
            <a:p>
              <a:endParaRPr sz="2400"/>
            </a:p>
          </p:txBody>
        </p:sp>
        <p:sp>
          <p:nvSpPr>
            <p:cNvPr id="38" name="object 38"/>
            <p:cNvSpPr/>
            <p:nvPr/>
          </p:nvSpPr>
          <p:spPr>
            <a:xfrm>
              <a:off x="6609766" y="3138613"/>
              <a:ext cx="297815" cy="295910"/>
            </a:xfrm>
            <a:custGeom>
              <a:avLst/>
              <a:gdLst/>
              <a:ahLst/>
              <a:cxnLst/>
              <a:rect l="l" t="t" r="r" b="b"/>
              <a:pathLst>
                <a:path w="297815" h="295910">
                  <a:moveTo>
                    <a:pt x="0" y="147900"/>
                  </a:moveTo>
                  <a:lnTo>
                    <a:pt x="7578" y="101152"/>
                  </a:lnTo>
                  <a:lnTo>
                    <a:pt x="28680" y="60552"/>
                  </a:lnTo>
                  <a:lnTo>
                    <a:pt x="60858" y="28536"/>
                  </a:lnTo>
                  <a:lnTo>
                    <a:pt x="101664" y="7540"/>
                  </a:lnTo>
                  <a:lnTo>
                    <a:pt x="148649" y="0"/>
                  </a:lnTo>
                  <a:lnTo>
                    <a:pt x="205535" y="11258"/>
                  </a:lnTo>
                  <a:lnTo>
                    <a:pt x="253760" y="43318"/>
                  </a:lnTo>
                  <a:lnTo>
                    <a:pt x="285984" y="91301"/>
                  </a:lnTo>
                  <a:lnTo>
                    <a:pt x="297299" y="147900"/>
                  </a:lnTo>
                  <a:lnTo>
                    <a:pt x="289721" y="194648"/>
                  </a:lnTo>
                  <a:lnTo>
                    <a:pt x="268619" y="235247"/>
                  </a:lnTo>
                  <a:lnTo>
                    <a:pt x="236440" y="267264"/>
                  </a:lnTo>
                  <a:lnTo>
                    <a:pt x="195634" y="288260"/>
                  </a:lnTo>
                  <a:lnTo>
                    <a:pt x="148649" y="295800"/>
                  </a:lnTo>
                  <a:lnTo>
                    <a:pt x="101664" y="288260"/>
                  </a:lnTo>
                  <a:lnTo>
                    <a:pt x="60858" y="267264"/>
                  </a:lnTo>
                  <a:lnTo>
                    <a:pt x="28680" y="235247"/>
                  </a:lnTo>
                  <a:lnTo>
                    <a:pt x="7578" y="194648"/>
                  </a:lnTo>
                  <a:lnTo>
                    <a:pt x="0" y="147900"/>
                  </a:lnTo>
                  <a:close/>
                </a:path>
              </a:pathLst>
            </a:custGeom>
            <a:ln w="19049">
              <a:solidFill>
                <a:srgbClr val="3BFFF4"/>
              </a:solidFill>
            </a:ln>
          </p:spPr>
          <p:txBody>
            <a:bodyPr wrap="square" lIns="0" tIns="0" rIns="0" bIns="0" rtlCol="0"/>
            <a:lstStyle/>
            <a:p>
              <a:endParaRPr sz="2400"/>
            </a:p>
          </p:txBody>
        </p:sp>
      </p:grpSp>
      <p:sp>
        <p:nvSpPr>
          <p:cNvPr id="39" name="object 39"/>
          <p:cNvSpPr txBox="1"/>
          <p:nvPr/>
        </p:nvSpPr>
        <p:spPr>
          <a:xfrm>
            <a:off x="8800121" y="4243333"/>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latin typeface="Tahoma" panose="020B0804030504040204"/>
                <a:cs typeface="Tahoma" panose="020B0804030504040204"/>
              </a:rPr>
              <a:t>04</a:t>
            </a:r>
            <a:endParaRPr sz="1465">
              <a:latin typeface="Tahoma" panose="020B0804030504040204"/>
              <a:cs typeface="Tahoma" panose="020B0804030504040204"/>
            </a:endParaRPr>
          </a:p>
        </p:txBody>
      </p:sp>
      <p:grpSp>
        <p:nvGrpSpPr>
          <p:cNvPr id="40" name="object 40"/>
          <p:cNvGrpSpPr/>
          <p:nvPr/>
        </p:nvGrpSpPr>
        <p:grpSpPr>
          <a:xfrm>
            <a:off x="1052761" y="2070192"/>
            <a:ext cx="422487" cy="419947"/>
            <a:chOff x="789571" y="1552644"/>
            <a:chExt cx="316865" cy="314960"/>
          </a:xfrm>
        </p:grpSpPr>
        <p:sp>
          <p:nvSpPr>
            <p:cNvPr id="41" name="object 41"/>
            <p:cNvSpPr/>
            <p:nvPr/>
          </p:nvSpPr>
          <p:spPr>
            <a:xfrm>
              <a:off x="799096" y="1562169"/>
              <a:ext cx="297815" cy="295910"/>
            </a:xfrm>
            <a:custGeom>
              <a:avLst/>
              <a:gdLst/>
              <a:ahLst/>
              <a:cxnLst/>
              <a:rect l="l" t="t" r="r" b="b"/>
              <a:pathLst>
                <a:path w="297815" h="295910">
                  <a:moveTo>
                    <a:pt x="148649" y="295799"/>
                  </a:moveTo>
                  <a:lnTo>
                    <a:pt x="101665" y="288259"/>
                  </a:lnTo>
                  <a:lnTo>
                    <a:pt x="60859" y="267263"/>
                  </a:lnTo>
                  <a:lnTo>
                    <a:pt x="28680" y="235247"/>
                  </a:lnTo>
                  <a:lnTo>
                    <a:pt x="7578" y="194647"/>
                  </a:lnTo>
                  <a:lnTo>
                    <a:pt x="0" y="147899"/>
                  </a:lnTo>
                  <a:lnTo>
                    <a:pt x="7578" y="101152"/>
                  </a:lnTo>
                  <a:lnTo>
                    <a:pt x="28680" y="60552"/>
                  </a:lnTo>
                  <a:lnTo>
                    <a:pt x="60859" y="28536"/>
                  </a:lnTo>
                  <a:lnTo>
                    <a:pt x="101665" y="7540"/>
                  </a:lnTo>
                  <a:lnTo>
                    <a:pt x="148649" y="0"/>
                  </a:lnTo>
                  <a:lnTo>
                    <a:pt x="177785" y="2868"/>
                  </a:lnTo>
                  <a:lnTo>
                    <a:pt x="231121" y="24848"/>
                  </a:lnTo>
                  <a:lnTo>
                    <a:pt x="272325" y="65845"/>
                  </a:lnTo>
                  <a:lnTo>
                    <a:pt x="294417" y="118911"/>
                  </a:lnTo>
                  <a:lnTo>
                    <a:pt x="297299" y="147899"/>
                  </a:lnTo>
                  <a:lnTo>
                    <a:pt x="289721" y="194647"/>
                  </a:lnTo>
                  <a:lnTo>
                    <a:pt x="268619" y="235247"/>
                  </a:lnTo>
                  <a:lnTo>
                    <a:pt x="236440" y="267263"/>
                  </a:lnTo>
                  <a:lnTo>
                    <a:pt x="195634" y="288259"/>
                  </a:lnTo>
                  <a:lnTo>
                    <a:pt x="148649" y="295799"/>
                  </a:lnTo>
                  <a:close/>
                </a:path>
              </a:pathLst>
            </a:custGeom>
            <a:solidFill>
              <a:srgbClr val="FD2C55"/>
            </a:solidFill>
          </p:spPr>
          <p:txBody>
            <a:bodyPr wrap="square" lIns="0" tIns="0" rIns="0" bIns="0" rtlCol="0"/>
            <a:lstStyle/>
            <a:p>
              <a:endParaRPr sz="2400"/>
            </a:p>
          </p:txBody>
        </p:sp>
        <p:sp>
          <p:nvSpPr>
            <p:cNvPr id="42" name="object 42"/>
            <p:cNvSpPr/>
            <p:nvPr/>
          </p:nvSpPr>
          <p:spPr>
            <a:xfrm>
              <a:off x="799096" y="1562169"/>
              <a:ext cx="297815" cy="295910"/>
            </a:xfrm>
            <a:custGeom>
              <a:avLst/>
              <a:gdLst/>
              <a:ahLst/>
              <a:cxnLst/>
              <a:rect l="l" t="t" r="r" b="b"/>
              <a:pathLst>
                <a:path w="297815" h="295910">
                  <a:moveTo>
                    <a:pt x="0" y="147899"/>
                  </a:moveTo>
                  <a:lnTo>
                    <a:pt x="7578" y="101152"/>
                  </a:lnTo>
                  <a:lnTo>
                    <a:pt x="28680" y="60552"/>
                  </a:lnTo>
                  <a:lnTo>
                    <a:pt x="60859" y="28536"/>
                  </a:lnTo>
                  <a:lnTo>
                    <a:pt x="101665" y="7540"/>
                  </a:lnTo>
                  <a:lnTo>
                    <a:pt x="148649" y="0"/>
                  </a:lnTo>
                  <a:lnTo>
                    <a:pt x="205535" y="11258"/>
                  </a:lnTo>
                  <a:lnTo>
                    <a:pt x="253761" y="43318"/>
                  </a:lnTo>
                  <a:lnTo>
                    <a:pt x="285984" y="91301"/>
                  </a:lnTo>
                  <a:lnTo>
                    <a:pt x="297299" y="147899"/>
                  </a:lnTo>
                  <a:lnTo>
                    <a:pt x="289721" y="194647"/>
                  </a:lnTo>
                  <a:lnTo>
                    <a:pt x="268619" y="235247"/>
                  </a:lnTo>
                  <a:lnTo>
                    <a:pt x="236440" y="267263"/>
                  </a:lnTo>
                  <a:lnTo>
                    <a:pt x="195634" y="288259"/>
                  </a:lnTo>
                  <a:lnTo>
                    <a:pt x="148649" y="295799"/>
                  </a:lnTo>
                  <a:lnTo>
                    <a:pt x="101665" y="288259"/>
                  </a:lnTo>
                  <a:lnTo>
                    <a:pt x="60859" y="267263"/>
                  </a:lnTo>
                  <a:lnTo>
                    <a:pt x="28680" y="235247"/>
                  </a:lnTo>
                  <a:lnTo>
                    <a:pt x="7578" y="194647"/>
                  </a:lnTo>
                  <a:lnTo>
                    <a:pt x="0" y="147899"/>
                  </a:lnTo>
                  <a:close/>
                </a:path>
              </a:pathLst>
            </a:custGeom>
            <a:ln w="19049">
              <a:solidFill>
                <a:srgbClr val="FD2C55"/>
              </a:solidFill>
            </a:ln>
          </p:spPr>
          <p:txBody>
            <a:bodyPr wrap="square" lIns="0" tIns="0" rIns="0" bIns="0" rtlCol="0"/>
            <a:lstStyle/>
            <a:p>
              <a:endParaRPr sz="2400"/>
            </a:p>
          </p:txBody>
        </p:sp>
      </p:grpSp>
      <p:sp>
        <p:nvSpPr>
          <p:cNvPr id="43" name="object 43"/>
          <p:cNvSpPr txBox="1"/>
          <p:nvPr/>
        </p:nvSpPr>
        <p:spPr>
          <a:xfrm>
            <a:off x="1075419" y="2141408"/>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95" dirty="0">
                <a:solidFill>
                  <a:srgbClr val="FFFFFF"/>
                </a:solidFill>
                <a:latin typeface="Tahoma" panose="020B0804030504040204"/>
                <a:cs typeface="Tahoma" panose="020B0804030504040204"/>
              </a:rPr>
              <a:t>01</a:t>
            </a:r>
            <a:endParaRPr sz="1465">
              <a:latin typeface="Tahoma" panose="020B0804030504040204"/>
              <a:cs typeface="Tahoma" panose="020B0804030504040204"/>
            </a:endParaRPr>
          </a:p>
        </p:txBody>
      </p:sp>
      <p:grpSp>
        <p:nvGrpSpPr>
          <p:cNvPr id="44" name="object 44"/>
          <p:cNvGrpSpPr/>
          <p:nvPr/>
        </p:nvGrpSpPr>
        <p:grpSpPr>
          <a:xfrm>
            <a:off x="8794693" y="2070192"/>
            <a:ext cx="422487" cy="419947"/>
            <a:chOff x="6596020" y="1552644"/>
            <a:chExt cx="316865" cy="314960"/>
          </a:xfrm>
        </p:grpSpPr>
        <p:sp>
          <p:nvSpPr>
            <p:cNvPr id="45" name="object 45"/>
            <p:cNvSpPr/>
            <p:nvPr/>
          </p:nvSpPr>
          <p:spPr>
            <a:xfrm>
              <a:off x="6605545" y="1562169"/>
              <a:ext cx="297815" cy="295910"/>
            </a:xfrm>
            <a:custGeom>
              <a:avLst/>
              <a:gdLst/>
              <a:ahLst/>
              <a:cxnLst/>
              <a:rect l="l" t="t" r="r" b="b"/>
              <a:pathLst>
                <a:path w="297815" h="295910">
                  <a:moveTo>
                    <a:pt x="148649" y="295799"/>
                  </a:moveTo>
                  <a:lnTo>
                    <a:pt x="101665" y="288259"/>
                  </a:lnTo>
                  <a:lnTo>
                    <a:pt x="60859" y="267263"/>
                  </a:lnTo>
                  <a:lnTo>
                    <a:pt x="28680" y="235247"/>
                  </a:lnTo>
                  <a:lnTo>
                    <a:pt x="7578" y="194647"/>
                  </a:lnTo>
                  <a:lnTo>
                    <a:pt x="0" y="147899"/>
                  </a:lnTo>
                  <a:lnTo>
                    <a:pt x="7578" y="101152"/>
                  </a:lnTo>
                  <a:lnTo>
                    <a:pt x="28680" y="60552"/>
                  </a:lnTo>
                  <a:lnTo>
                    <a:pt x="60859" y="28536"/>
                  </a:lnTo>
                  <a:lnTo>
                    <a:pt x="101665" y="7540"/>
                  </a:lnTo>
                  <a:lnTo>
                    <a:pt x="148649" y="0"/>
                  </a:lnTo>
                  <a:lnTo>
                    <a:pt x="177785" y="2868"/>
                  </a:lnTo>
                  <a:lnTo>
                    <a:pt x="231121" y="24848"/>
                  </a:lnTo>
                  <a:lnTo>
                    <a:pt x="272325" y="65845"/>
                  </a:lnTo>
                  <a:lnTo>
                    <a:pt x="294417" y="118911"/>
                  </a:lnTo>
                  <a:lnTo>
                    <a:pt x="297299" y="147899"/>
                  </a:lnTo>
                  <a:lnTo>
                    <a:pt x="289721" y="194647"/>
                  </a:lnTo>
                  <a:lnTo>
                    <a:pt x="268619" y="235247"/>
                  </a:lnTo>
                  <a:lnTo>
                    <a:pt x="236441" y="267263"/>
                  </a:lnTo>
                  <a:lnTo>
                    <a:pt x="195635" y="288259"/>
                  </a:lnTo>
                  <a:lnTo>
                    <a:pt x="148649" y="295799"/>
                  </a:lnTo>
                  <a:close/>
                </a:path>
              </a:pathLst>
            </a:custGeom>
            <a:solidFill>
              <a:srgbClr val="FD2C55"/>
            </a:solidFill>
          </p:spPr>
          <p:txBody>
            <a:bodyPr wrap="square" lIns="0" tIns="0" rIns="0" bIns="0" rtlCol="0"/>
            <a:lstStyle/>
            <a:p>
              <a:endParaRPr sz="2400"/>
            </a:p>
          </p:txBody>
        </p:sp>
        <p:sp>
          <p:nvSpPr>
            <p:cNvPr id="46" name="object 46"/>
            <p:cNvSpPr/>
            <p:nvPr/>
          </p:nvSpPr>
          <p:spPr>
            <a:xfrm>
              <a:off x="6605545" y="1562169"/>
              <a:ext cx="297815" cy="295910"/>
            </a:xfrm>
            <a:custGeom>
              <a:avLst/>
              <a:gdLst/>
              <a:ahLst/>
              <a:cxnLst/>
              <a:rect l="l" t="t" r="r" b="b"/>
              <a:pathLst>
                <a:path w="297815" h="295910">
                  <a:moveTo>
                    <a:pt x="0" y="147899"/>
                  </a:moveTo>
                  <a:lnTo>
                    <a:pt x="7578" y="101152"/>
                  </a:lnTo>
                  <a:lnTo>
                    <a:pt x="28680" y="60552"/>
                  </a:lnTo>
                  <a:lnTo>
                    <a:pt x="60859" y="28536"/>
                  </a:lnTo>
                  <a:lnTo>
                    <a:pt x="101665" y="7540"/>
                  </a:lnTo>
                  <a:lnTo>
                    <a:pt x="148649" y="0"/>
                  </a:lnTo>
                  <a:lnTo>
                    <a:pt x="205535" y="11258"/>
                  </a:lnTo>
                  <a:lnTo>
                    <a:pt x="253761" y="43318"/>
                  </a:lnTo>
                  <a:lnTo>
                    <a:pt x="285984" y="91301"/>
                  </a:lnTo>
                  <a:lnTo>
                    <a:pt x="297299" y="147899"/>
                  </a:lnTo>
                  <a:lnTo>
                    <a:pt x="289721" y="194647"/>
                  </a:lnTo>
                  <a:lnTo>
                    <a:pt x="268619" y="235247"/>
                  </a:lnTo>
                  <a:lnTo>
                    <a:pt x="236441" y="267263"/>
                  </a:lnTo>
                  <a:lnTo>
                    <a:pt x="195635" y="288259"/>
                  </a:lnTo>
                  <a:lnTo>
                    <a:pt x="148649" y="295799"/>
                  </a:lnTo>
                  <a:lnTo>
                    <a:pt x="101665" y="288259"/>
                  </a:lnTo>
                  <a:lnTo>
                    <a:pt x="60859" y="267263"/>
                  </a:lnTo>
                  <a:lnTo>
                    <a:pt x="28680" y="235247"/>
                  </a:lnTo>
                  <a:lnTo>
                    <a:pt x="7578" y="194647"/>
                  </a:lnTo>
                  <a:lnTo>
                    <a:pt x="0" y="147899"/>
                  </a:lnTo>
                  <a:close/>
                </a:path>
              </a:pathLst>
            </a:custGeom>
            <a:ln w="19049">
              <a:solidFill>
                <a:srgbClr val="FD2C55"/>
              </a:solidFill>
            </a:ln>
          </p:spPr>
          <p:txBody>
            <a:bodyPr wrap="square" lIns="0" tIns="0" rIns="0" bIns="0" rtlCol="0"/>
            <a:lstStyle/>
            <a:p>
              <a:endParaRPr sz="2400"/>
            </a:p>
          </p:txBody>
        </p:sp>
      </p:grpSp>
      <p:sp>
        <p:nvSpPr>
          <p:cNvPr id="47" name="object 47"/>
          <p:cNvSpPr txBox="1"/>
          <p:nvPr/>
        </p:nvSpPr>
        <p:spPr>
          <a:xfrm>
            <a:off x="8796176" y="2141408"/>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solidFill>
                  <a:srgbClr val="FFFFFF"/>
                </a:solidFill>
                <a:latin typeface="Tahoma" panose="020B0804030504040204"/>
                <a:cs typeface="Tahoma" panose="020B0804030504040204"/>
              </a:rPr>
              <a:t>03</a:t>
            </a:r>
            <a:endParaRPr sz="1465">
              <a:latin typeface="Tahoma" panose="020B0804030504040204"/>
              <a:cs typeface="Tahoma" panose="020B0804030504040204"/>
            </a:endParaRPr>
          </a:p>
        </p:txBody>
      </p:sp>
      <p:grpSp>
        <p:nvGrpSpPr>
          <p:cNvPr id="48" name="object 48"/>
          <p:cNvGrpSpPr/>
          <p:nvPr/>
        </p:nvGrpSpPr>
        <p:grpSpPr>
          <a:xfrm>
            <a:off x="4889504" y="4172100"/>
            <a:ext cx="422487" cy="419947"/>
            <a:chOff x="3667128" y="3129075"/>
            <a:chExt cx="316865" cy="314960"/>
          </a:xfrm>
        </p:grpSpPr>
        <p:sp>
          <p:nvSpPr>
            <p:cNvPr id="49" name="object 49"/>
            <p:cNvSpPr/>
            <p:nvPr/>
          </p:nvSpPr>
          <p:spPr>
            <a:xfrm>
              <a:off x="3676653" y="3138600"/>
              <a:ext cx="297815" cy="295910"/>
            </a:xfrm>
            <a:custGeom>
              <a:avLst/>
              <a:gdLst/>
              <a:ahLst/>
              <a:cxnLst/>
              <a:rect l="l" t="t" r="r" b="b"/>
              <a:pathLst>
                <a:path w="297814" h="295910">
                  <a:moveTo>
                    <a:pt x="148649" y="295800"/>
                  </a:moveTo>
                  <a:lnTo>
                    <a:pt x="101665" y="288260"/>
                  </a:lnTo>
                  <a:lnTo>
                    <a:pt x="60859" y="267264"/>
                  </a:lnTo>
                  <a:lnTo>
                    <a:pt x="28680" y="235247"/>
                  </a:lnTo>
                  <a:lnTo>
                    <a:pt x="7578" y="194648"/>
                  </a:lnTo>
                  <a:lnTo>
                    <a:pt x="0" y="147900"/>
                  </a:lnTo>
                  <a:lnTo>
                    <a:pt x="7578" y="101152"/>
                  </a:lnTo>
                  <a:lnTo>
                    <a:pt x="28680" y="60552"/>
                  </a:lnTo>
                  <a:lnTo>
                    <a:pt x="60859" y="28536"/>
                  </a:lnTo>
                  <a:lnTo>
                    <a:pt x="101665" y="7540"/>
                  </a:lnTo>
                  <a:lnTo>
                    <a:pt x="148649" y="0"/>
                  </a:lnTo>
                  <a:lnTo>
                    <a:pt x="177785" y="2868"/>
                  </a:lnTo>
                  <a:lnTo>
                    <a:pt x="231120" y="24849"/>
                  </a:lnTo>
                  <a:lnTo>
                    <a:pt x="272324" y="65845"/>
                  </a:lnTo>
                  <a:lnTo>
                    <a:pt x="294417" y="118911"/>
                  </a:lnTo>
                  <a:lnTo>
                    <a:pt x="297299" y="147900"/>
                  </a:lnTo>
                  <a:lnTo>
                    <a:pt x="289721" y="194648"/>
                  </a:lnTo>
                  <a:lnTo>
                    <a:pt x="268619" y="235247"/>
                  </a:lnTo>
                  <a:lnTo>
                    <a:pt x="236440" y="267264"/>
                  </a:lnTo>
                  <a:lnTo>
                    <a:pt x="195634" y="288260"/>
                  </a:lnTo>
                  <a:lnTo>
                    <a:pt x="148649" y="295800"/>
                  </a:lnTo>
                  <a:close/>
                </a:path>
              </a:pathLst>
            </a:custGeom>
            <a:solidFill>
              <a:srgbClr val="FD2C55"/>
            </a:solidFill>
          </p:spPr>
          <p:txBody>
            <a:bodyPr wrap="square" lIns="0" tIns="0" rIns="0" bIns="0" rtlCol="0"/>
            <a:lstStyle/>
            <a:p>
              <a:endParaRPr sz="2400"/>
            </a:p>
          </p:txBody>
        </p:sp>
        <p:sp>
          <p:nvSpPr>
            <p:cNvPr id="50" name="object 50"/>
            <p:cNvSpPr/>
            <p:nvPr/>
          </p:nvSpPr>
          <p:spPr>
            <a:xfrm>
              <a:off x="3676653" y="3138600"/>
              <a:ext cx="297815" cy="295910"/>
            </a:xfrm>
            <a:custGeom>
              <a:avLst/>
              <a:gdLst/>
              <a:ahLst/>
              <a:cxnLst/>
              <a:rect l="l" t="t" r="r" b="b"/>
              <a:pathLst>
                <a:path w="297814" h="295910">
                  <a:moveTo>
                    <a:pt x="0" y="147900"/>
                  </a:moveTo>
                  <a:lnTo>
                    <a:pt x="7578" y="101152"/>
                  </a:lnTo>
                  <a:lnTo>
                    <a:pt x="28680" y="60552"/>
                  </a:lnTo>
                  <a:lnTo>
                    <a:pt x="60859" y="28536"/>
                  </a:lnTo>
                  <a:lnTo>
                    <a:pt x="101665" y="7540"/>
                  </a:lnTo>
                  <a:lnTo>
                    <a:pt x="148649" y="0"/>
                  </a:lnTo>
                  <a:lnTo>
                    <a:pt x="205535" y="11258"/>
                  </a:lnTo>
                  <a:lnTo>
                    <a:pt x="253761" y="43318"/>
                  </a:lnTo>
                  <a:lnTo>
                    <a:pt x="285984" y="91301"/>
                  </a:lnTo>
                  <a:lnTo>
                    <a:pt x="297299" y="147900"/>
                  </a:lnTo>
                  <a:lnTo>
                    <a:pt x="289721" y="194648"/>
                  </a:lnTo>
                  <a:lnTo>
                    <a:pt x="268619" y="235247"/>
                  </a:lnTo>
                  <a:lnTo>
                    <a:pt x="236440" y="267264"/>
                  </a:lnTo>
                  <a:lnTo>
                    <a:pt x="195634" y="288260"/>
                  </a:lnTo>
                  <a:lnTo>
                    <a:pt x="148649" y="295800"/>
                  </a:lnTo>
                  <a:lnTo>
                    <a:pt x="101665" y="288260"/>
                  </a:lnTo>
                  <a:lnTo>
                    <a:pt x="60859" y="267264"/>
                  </a:lnTo>
                  <a:lnTo>
                    <a:pt x="28680" y="235247"/>
                  </a:lnTo>
                  <a:lnTo>
                    <a:pt x="7578" y="194648"/>
                  </a:lnTo>
                  <a:lnTo>
                    <a:pt x="0" y="147900"/>
                  </a:lnTo>
                  <a:close/>
                </a:path>
              </a:pathLst>
            </a:custGeom>
            <a:ln w="19049">
              <a:solidFill>
                <a:srgbClr val="FD2C55"/>
              </a:solidFill>
            </a:ln>
          </p:spPr>
          <p:txBody>
            <a:bodyPr wrap="square" lIns="0" tIns="0" rIns="0" bIns="0" rtlCol="0"/>
            <a:lstStyle/>
            <a:p>
              <a:endParaRPr sz="2400"/>
            </a:p>
          </p:txBody>
        </p:sp>
      </p:grpSp>
      <p:sp>
        <p:nvSpPr>
          <p:cNvPr id="51" name="object 51"/>
          <p:cNvSpPr txBox="1"/>
          <p:nvPr/>
        </p:nvSpPr>
        <p:spPr>
          <a:xfrm>
            <a:off x="4892213" y="4243316"/>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solidFill>
                  <a:srgbClr val="FFFFFF"/>
                </a:solidFill>
                <a:latin typeface="Tahoma" panose="020B0804030504040204"/>
                <a:cs typeface="Tahoma" panose="020B0804030504040204"/>
              </a:rPr>
              <a:t>05</a:t>
            </a:r>
            <a:endParaRPr sz="1465">
              <a:latin typeface="Tahoma" panose="020B0804030504040204"/>
              <a:cs typeface="Tahoma" panose="020B0804030504040204"/>
            </a:endParaRPr>
          </a:p>
        </p:txBody>
      </p:sp>
      <p:grpSp>
        <p:nvGrpSpPr>
          <p:cNvPr id="52" name="object 52"/>
          <p:cNvGrpSpPr/>
          <p:nvPr/>
        </p:nvGrpSpPr>
        <p:grpSpPr>
          <a:xfrm>
            <a:off x="1036037" y="4172117"/>
            <a:ext cx="422487" cy="419947"/>
            <a:chOff x="777028" y="3129088"/>
            <a:chExt cx="316865" cy="314960"/>
          </a:xfrm>
        </p:grpSpPr>
        <p:sp>
          <p:nvSpPr>
            <p:cNvPr id="53" name="object 53"/>
            <p:cNvSpPr/>
            <p:nvPr/>
          </p:nvSpPr>
          <p:spPr>
            <a:xfrm>
              <a:off x="786553" y="3138613"/>
              <a:ext cx="297815" cy="295910"/>
            </a:xfrm>
            <a:custGeom>
              <a:avLst/>
              <a:gdLst/>
              <a:ahLst/>
              <a:cxnLst/>
              <a:rect l="l" t="t" r="r" b="b"/>
              <a:pathLst>
                <a:path w="297815" h="295910">
                  <a:moveTo>
                    <a:pt x="148650" y="295800"/>
                  </a:moveTo>
                  <a:lnTo>
                    <a:pt x="101665" y="288260"/>
                  </a:lnTo>
                  <a:lnTo>
                    <a:pt x="60859" y="267264"/>
                  </a:lnTo>
                  <a:lnTo>
                    <a:pt x="28680" y="235247"/>
                  </a:lnTo>
                  <a:lnTo>
                    <a:pt x="7578" y="194648"/>
                  </a:lnTo>
                  <a:lnTo>
                    <a:pt x="0" y="147900"/>
                  </a:lnTo>
                  <a:lnTo>
                    <a:pt x="7578" y="101152"/>
                  </a:lnTo>
                  <a:lnTo>
                    <a:pt x="28680" y="60552"/>
                  </a:lnTo>
                  <a:lnTo>
                    <a:pt x="60859" y="28536"/>
                  </a:lnTo>
                  <a:lnTo>
                    <a:pt x="101665" y="7540"/>
                  </a:lnTo>
                  <a:lnTo>
                    <a:pt x="148650" y="0"/>
                  </a:lnTo>
                  <a:lnTo>
                    <a:pt x="177785" y="2868"/>
                  </a:lnTo>
                  <a:lnTo>
                    <a:pt x="231121" y="24849"/>
                  </a:lnTo>
                  <a:lnTo>
                    <a:pt x="272325" y="65845"/>
                  </a:lnTo>
                  <a:lnTo>
                    <a:pt x="294417" y="118911"/>
                  </a:lnTo>
                  <a:lnTo>
                    <a:pt x="297300" y="147900"/>
                  </a:lnTo>
                  <a:lnTo>
                    <a:pt x="289721" y="194648"/>
                  </a:lnTo>
                  <a:lnTo>
                    <a:pt x="268619" y="235247"/>
                  </a:lnTo>
                  <a:lnTo>
                    <a:pt x="236440" y="267264"/>
                  </a:lnTo>
                  <a:lnTo>
                    <a:pt x="195634" y="288260"/>
                  </a:lnTo>
                  <a:lnTo>
                    <a:pt x="148650" y="295800"/>
                  </a:lnTo>
                  <a:close/>
                </a:path>
              </a:pathLst>
            </a:custGeom>
            <a:solidFill>
              <a:srgbClr val="3BFFF4"/>
            </a:solidFill>
          </p:spPr>
          <p:txBody>
            <a:bodyPr wrap="square" lIns="0" tIns="0" rIns="0" bIns="0" rtlCol="0"/>
            <a:lstStyle/>
            <a:p>
              <a:endParaRPr sz="2400"/>
            </a:p>
          </p:txBody>
        </p:sp>
        <p:sp>
          <p:nvSpPr>
            <p:cNvPr id="54" name="object 54"/>
            <p:cNvSpPr/>
            <p:nvPr/>
          </p:nvSpPr>
          <p:spPr>
            <a:xfrm>
              <a:off x="786553" y="3138613"/>
              <a:ext cx="297815" cy="295910"/>
            </a:xfrm>
            <a:custGeom>
              <a:avLst/>
              <a:gdLst/>
              <a:ahLst/>
              <a:cxnLst/>
              <a:rect l="l" t="t" r="r" b="b"/>
              <a:pathLst>
                <a:path w="297815" h="295910">
                  <a:moveTo>
                    <a:pt x="0" y="147900"/>
                  </a:moveTo>
                  <a:lnTo>
                    <a:pt x="7578" y="101152"/>
                  </a:lnTo>
                  <a:lnTo>
                    <a:pt x="28680" y="60552"/>
                  </a:lnTo>
                  <a:lnTo>
                    <a:pt x="60859" y="28536"/>
                  </a:lnTo>
                  <a:lnTo>
                    <a:pt x="101665" y="7540"/>
                  </a:lnTo>
                  <a:lnTo>
                    <a:pt x="148650" y="0"/>
                  </a:lnTo>
                  <a:lnTo>
                    <a:pt x="205535" y="11258"/>
                  </a:lnTo>
                  <a:lnTo>
                    <a:pt x="253761" y="43318"/>
                  </a:lnTo>
                  <a:lnTo>
                    <a:pt x="285984" y="91301"/>
                  </a:lnTo>
                  <a:lnTo>
                    <a:pt x="297300" y="147900"/>
                  </a:lnTo>
                  <a:lnTo>
                    <a:pt x="289721" y="194648"/>
                  </a:lnTo>
                  <a:lnTo>
                    <a:pt x="268619" y="235247"/>
                  </a:lnTo>
                  <a:lnTo>
                    <a:pt x="236440" y="267264"/>
                  </a:lnTo>
                  <a:lnTo>
                    <a:pt x="195634" y="288260"/>
                  </a:lnTo>
                  <a:lnTo>
                    <a:pt x="148650" y="295800"/>
                  </a:lnTo>
                  <a:lnTo>
                    <a:pt x="101665" y="288260"/>
                  </a:lnTo>
                  <a:lnTo>
                    <a:pt x="60859" y="267264"/>
                  </a:lnTo>
                  <a:lnTo>
                    <a:pt x="28680" y="235247"/>
                  </a:lnTo>
                  <a:lnTo>
                    <a:pt x="7578" y="194648"/>
                  </a:lnTo>
                  <a:lnTo>
                    <a:pt x="0" y="147900"/>
                  </a:lnTo>
                  <a:close/>
                </a:path>
              </a:pathLst>
            </a:custGeom>
            <a:ln w="19049">
              <a:solidFill>
                <a:srgbClr val="3BFFF4"/>
              </a:solidFill>
            </a:ln>
          </p:spPr>
          <p:txBody>
            <a:bodyPr wrap="square" lIns="0" tIns="0" rIns="0" bIns="0" rtlCol="0"/>
            <a:lstStyle/>
            <a:p>
              <a:endParaRPr sz="2400"/>
            </a:p>
          </p:txBody>
        </p:sp>
      </p:grpSp>
      <p:sp>
        <p:nvSpPr>
          <p:cNvPr id="55" name="object 55"/>
          <p:cNvSpPr txBox="1"/>
          <p:nvPr/>
        </p:nvSpPr>
        <p:spPr>
          <a:xfrm>
            <a:off x="1037247" y="4243333"/>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latin typeface="Tahoma" panose="020B0804030504040204"/>
                <a:cs typeface="Tahoma" panose="020B0804030504040204"/>
              </a:rPr>
              <a:t>06</a:t>
            </a:r>
            <a:endParaRPr sz="1465">
              <a:latin typeface="Tahoma" panose="020B0804030504040204"/>
              <a:cs typeface="Tahoma" panose="020B0804030504040204"/>
            </a:endParaRPr>
          </a:p>
        </p:txBody>
      </p:sp>
      <p:sp>
        <p:nvSpPr>
          <p:cNvPr id="64" name="object 64"/>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60960">
              <a:lnSpc>
                <a:spcPct val="100000"/>
              </a:lnSpc>
              <a:spcBef>
                <a:spcPts val="80"/>
              </a:spcBef>
            </a:pPr>
            <a:fld id="{81D60167-4931-47E6-BA6A-407CBD079E47}" type="slidenum">
              <a:rPr sz="1065" spc="-25" dirty="0"/>
            </a:fld>
            <a:endParaRPr sz="1065" spc="-25" dirty="0"/>
          </a:p>
        </p:txBody>
      </p:sp>
      <p:sp>
        <p:nvSpPr>
          <p:cNvPr id="65" name="TextBox 64"/>
          <p:cNvSpPr txBox="1"/>
          <p:nvPr/>
        </p:nvSpPr>
        <p:spPr>
          <a:xfrm>
            <a:off x="502920" y="347472"/>
            <a:ext cx="1115568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发展历程：从流量导流到交易闭环</a:t>
            </a:r>
          </a:p>
        </p:txBody>
      </p:sp>
      <p:sp>
        <p:nvSpPr>
          <p:cNvPr id="66" name="Rounded Rectangle 65"/>
          <p:cNvSpPr/>
          <p:nvPr/>
        </p:nvSpPr>
        <p:spPr>
          <a:xfrm>
            <a:off x="804672" y="1188720"/>
            <a:ext cx="2834640" cy="347472"/>
          </a:xfrm>
          <a:prstGeom prst="roundRect">
            <a:avLst>
              <a:gd name="adj" fmla="val 5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00" b="1" i="0">
                <a:solidFill>
                  <a:srgbClr val="FFFFFF"/>
                </a:solidFill>
                <a:latin typeface="Arial"/>
                <a:ea typeface="Microsoft YaHei"/>
                <a:cs typeface="Arial"/>
              </a:rPr>
              <a:t>阶段一 · 导流期  2018–2019</a:t>
            </a:r>
          </a:p>
        </p:txBody>
      </p:sp>
      <p:sp>
        <p:nvSpPr>
          <p:cNvPr id="67" name="Rounded Rectangle 66"/>
          <p:cNvSpPr/>
          <p:nvPr/>
        </p:nvSpPr>
        <p:spPr>
          <a:xfrm>
            <a:off x="4663440" y="1188720"/>
            <a:ext cx="2834640" cy="347472"/>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00" b="1" i="0">
                <a:solidFill>
                  <a:srgbClr val="FFFFFF"/>
                </a:solidFill>
                <a:latin typeface="Arial"/>
                <a:ea typeface="Microsoft YaHei"/>
                <a:cs typeface="Arial"/>
              </a:rPr>
              <a:t>阶段二 · 闭环期  2020–2021</a:t>
            </a:r>
          </a:p>
        </p:txBody>
      </p:sp>
      <p:sp>
        <p:nvSpPr>
          <p:cNvPr id="68" name="Rounded Rectangle 67"/>
          <p:cNvSpPr/>
          <p:nvPr/>
        </p:nvSpPr>
        <p:spPr>
          <a:xfrm>
            <a:off x="8522208" y="1188720"/>
            <a:ext cx="2834640" cy="347472"/>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100" b="1" i="0">
                <a:solidFill>
                  <a:srgbClr val="000000"/>
                </a:solidFill>
                <a:latin typeface="Arial"/>
                <a:ea typeface="Microsoft YaHei"/>
                <a:cs typeface="Arial"/>
              </a:rPr>
              <a:t>阶段三 · 全域生态期  2022至今</a:t>
            </a:r>
          </a:p>
        </p:txBody>
      </p:sp>
      <p:sp>
        <p:nvSpPr>
          <p:cNvPr id="69" name="TextBox 68"/>
          <p:cNvSpPr txBox="1"/>
          <p:nvPr/>
        </p:nvSpPr>
        <p:spPr>
          <a:xfrm>
            <a:off x="1060704" y="2542032"/>
            <a:ext cx="2377440" cy="1325880"/>
          </a:xfrm>
          <a:prstGeom prst="rect">
            <a:avLst/>
          </a:prstGeom>
          <a:noFill/>
        </p:spPr>
        <p:txBody>
          <a:bodyPr wrap="square" lIns="0" rIns="0" tIns="0" bIns="0" anchor="t">
            <a:spAutoFit/>
          </a:bodyPr>
          <a:lstStyle/>
          <a:p>
            <a:pPr algn="l">
              <a:spcAft>
                <a:spcPts val="300"/>
              </a:spcAft>
            </a:pPr>
            <a:r>
              <a:rPr sz="1500" b="1" i="0">
                <a:solidFill>
                  <a:srgbClr val="9A9A9A"/>
                </a:solidFill>
                <a:latin typeface="Arial"/>
                <a:ea typeface="Microsoft YaHei"/>
                <a:cs typeface="Arial"/>
              </a:rPr>
              <a:t>2018年</a:t>
            </a:r>
          </a:p>
          <a:p>
            <a:pPr algn="l">
              <a:spcAft>
                <a:spcPts val="300"/>
              </a:spcAft>
            </a:pPr>
            <a:r>
              <a:rPr sz="1300" b="1" i="0">
                <a:solidFill>
                  <a:srgbClr val="FFFFFF"/>
                </a:solidFill>
                <a:latin typeface="Arial"/>
                <a:ea typeface="Microsoft YaHei"/>
                <a:cs typeface="Arial"/>
              </a:rPr>
              <a:t>购物车与商品橱窗</a:t>
            </a:r>
          </a:p>
          <a:p>
            <a:pPr algn="l">
              <a:spcAft>
                <a:spcPts val="300"/>
              </a:spcAft>
            </a:pPr>
            <a:r>
              <a:rPr sz="1050" b="0" i="0">
                <a:solidFill>
                  <a:srgbClr val="C9C9C9"/>
                </a:solidFill>
                <a:latin typeface="Arial"/>
                <a:ea typeface="Microsoft YaHei"/>
                <a:cs typeface="Arial"/>
              </a:rPr>
              <a:t>达人挂商品链接，用户跳转到淘宝等外部平台下单。</a:t>
            </a:r>
          </a:p>
        </p:txBody>
      </p:sp>
      <p:sp>
        <p:nvSpPr>
          <p:cNvPr id="70" name="TextBox 69"/>
          <p:cNvSpPr txBox="1"/>
          <p:nvPr/>
        </p:nvSpPr>
        <p:spPr>
          <a:xfrm>
            <a:off x="4910328" y="2542032"/>
            <a:ext cx="2377440" cy="1325880"/>
          </a:xfrm>
          <a:prstGeom prst="rect">
            <a:avLst/>
          </a:prstGeom>
          <a:noFill/>
        </p:spPr>
        <p:txBody>
          <a:bodyPr wrap="square" lIns="0" rIns="0" tIns="0" bIns="0" anchor="t">
            <a:spAutoFit/>
          </a:bodyPr>
          <a:lstStyle/>
          <a:p>
            <a:pPr algn="l">
              <a:spcAft>
                <a:spcPts val="300"/>
              </a:spcAft>
            </a:pPr>
            <a:r>
              <a:rPr sz="1500" b="1" i="0">
                <a:solidFill>
                  <a:srgbClr val="FE2C55"/>
                </a:solidFill>
                <a:latin typeface="Arial"/>
                <a:ea typeface="Microsoft YaHei"/>
                <a:cs typeface="Arial"/>
              </a:rPr>
              <a:t>2020年6月</a:t>
            </a:r>
          </a:p>
          <a:p>
            <a:pPr algn="l">
              <a:spcAft>
                <a:spcPts val="300"/>
              </a:spcAft>
            </a:pPr>
            <a:r>
              <a:rPr sz="1300" b="1" i="0">
                <a:solidFill>
                  <a:srgbClr val="FFFFFF"/>
                </a:solidFill>
                <a:latin typeface="Arial"/>
                <a:ea typeface="Microsoft YaHei"/>
                <a:cs typeface="Arial"/>
              </a:rPr>
              <a:t>电商上升为战略业务</a:t>
            </a:r>
          </a:p>
          <a:p>
            <a:pPr algn="l">
              <a:spcAft>
                <a:spcPts val="300"/>
              </a:spcAft>
            </a:pPr>
            <a:r>
              <a:rPr sz="1050" b="0" i="0">
                <a:solidFill>
                  <a:srgbClr val="C9C9C9"/>
                </a:solidFill>
                <a:latin typeface="Arial"/>
                <a:ea typeface="Microsoft YaHei"/>
                <a:cs typeface="Arial"/>
              </a:rPr>
              <a:t>字节跳动成立电商一级部门，推出“抖音电商”品牌。</a:t>
            </a:r>
          </a:p>
        </p:txBody>
      </p:sp>
      <p:sp>
        <p:nvSpPr>
          <p:cNvPr id="71" name="TextBox 70"/>
          <p:cNvSpPr txBox="1"/>
          <p:nvPr/>
        </p:nvSpPr>
        <p:spPr>
          <a:xfrm>
            <a:off x="8778240" y="2542032"/>
            <a:ext cx="2377440" cy="1325880"/>
          </a:xfrm>
          <a:prstGeom prst="rect">
            <a:avLst/>
          </a:prstGeom>
          <a:noFill/>
        </p:spPr>
        <p:txBody>
          <a:bodyPr wrap="square" lIns="0" rIns="0" tIns="0" bIns="0" anchor="t">
            <a:spAutoFit/>
          </a:bodyPr>
          <a:lstStyle/>
          <a:p>
            <a:pPr algn="l">
              <a:spcAft>
                <a:spcPts val="300"/>
              </a:spcAft>
            </a:pPr>
            <a:r>
              <a:rPr sz="1500" b="1" i="0">
                <a:solidFill>
                  <a:srgbClr val="FE2C55"/>
                </a:solidFill>
                <a:latin typeface="Arial"/>
                <a:ea typeface="Microsoft YaHei"/>
                <a:cs typeface="Arial"/>
              </a:rPr>
              <a:t>2020年10月</a:t>
            </a:r>
          </a:p>
          <a:p>
            <a:pPr algn="l">
              <a:spcAft>
                <a:spcPts val="300"/>
              </a:spcAft>
            </a:pPr>
            <a:r>
              <a:rPr sz="1300" b="1" i="0">
                <a:solidFill>
                  <a:srgbClr val="FFFFFF"/>
                </a:solidFill>
                <a:latin typeface="Arial"/>
                <a:ea typeface="Microsoft YaHei"/>
                <a:cs typeface="Arial"/>
              </a:rPr>
              <a:t>切断外链，形成闭环</a:t>
            </a:r>
          </a:p>
          <a:p>
            <a:pPr algn="l">
              <a:spcAft>
                <a:spcPts val="300"/>
              </a:spcAft>
            </a:pPr>
            <a:r>
              <a:rPr sz="1050" b="0" i="0">
                <a:solidFill>
                  <a:srgbClr val="C9C9C9"/>
                </a:solidFill>
                <a:latin typeface="Arial"/>
                <a:ea typeface="Microsoft YaHei"/>
                <a:cs typeface="Arial"/>
              </a:rPr>
              <a:t>直播间禁止第三方外链，交易留在抖音站内完成。</a:t>
            </a:r>
          </a:p>
        </p:txBody>
      </p:sp>
      <p:sp>
        <p:nvSpPr>
          <p:cNvPr id="72" name="TextBox 71"/>
          <p:cNvSpPr txBox="1"/>
          <p:nvPr/>
        </p:nvSpPr>
        <p:spPr>
          <a:xfrm>
            <a:off x="8805672" y="4636007"/>
            <a:ext cx="2377440" cy="1325880"/>
          </a:xfrm>
          <a:prstGeom prst="rect">
            <a:avLst/>
          </a:prstGeom>
          <a:noFill/>
        </p:spPr>
        <p:txBody>
          <a:bodyPr wrap="square" lIns="0" rIns="0" tIns="0" bIns="0" anchor="t">
            <a:spAutoFit/>
          </a:bodyPr>
          <a:lstStyle/>
          <a:p>
            <a:pPr algn="l">
              <a:spcAft>
                <a:spcPts val="300"/>
              </a:spcAft>
            </a:pPr>
            <a:r>
              <a:rPr sz="1500" b="1" i="0">
                <a:solidFill>
                  <a:srgbClr val="FE2C55"/>
                </a:solidFill>
                <a:latin typeface="Arial"/>
                <a:ea typeface="Microsoft YaHei"/>
                <a:cs typeface="Arial"/>
              </a:rPr>
              <a:t>2021年4月</a:t>
            </a:r>
          </a:p>
          <a:p>
            <a:pPr algn="l">
              <a:spcAft>
                <a:spcPts val="300"/>
              </a:spcAft>
            </a:pPr>
            <a:r>
              <a:rPr sz="1300" b="1" i="0">
                <a:solidFill>
                  <a:srgbClr val="FFFFFF"/>
                </a:solidFill>
                <a:latin typeface="Arial"/>
                <a:ea typeface="Microsoft YaHei"/>
                <a:cs typeface="Arial"/>
              </a:rPr>
              <a:t>提出“兴趣电商”</a:t>
            </a:r>
          </a:p>
          <a:p>
            <a:pPr algn="l">
              <a:spcAft>
                <a:spcPts val="300"/>
              </a:spcAft>
            </a:pPr>
            <a:r>
              <a:rPr sz="1050" b="0" i="0">
                <a:solidFill>
                  <a:srgbClr val="C9C9C9"/>
                </a:solidFill>
                <a:latin typeface="Arial"/>
                <a:ea typeface="Microsoft YaHei"/>
                <a:cs typeface="Arial"/>
              </a:rPr>
              <a:t>首届抖音电商生态大会正式提出这一新定位。</a:t>
            </a:r>
          </a:p>
        </p:txBody>
      </p:sp>
      <p:sp>
        <p:nvSpPr>
          <p:cNvPr id="73" name="TextBox 72"/>
          <p:cNvSpPr txBox="1"/>
          <p:nvPr/>
        </p:nvSpPr>
        <p:spPr>
          <a:xfrm>
            <a:off x="4910328" y="4636007"/>
            <a:ext cx="2377440" cy="1325880"/>
          </a:xfrm>
          <a:prstGeom prst="rect">
            <a:avLst/>
          </a:prstGeom>
          <a:noFill/>
        </p:spPr>
        <p:txBody>
          <a:bodyPr wrap="square" lIns="0" rIns="0" tIns="0" bIns="0" anchor="t">
            <a:spAutoFit/>
          </a:bodyPr>
          <a:lstStyle/>
          <a:p>
            <a:pPr algn="l">
              <a:spcAft>
                <a:spcPts val="300"/>
              </a:spcAft>
            </a:pPr>
            <a:r>
              <a:rPr sz="1500" b="1" i="0">
                <a:solidFill>
                  <a:srgbClr val="25F4EE"/>
                </a:solidFill>
                <a:latin typeface="Arial"/>
                <a:ea typeface="Microsoft YaHei"/>
                <a:cs typeface="Arial"/>
              </a:rPr>
              <a:t>2022年5月</a:t>
            </a:r>
          </a:p>
          <a:p>
            <a:pPr algn="l">
              <a:spcAft>
                <a:spcPts val="300"/>
              </a:spcAft>
            </a:pPr>
            <a:r>
              <a:rPr sz="1300" b="1" i="0">
                <a:solidFill>
                  <a:srgbClr val="FFFFFF"/>
                </a:solidFill>
                <a:latin typeface="Arial"/>
                <a:ea typeface="Microsoft YaHei"/>
                <a:cs typeface="Arial"/>
              </a:rPr>
              <a:t>升级“全域兴趣电商”</a:t>
            </a:r>
          </a:p>
          <a:p>
            <a:pPr algn="l">
              <a:spcAft>
                <a:spcPts val="300"/>
              </a:spcAft>
            </a:pPr>
            <a:r>
              <a:rPr sz="1050" b="0" i="0">
                <a:solidFill>
                  <a:srgbClr val="C9C9C9"/>
                </a:solidFill>
                <a:latin typeface="Arial"/>
                <a:ea typeface="Microsoft YaHei"/>
                <a:cs typeface="Arial"/>
              </a:rPr>
              <a:t>内容场 + 货架场：补齐商城、搜索与店铺。</a:t>
            </a:r>
          </a:p>
        </p:txBody>
      </p:sp>
      <p:sp>
        <p:nvSpPr>
          <p:cNvPr id="74" name="TextBox 73"/>
          <p:cNvSpPr txBox="1"/>
          <p:nvPr/>
        </p:nvSpPr>
        <p:spPr>
          <a:xfrm>
            <a:off x="1060704" y="4636007"/>
            <a:ext cx="2377440" cy="1325880"/>
          </a:xfrm>
          <a:prstGeom prst="rect">
            <a:avLst/>
          </a:prstGeom>
          <a:noFill/>
        </p:spPr>
        <p:txBody>
          <a:bodyPr wrap="square" lIns="0" rIns="0" tIns="0" bIns="0" anchor="t">
            <a:spAutoFit/>
          </a:bodyPr>
          <a:lstStyle/>
          <a:p>
            <a:pPr algn="l">
              <a:spcAft>
                <a:spcPts val="300"/>
              </a:spcAft>
            </a:pPr>
            <a:r>
              <a:rPr sz="1500" b="1" i="0">
                <a:solidFill>
                  <a:srgbClr val="25F4EE"/>
                </a:solidFill>
                <a:latin typeface="Arial"/>
                <a:ea typeface="Microsoft YaHei"/>
                <a:cs typeface="Arial"/>
              </a:rPr>
              <a:t>2024–2025年</a:t>
            </a:r>
          </a:p>
          <a:p>
            <a:pPr algn="l">
              <a:spcAft>
                <a:spcPts val="300"/>
              </a:spcAft>
            </a:pPr>
            <a:r>
              <a:rPr sz="1300" b="1" i="0">
                <a:solidFill>
                  <a:srgbClr val="FFFFFF"/>
                </a:solidFill>
                <a:latin typeface="Arial"/>
                <a:ea typeface="Microsoft YaHei"/>
                <a:cs typeface="Arial"/>
              </a:rPr>
              <a:t>规模化增长</a:t>
            </a:r>
          </a:p>
          <a:p>
            <a:pPr algn="l">
              <a:spcAft>
                <a:spcPts val="300"/>
              </a:spcAft>
            </a:pPr>
            <a:r>
              <a:rPr sz="1050" b="0" i="0">
                <a:solidFill>
                  <a:srgbClr val="C9C9C9"/>
                </a:solidFill>
                <a:latin typeface="Arial"/>
                <a:ea typeface="Microsoft YaHei"/>
                <a:cs typeface="Arial"/>
              </a:rPr>
              <a:t>GMV 约3.5万亿元（2024）→ 约4.3万亿元（2025E）。</a:t>
            </a:r>
          </a:p>
        </p:txBody>
      </p:sp>
      <p:sp>
        <p:nvSpPr>
          <p:cNvPr id="75" name="TextBox 74"/>
          <p:cNvSpPr txBox="1"/>
          <p:nvPr/>
        </p:nvSpPr>
        <p:spPr>
          <a:xfrm>
            <a:off x="502920" y="6419088"/>
            <a:ext cx="1097280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资料来源：</a:t>
            </a:r>
            <a:r>
              <a:rPr sz="700" b="0" i="0">
                <a:solidFill>
                  <a:srgbClr val="8C8C8C"/>
                </a:solidFill>
                <a:latin typeface="Arial"/>
                <a:ea typeface="Microsoft YaHei"/>
                <a:cs typeface="Arial"/>
                <a:hlinkClick r:id="rId9">
                  <a:extLst>
                    <a:ext uri="{A12FA001-AC4F-418D-AE19-62706E023703}">
                      <ahyp:hlinkClr xmlns:ahyp="http://schemas.microsoft.com/office/drawing/2018/hyperlinkcolor" val="tx"/>
                    </a:ext>
                  </a:extLst>
                </a:hlinkClick>
              </a:rPr>
              <a:t>CBNData（2020）</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0">
                  <a:extLst>
                    <a:ext uri="{A12FA001-AC4F-418D-AE19-62706E023703}">
                      <ahyp:hlinkClr xmlns:ahyp="http://schemas.microsoft.com/office/drawing/2018/hyperlinkcolor" val="tx"/>
                    </a:ext>
                  </a:extLst>
                </a:hlinkClick>
              </a:rPr>
              <a:t>新浪财经（2020）</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1">
                  <a:extLst>
                    <a:ext uri="{A12FA001-AC4F-418D-AE19-62706E023703}">
                      <ahyp:hlinkClr xmlns:ahyp="http://schemas.microsoft.com/office/drawing/2018/hyperlinkcolor" val="tx"/>
                    </a:ext>
                  </a:extLst>
                </a:hlinkClick>
              </a:rPr>
              <a:t>TechNode（2020）</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2">
                  <a:extLst>
                    <a:ext uri="{A12FA001-AC4F-418D-AE19-62706E023703}">
                      <ahyp:hlinkClr xmlns:ahyp="http://schemas.microsoft.com/office/drawing/2018/hyperlinkcolor" val="tx"/>
                    </a:ext>
                  </a:extLst>
                </a:hlinkClick>
              </a:rPr>
              <a:t>雷锋网（2021）</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3">
                  <a:extLst>
                    <a:ext uri="{A12FA001-AC4F-418D-AE19-62706E023703}">
                      <ahyp:hlinkClr xmlns:ahyp="http://schemas.microsoft.com/office/drawing/2018/hyperlinkcolor" val="tx"/>
                    </a:ext>
                  </a:extLst>
                </a:hlinkClick>
              </a:rPr>
              <a:t>经济参考报（2022）</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4">
                  <a:extLst>
                    <a:ext uri="{A12FA001-AC4F-418D-AE19-62706E023703}">
                      <ahyp:hlinkClr xmlns:ahyp="http://schemas.microsoft.com/office/drawing/2018/hyperlinkcolor" val="tx"/>
                    </a:ext>
                  </a:extLst>
                </a:hlinkClick>
              </a:rPr>
              <a:t>36氪（2025）</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5">
                  <a:extLst>
                    <a:ext uri="{A12FA001-AC4F-418D-AE19-62706E023703}">
                      <ahyp:hlinkClr xmlns:ahyp="http://schemas.microsoft.com/office/drawing/2018/hyperlinkcolor" val="tx"/>
                    </a:ext>
                  </a:extLst>
                </a:hlinkClick>
              </a:rPr>
              <a:t>新浪财经（2025）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object 3"/>
          <p:cNvGrpSpPr/>
          <p:nvPr/>
        </p:nvGrpSpPr>
        <p:grpSpPr>
          <a:xfrm>
            <a:off x="0" y="0"/>
            <a:ext cx="12192000" cy="6858000"/>
            <a:chOff x="0" y="0"/>
            <a:chExt cx="9144000" cy="5143500"/>
          </a:xfrm>
        </p:grpSpPr>
        <p:pic>
          <p:nvPicPr>
            <p:cNvPr id="4" name="object 4"/>
            <p:cNvPicPr/>
            <p:nvPr/>
          </p:nvPicPr>
          <p:blipFill>
            <a:blip r:embed="rId1" cstate="print"/>
            <a:stretch>
              <a:fillRect/>
            </a:stretch>
          </p:blipFill>
          <p:spPr>
            <a:xfrm>
              <a:off x="4875424" y="0"/>
              <a:ext cx="4268575" cy="5143500"/>
            </a:xfrm>
            <a:prstGeom prst="rect">
              <a:avLst/>
            </a:prstGeom>
          </p:spPr>
        </p:pic>
        <p:pic>
          <p:nvPicPr>
            <p:cNvPr id="5" name="object 5"/>
            <p:cNvPicPr/>
            <p:nvPr/>
          </p:nvPicPr>
          <p:blipFill>
            <a:blip r:embed="rId2" cstate="print"/>
            <a:stretch>
              <a:fillRect/>
            </a:stretch>
          </p:blipFill>
          <p:spPr>
            <a:xfrm>
              <a:off x="0" y="0"/>
              <a:ext cx="5918199" cy="5143499"/>
            </a:xfrm>
            <a:prstGeom prst="rect">
              <a:avLst/>
            </a:prstGeom>
          </p:spPr>
        </p:pic>
      </p:grpSp>
      <p:sp>
        <p:nvSpPr>
          <p:cNvPr id="11" name="object 11"/>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网络与新媒体营销 | 小组汇报</a:t>
            </a:r>
            <a:endParaRPr sz="1245" spc="-10" dirty="0">
              <a:solidFill>
                <a:srgbClr val="FFFFFF"/>
              </a:solidFill>
            </a:endParaRPr>
          </a:p>
        </p:txBody>
      </p:sp>
      <p:sp>
        <p:nvSpPr>
          <p:cNvPr id="12" name="object 12"/>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13" name="TextBox 12"/>
          <p:cNvSpPr txBox="1"/>
          <p:nvPr/>
        </p:nvSpPr>
        <p:spPr>
          <a:xfrm>
            <a:off x="502920" y="347472"/>
            <a:ext cx="640080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今日抖音：规模即销量</a:t>
            </a:r>
          </a:p>
        </p:txBody>
      </p:sp>
      <p:sp>
        <p:nvSpPr>
          <p:cNvPr id="14" name="TextBox 13"/>
          <p:cNvSpPr txBox="1"/>
          <p:nvPr/>
        </p:nvSpPr>
        <p:spPr>
          <a:xfrm>
            <a:off x="502920" y="1325880"/>
            <a:ext cx="5486400" cy="731520"/>
          </a:xfrm>
          <a:prstGeom prst="rect">
            <a:avLst/>
          </a:prstGeom>
          <a:noFill/>
        </p:spPr>
        <p:txBody>
          <a:bodyPr wrap="square" lIns="0" rIns="0" tIns="0" bIns="0" anchor="t">
            <a:spAutoFit/>
          </a:bodyPr>
          <a:lstStyle/>
          <a:p>
            <a:pPr algn="l"/>
            <a:r>
              <a:rPr sz="4000" b="1" i="0">
                <a:solidFill>
                  <a:srgbClr val="25F4EE"/>
                </a:solidFill>
                <a:latin typeface="Arial"/>
                <a:ea typeface="Microsoft YaHei"/>
                <a:cs typeface="Arial"/>
              </a:rPr>
              <a:t>10.7亿</a:t>
            </a:r>
          </a:p>
        </p:txBody>
      </p:sp>
      <p:sp>
        <p:nvSpPr>
          <p:cNvPr id="15" name="TextBox 14"/>
          <p:cNvSpPr txBox="1"/>
          <p:nvPr/>
        </p:nvSpPr>
        <p:spPr>
          <a:xfrm>
            <a:off x="530352" y="2057400"/>
            <a:ext cx="530352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中国短视频用户规模</a:t>
            </a:r>
          </a:p>
        </p:txBody>
      </p:sp>
      <p:sp>
        <p:nvSpPr>
          <p:cNvPr id="16" name="TextBox 15"/>
          <p:cNvSpPr txBox="1"/>
          <p:nvPr/>
        </p:nvSpPr>
        <p:spPr>
          <a:xfrm>
            <a:off x="530352" y="2395728"/>
            <a:ext cx="5303520" cy="45720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占全部网民的95.4%（2025年12月），是抖音电商的用户基础</a:t>
            </a:r>
          </a:p>
        </p:txBody>
      </p:sp>
      <p:sp>
        <p:nvSpPr>
          <p:cNvPr id="17" name="TextBox 16"/>
          <p:cNvSpPr txBox="1"/>
          <p:nvPr/>
        </p:nvSpPr>
        <p:spPr>
          <a:xfrm>
            <a:off x="502920" y="2953512"/>
            <a:ext cx="5486400" cy="731520"/>
          </a:xfrm>
          <a:prstGeom prst="rect">
            <a:avLst/>
          </a:prstGeom>
          <a:noFill/>
        </p:spPr>
        <p:txBody>
          <a:bodyPr wrap="square" lIns="0" rIns="0" tIns="0" bIns="0" anchor="t">
            <a:spAutoFit/>
          </a:bodyPr>
          <a:lstStyle/>
          <a:p>
            <a:pPr algn="l"/>
            <a:r>
              <a:rPr sz="4000" b="1" i="0">
                <a:solidFill>
                  <a:srgbClr val="FE2C55"/>
                </a:solidFill>
                <a:latin typeface="Arial"/>
                <a:ea typeface="Microsoft YaHei"/>
                <a:cs typeface="Arial"/>
              </a:rPr>
              <a:t>≈4.3万亿元</a:t>
            </a:r>
          </a:p>
        </p:txBody>
      </p:sp>
      <p:sp>
        <p:nvSpPr>
          <p:cNvPr id="18" name="TextBox 17"/>
          <p:cNvSpPr txBox="1"/>
          <p:nvPr/>
        </p:nvSpPr>
        <p:spPr>
          <a:xfrm>
            <a:off x="530352" y="3685032"/>
            <a:ext cx="530352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2025年抖音电商GMV（预估）</a:t>
            </a:r>
          </a:p>
        </p:txBody>
      </p:sp>
      <p:sp>
        <p:nvSpPr>
          <p:cNvPr id="19" name="TextBox 18"/>
          <p:cNvSpPr txBox="1"/>
          <p:nvPr/>
        </p:nvSpPr>
        <p:spPr>
          <a:xfrm>
            <a:off x="530352" y="4023360"/>
            <a:ext cx="5303520" cy="45720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2024年约3.5万亿元，同比增长约30%，已跻身中国电商平台前三</a:t>
            </a:r>
          </a:p>
        </p:txBody>
      </p:sp>
      <p:sp>
        <p:nvSpPr>
          <p:cNvPr id="20" name="TextBox 19"/>
          <p:cNvSpPr txBox="1"/>
          <p:nvPr/>
        </p:nvSpPr>
        <p:spPr>
          <a:xfrm>
            <a:off x="502920" y="4581144"/>
            <a:ext cx="5486400" cy="731520"/>
          </a:xfrm>
          <a:prstGeom prst="rect">
            <a:avLst/>
          </a:prstGeom>
          <a:noFill/>
        </p:spPr>
        <p:txBody>
          <a:bodyPr wrap="square" lIns="0" rIns="0" tIns="0" bIns="0" anchor="t">
            <a:spAutoFit/>
          </a:bodyPr>
          <a:lstStyle/>
          <a:p>
            <a:pPr algn="l"/>
            <a:r>
              <a:rPr sz="4000" b="1" i="0">
                <a:solidFill>
                  <a:srgbClr val="25F4EE"/>
                </a:solidFill>
                <a:latin typeface="Arial"/>
                <a:ea typeface="Microsoft YaHei"/>
                <a:cs typeface="Arial"/>
              </a:rPr>
              <a:t>40%+</a:t>
            </a:r>
          </a:p>
        </p:txBody>
      </p:sp>
      <p:sp>
        <p:nvSpPr>
          <p:cNvPr id="21" name="TextBox 20"/>
          <p:cNvSpPr txBox="1"/>
          <p:nvPr/>
        </p:nvSpPr>
        <p:spPr>
          <a:xfrm>
            <a:off x="530352" y="5312664"/>
            <a:ext cx="5303520" cy="320040"/>
          </a:xfrm>
          <a:prstGeom prst="rect">
            <a:avLst/>
          </a:prstGeom>
          <a:noFill/>
        </p:spPr>
        <p:txBody>
          <a:bodyPr wrap="square" lIns="0" rIns="0" tIns="0" bIns="0" anchor="t">
            <a:spAutoFit/>
          </a:bodyPr>
          <a:lstStyle/>
          <a:p>
            <a:pPr algn="l"/>
            <a:r>
              <a:rPr sz="1500" b="1" i="0">
                <a:solidFill>
                  <a:srgbClr val="FFFFFF"/>
                </a:solidFill>
                <a:latin typeface="Arial"/>
                <a:ea typeface="Microsoft YaHei"/>
                <a:cs typeface="Arial"/>
              </a:rPr>
              <a:t>2024年GMV来自货架场景</a:t>
            </a:r>
          </a:p>
        </p:txBody>
      </p:sp>
      <p:sp>
        <p:nvSpPr>
          <p:cNvPr id="22" name="TextBox 21"/>
          <p:cNvSpPr txBox="1"/>
          <p:nvPr/>
        </p:nvSpPr>
        <p:spPr>
          <a:xfrm>
            <a:off x="530352" y="5650992"/>
            <a:ext cx="5303520" cy="45720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包括商城、搜索和店铺；品牌店播另贡献30%以上</a:t>
            </a:r>
          </a:p>
        </p:txBody>
      </p:sp>
      <p:sp>
        <p:nvSpPr>
          <p:cNvPr id="23" name="TextBox 22"/>
          <p:cNvSpPr txBox="1"/>
          <p:nvPr/>
        </p:nvSpPr>
        <p:spPr>
          <a:xfrm>
            <a:off x="4572000" y="6144768"/>
            <a:ext cx="3017520" cy="182880"/>
          </a:xfrm>
          <a:prstGeom prst="rect">
            <a:avLst/>
          </a:prstGeom>
          <a:noFill/>
        </p:spPr>
        <p:txBody>
          <a:bodyPr wrap="square" lIns="0" rIns="0" tIns="0" bIns="0" anchor="t">
            <a:spAutoFit/>
          </a:bodyPr>
          <a:lstStyle/>
          <a:p>
            <a:pPr algn="r"/>
            <a:r>
              <a:rPr sz="650" b="0" i="0">
                <a:solidFill>
                  <a:srgbClr val="8C8C8C"/>
                </a:solidFill>
                <a:latin typeface="Arial"/>
                <a:ea typeface="Microsoft YaHei"/>
                <a:cs typeface="Arial"/>
              </a:rPr>
              <a:t>图片来源：</a:t>
            </a:r>
            <a:r>
              <a:rPr sz="650" b="0" i="0">
                <a:solidFill>
                  <a:srgbClr val="8C8C8C"/>
                </a:solidFill>
                <a:latin typeface="Arial"/>
                <a:ea typeface="Microsoft YaHei"/>
                <a:cs typeface="Arial"/>
                <a:hlinkClick r:id="rId5">
                  <a:extLst>
                    <a:ext uri="{A12FA001-AC4F-418D-AE19-62706E023703}">
                      <ahyp:hlinkClr xmlns:ahyp="http://schemas.microsoft.com/office/drawing/2018/hyperlinkcolor" val="tx"/>
                    </a:ext>
                  </a:extLst>
                </a:hlinkClick>
              </a:rPr>
              <a:t>TikTok What's Next 2025 趋势报告</a:t>
            </a:r>
          </a:p>
        </p:txBody>
      </p:sp>
      <p:sp>
        <p:nvSpPr>
          <p:cNvPr id="24" name="TextBox 23"/>
          <p:cNvSpPr txBox="1"/>
          <p:nvPr/>
        </p:nvSpPr>
        <p:spPr>
          <a:xfrm>
            <a:off x="3429000" y="6419088"/>
            <a:ext cx="420624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资料来源：</a:t>
            </a:r>
            <a:r>
              <a:rPr sz="700" b="0" i="0">
                <a:solidFill>
                  <a:srgbClr val="8C8C8C"/>
                </a:solidFill>
                <a:latin typeface="Arial"/>
                <a:ea typeface="Microsoft YaHei"/>
                <a:cs typeface="Arial"/>
                <a:hlinkClick r:id="rId6">
                  <a:extLst>
                    <a:ext uri="{A12FA001-AC4F-418D-AE19-62706E023703}">
                      <ahyp:hlinkClr xmlns:ahyp="http://schemas.microsoft.com/office/drawing/2018/hyperlinkcolor" val="tx"/>
                    </a:ext>
                  </a:extLst>
                </a:hlinkClick>
              </a:rPr>
              <a:t>CNNIC第57次统计报告（2026），新浪转载</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7">
                  <a:extLst>
                    <a:ext uri="{A12FA001-AC4F-418D-AE19-62706E023703}">
                      <ahyp:hlinkClr xmlns:ahyp="http://schemas.microsoft.com/office/drawing/2018/hyperlinkcolor" val="tx"/>
                    </a:ext>
                  </a:extLst>
                </a:hlinkClick>
              </a:rPr>
              <a:t>36氪（2025）</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8">
                  <a:extLst>
                    <a:ext uri="{A12FA001-AC4F-418D-AE19-62706E023703}">
                      <ahyp:hlinkClr xmlns:ahyp="http://schemas.microsoft.com/office/drawing/2018/hyperlinkcolor" val="tx"/>
                    </a:ext>
                  </a:extLst>
                </a:hlinkClick>
              </a:rPr>
              <a:t>新浪财经（2025）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object 3"/>
          <p:cNvPicPr/>
          <p:nvPr/>
        </p:nvPicPr>
        <p:blipFill>
          <a:blip r:embed="rId1" cstate="print"/>
          <a:stretch>
            <a:fillRect/>
          </a:stretch>
        </p:blipFill>
        <p:spPr>
          <a:xfrm>
            <a:off x="11722707" y="222771"/>
            <a:ext cx="202335" cy="231891"/>
          </a:xfrm>
          <a:prstGeom prst="rect">
            <a:avLst/>
          </a:prstGeom>
        </p:spPr>
      </p:pic>
      <p:grpSp>
        <p:nvGrpSpPr>
          <p:cNvPr id="4" name="object 4"/>
          <p:cNvGrpSpPr/>
          <p:nvPr/>
        </p:nvGrpSpPr>
        <p:grpSpPr>
          <a:xfrm>
            <a:off x="8414267" y="737699"/>
            <a:ext cx="3015827" cy="5383105"/>
            <a:chOff x="6310700" y="553274"/>
            <a:chExt cx="2261870" cy="4037329"/>
          </a:xfrm>
        </p:grpSpPr>
        <p:pic>
          <p:nvPicPr>
            <p:cNvPr id="5" name="object 5"/>
            <p:cNvPicPr/>
            <p:nvPr/>
          </p:nvPicPr>
          <p:blipFill>
            <a:blip r:embed="rId2" cstate="print"/>
            <a:stretch>
              <a:fillRect/>
            </a:stretch>
          </p:blipFill>
          <p:spPr>
            <a:xfrm>
              <a:off x="6384650" y="660350"/>
              <a:ext cx="2117399" cy="3764399"/>
            </a:xfrm>
            <a:prstGeom prst="rect">
              <a:avLst/>
            </a:prstGeom>
          </p:spPr>
        </p:pic>
        <p:pic>
          <p:nvPicPr>
            <p:cNvPr id="6" name="object 6"/>
            <p:cNvPicPr/>
            <p:nvPr/>
          </p:nvPicPr>
          <p:blipFill>
            <a:blip r:embed="rId3" cstate="print"/>
            <a:stretch>
              <a:fillRect/>
            </a:stretch>
          </p:blipFill>
          <p:spPr>
            <a:xfrm>
              <a:off x="6310700" y="553275"/>
              <a:ext cx="2261250" cy="4036950"/>
            </a:xfrm>
            <a:prstGeom prst="rect">
              <a:avLst/>
            </a:prstGeom>
          </p:spPr>
        </p:pic>
        <p:sp>
          <p:nvSpPr>
            <p:cNvPr id="7" name="object 7"/>
            <p:cNvSpPr/>
            <p:nvPr/>
          </p:nvSpPr>
          <p:spPr>
            <a:xfrm>
              <a:off x="6315462" y="558037"/>
              <a:ext cx="2252345" cy="4027804"/>
            </a:xfrm>
            <a:custGeom>
              <a:avLst/>
              <a:gdLst/>
              <a:ahLst/>
              <a:cxnLst/>
              <a:rect l="l" t="t" r="r" b="b"/>
              <a:pathLst>
                <a:path w="2252345" h="4027804">
                  <a:moveTo>
                    <a:pt x="0" y="225762"/>
                  </a:moveTo>
                  <a:lnTo>
                    <a:pt x="4595" y="180263"/>
                  </a:lnTo>
                  <a:lnTo>
                    <a:pt x="17774" y="137885"/>
                  </a:lnTo>
                  <a:lnTo>
                    <a:pt x="38628" y="99536"/>
                  </a:lnTo>
                  <a:lnTo>
                    <a:pt x="66248" y="66124"/>
                  </a:lnTo>
                  <a:lnTo>
                    <a:pt x="99723" y="38556"/>
                  </a:lnTo>
                  <a:lnTo>
                    <a:pt x="138143" y="17741"/>
                  </a:lnTo>
                  <a:lnTo>
                    <a:pt x="180601" y="4586"/>
                  </a:lnTo>
                  <a:lnTo>
                    <a:pt x="226185" y="0"/>
                  </a:lnTo>
                  <a:lnTo>
                    <a:pt x="2025539" y="0"/>
                  </a:lnTo>
                  <a:lnTo>
                    <a:pt x="2069871" y="4378"/>
                  </a:lnTo>
                  <a:lnTo>
                    <a:pt x="2112096" y="17185"/>
                  </a:lnTo>
                  <a:lnTo>
                    <a:pt x="2151026" y="37930"/>
                  </a:lnTo>
                  <a:lnTo>
                    <a:pt x="2185476" y="66124"/>
                  </a:lnTo>
                  <a:lnTo>
                    <a:pt x="2213723" y="100509"/>
                  </a:lnTo>
                  <a:lnTo>
                    <a:pt x="2234507" y="139367"/>
                  </a:lnTo>
                  <a:lnTo>
                    <a:pt x="2247338" y="181513"/>
                  </a:lnTo>
                  <a:lnTo>
                    <a:pt x="2251724" y="225762"/>
                  </a:lnTo>
                  <a:lnTo>
                    <a:pt x="2251724" y="3801662"/>
                  </a:lnTo>
                  <a:lnTo>
                    <a:pt x="2247129" y="3847161"/>
                  </a:lnTo>
                  <a:lnTo>
                    <a:pt x="2233949" y="3889539"/>
                  </a:lnTo>
                  <a:lnTo>
                    <a:pt x="2213095" y="3927888"/>
                  </a:lnTo>
                  <a:lnTo>
                    <a:pt x="2185476" y="3961300"/>
                  </a:lnTo>
                  <a:lnTo>
                    <a:pt x="2152001" y="3988868"/>
                  </a:lnTo>
                  <a:lnTo>
                    <a:pt x="2113580" y="4009683"/>
                  </a:lnTo>
                  <a:lnTo>
                    <a:pt x="2071123" y="4022838"/>
                  </a:lnTo>
                  <a:lnTo>
                    <a:pt x="2025539" y="4027425"/>
                  </a:lnTo>
                  <a:lnTo>
                    <a:pt x="226185" y="4027425"/>
                  </a:lnTo>
                  <a:lnTo>
                    <a:pt x="180601" y="4022838"/>
                  </a:lnTo>
                  <a:lnTo>
                    <a:pt x="138143" y="4009683"/>
                  </a:lnTo>
                  <a:lnTo>
                    <a:pt x="99723" y="3988868"/>
                  </a:lnTo>
                  <a:lnTo>
                    <a:pt x="66248" y="3961300"/>
                  </a:lnTo>
                  <a:lnTo>
                    <a:pt x="38628" y="3927888"/>
                  </a:lnTo>
                  <a:lnTo>
                    <a:pt x="17774" y="3889539"/>
                  </a:lnTo>
                  <a:lnTo>
                    <a:pt x="4595" y="3847161"/>
                  </a:lnTo>
                  <a:lnTo>
                    <a:pt x="0" y="3801662"/>
                  </a:lnTo>
                  <a:lnTo>
                    <a:pt x="0" y="225762"/>
                  </a:lnTo>
                  <a:close/>
                </a:path>
              </a:pathLst>
            </a:custGeom>
            <a:ln w="9524">
              <a:solidFill>
                <a:srgbClr val="999999"/>
              </a:solidFill>
            </a:ln>
          </p:spPr>
          <p:txBody>
            <a:bodyPr wrap="square" lIns="0" tIns="0" rIns="0" bIns="0" rtlCol="0"/>
            <a:lstStyle/>
            <a:p>
              <a:endParaRPr sz="2400"/>
            </a:p>
          </p:txBody>
        </p:sp>
      </p:grpSp>
      <p:grpSp>
        <p:nvGrpSpPr>
          <p:cNvPr id="8" name="object 8"/>
          <p:cNvGrpSpPr/>
          <p:nvPr/>
        </p:nvGrpSpPr>
        <p:grpSpPr>
          <a:xfrm>
            <a:off x="99" y="0"/>
            <a:ext cx="3743960" cy="6858000"/>
            <a:chOff x="74" y="0"/>
            <a:chExt cx="2807970" cy="5143500"/>
          </a:xfrm>
        </p:grpSpPr>
        <p:sp>
          <p:nvSpPr>
            <p:cNvPr id="9" name="object 9"/>
            <p:cNvSpPr/>
            <p:nvPr/>
          </p:nvSpPr>
          <p:spPr>
            <a:xfrm>
              <a:off x="74" y="0"/>
              <a:ext cx="2807970" cy="5143500"/>
            </a:xfrm>
            <a:custGeom>
              <a:avLst/>
              <a:gdLst/>
              <a:ahLst/>
              <a:cxnLst/>
              <a:rect l="l" t="t" r="r" b="b"/>
              <a:pathLst>
                <a:path w="2807970" h="5143500">
                  <a:moveTo>
                    <a:pt x="2807399" y="5143499"/>
                  </a:moveTo>
                  <a:lnTo>
                    <a:pt x="0" y="5143499"/>
                  </a:lnTo>
                  <a:lnTo>
                    <a:pt x="0" y="0"/>
                  </a:lnTo>
                  <a:lnTo>
                    <a:pt x="2807399" y="0"/>
                  </a:lnTo>
                  <a:lnTo>
                    <a:pt x="2807399" y="5143499"/>
                  </a:lnTo>
                  <a:close/>
                </a:path>
              </a:pathLst>
            </a:custGeom>
            <a:solidFill>
              <a:srgbClr val="3BFFF4"/>
            </a:solidFill>
          </p:spPr>
          <p:txBody>
            <a:bodyPr wrap="square" lIns="0" tIns="0" rIns="0" bIns="0" rtlCol="0"/>
            <a:lstStyle/>
            <a:p>
              <a:endParaRPr sz="2400"/>
            </a:p>
          </p:txBody>
        </p:sp>
        <p:sp>
          <p:nvSpPr>
            <p:cNvPr id="10" name="object 10"/>
            <p:cNvSpPr/>
            <p:nvPr/>
          </p:nvSpPr>
          <p:spPr>
            <a:xfrm>
              <a:off x="352174" y="480412"/>
              <a:ext cx="1428750" cy="319405"/>
            </a:xfrm>
            <a:custGeom>
              <a:avLst/>
              <a:gdLst/>
              <a:ahLst/>
              <a:cxnLst/>
              <a:rect l="l" t="t" r="r" b="b"/>
              <a:pathLst>
                <a:path w="1428750" h="319405">
                  <a:moveTo>
                    <a:pt x="1268849" y="318899"/>
                  </a:moveTo>
                  <a:lnTo>
                    <a:pt x="159449" y="318899"/>
                  </a:lnTo>
                  <a:lnTo>
                    <a:pt x="109051" y="310771"/>
                  </a:lnTo>
                  <a:lnTo>
                    <a:pt x="65280" y="288135"/>
                  </a:lnTo>
                  <a:lnTo>
                    <a:pt x="30764" y="253619"/>
                  </a:lnTo>
                  <a:lnTo>
                    <a:pt x="8128" y="209848"/>
                  </a:lnTo>
                  <a:lnTo>
                    <a:pt x="0" y="159449"/>
                  </a:lnTo>
                  <a:lnTo>
                    <a:pt x="8128" y="109051"/>
                  </a:lnTo>
                  <a:lnTo>
                    <a:pt x="30764" y="65280"/>
                  </a:lnTo>
                  <a:lnTo>
                    <a:pt x="65280" y="30764"/>
                  </a:lnTo>
                  <a:lnTo>
                    <a:pt x="109051" y="8128"/>
                  </a:lnTo>
                  <a:lnTo>
                    <a:pt x="159449" y="0"/>
                  </a:lnTo>
                  <a:lnTo>
                    <a:pt x="1268849" y="0"/>
                  </a:lnTo>
                  <a:lnTo>
                    <a:pt x="1329868" y="12137"/>
                  </a:lnTo>
                  <a:lnTo>
                    <a:pt x="1381598" y="46701"/>
                  </a:lnTo>
                  <a:lnTo>
                    <a:pt x="1416162" y="98431"/>
                  </a:lnTo>
                  <a:lnTo>
                    <a:pt x="1428299" y="159449"/>
                  </a:lnTo>
                  <a:lnTo>
                    <a:pt x="1420171" y="209848"/>
                  </a:lnTo>
                  <a:lnTo>
                    <a:pt x="1397535" y="253619"/>
                  </a:lnTo>
                  <a:lnTo>
                    <a:pt x="1363019" y="288135"/>
                  </a:lnTo>
                  <a:lnTo>
                    <a:pt x="1319248" y="310771"/>
                  </a:lnTo>
                  <a:lnTo>
                    <a:pt x="1268849" y="318899"/>
                  </a:lnTo>
                  <a:close/>
                </a:path>
              </a:pathLst>
            </a:custGeom>
            <a:solidFill>
              <a:srgbClr val="000000"/>
            </a:solidFill>
          </p:spPr>
          <p:txBody>
            <a:bodyPr wrap="square" lIns="0" tIns="0" rIns="0" bIns="0" rtlCol="0"/>
            <a:lstStyle/>
            <a:p>
              <a:endParaRPr sz="2400"/>
            </a:p>
          </p:txBody>
        </p:sp>
      </p:grpSp>
      <p:sp>
        <p:nvSpPr>
          <p:cNvPr id="20" name="object 20"/>
          <p:cNvSpPr/>
          <p:nvPr/>
        </p:nvSpPr>
        <p:spPr>
          <a:xfrm>
            <a:off x="463367" y="3725599"/>
            <a:ext cx="2775373" cy="0"/>
          </a:xfrm>
          <a:custGeom>
            <a:avLst/>
            <a:gdLst/>
            <a:ahLst/>
            <a:cxnLst/>
            <a:rect l="l" t="t" r="r" b="b"/>
            <a:pathLst>
              <a:path w="2081530">
                <a:moveTo>
                  <a:pt x="0" y="0"/>
                </a:moveTo>
                <a:lnTo>
                  <a:pt x="2081099" y="0"/>
                </a:lnTo>
              </a:path>
            </a:pathLst>
          </a:custGeom>
          <a:ln w="9524">
            <a:solidFill>
              <a:srgbClr val="000000"/>
            </a:solidFill>
          </a:ln>
        </p:spPr>
        <p:txBody>
          <a:bodyPr wrap="square" lIns="0" tIns="0" rIns="0" bIns="0" rtlCol="0"/>
          <a:lstStyle/>
          <a:p>
            <a:endParaRPr sz="2400"/>
          </a:p>
        </p:txBody>
      </p:sp>
      <p:sp>
        <p:nvSpPr>
          <p:cNvPr id="34" name="object 34"/>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t>网络与新媒体营销 | 小组汇报</a:t>
            </a:r>
            <a:endParaRPr sz="1245" spc="-10" dirty="0"/>
          </a:p>
        </p:txBody>
      </p:sp>
      <p:sp>
        <p:nvSpPr>
          <p:cNvPr id="35" name="object 35"/>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56515">
              <a:lnSpc>
                <a:spcPct val="100000"/>
              </a:lnSpc>
              <a:spcBef>
                <a:spcPts val="80"/>
              </a:spcBef>
            </a:pPr>
            <a:fld id="{81D60167-4931-47E6-BA6A-407CBD079E47}" type="slidenum">
              <a:rPr sz="1065" spc="-25" dirty="0"/>
            </a:fld>
            <a:endParaRPr sz="1065" spc="-25" dirty="0"/>
          </a:p>
        </p:txBody>
      </p:sp>
      <p:sp>
        <p:nvSpPr>
          <p:cNvPr id="36" name="TextBox 35"/>
          <p:cNvSpPr txBox="1"/>
          <p:nvPr/>
        </p:nvSpPr>
        <p:spPr>
          <a:xfrm>
            <a:off x="475488" y="630936"/>
            <a:ext cx="1883664" cy="420624"/>
          </a:xfrm>
          <a:prstGeom prst="rect">
            <a:avLst/>
          </a:prstGeom>
          <a:noFill/>
        </p:spPr>
        <p:txBody>
          <a:bodyPr wrap="square" lIns="0" rIns="0" tIns="0" bIns="0" anchor="ctr">
            <a:spAutoFit/>
          </a:bodyPr>
          <a:lstStyle/>
          <a:p>
            <a:pPr algn="ctr"/>
            <a:r>
              <a:rPr sz="1400" b="1" i="0">
                <a:solidFill>
                  <a:srgbClr val="FFFFFF"/>
                </a:solidFill>
                <a:latin typeface="Arial"/>
                <a:ea typeface="Microsoft YaHei"/>
                <a:cs typeface="Arial"/>
              </a:rPr>
              <a:t>当前布局</a:t>
            </a:r>
          </a:p>
        </p:txBody>
      </p:sp>
      <p:sp>
        <p:nvSpPr>
          <p:cNvPr id="37" name="TextBox 36"/>
          <p:cNvSpPr txBox="1"/>
          <p:nvPr/>
        </p:nvSpPr>
        <p:spPr>
          <a:xfrm>
            <a:off x="457200" y="1280160"/>
            <a:ext cx="3108960" cy="1188720"/>
          </a:xfrm>
          <a:prstGeom prst="rect">
            <a:avLst/>
          </a:prstGeom>
          <a:noFill/>
        </p:spPr>
        <p:txBody>
          <a:bodyPr wrap="square" lIns="0" rIns="0" tIns="0" bIns="0" anchor="t">
            <a:spAutoFit/>
          </a:bodyPr>
          <a:lstStyle/>
          <a:p>
            <a:pPr algn="l"/>
            <a:r>
              <a:rPr sz="3200" b="1" i="0">
                <a:solidFill>
                  <a:srgbClr val="000000"/>
                </a:solidFill>
                <a:latin typeface="Arial"/>
                <a:ea typeface="Microsoft YaHei"/>
                <a:cs typeface="Arial"/>
              </a:rPr>
              <a:t>一个App，</a:t>
            </a:r>
          </a:p>
          <a:p>
            <a:pPr algn="l"/>
            <a:r>
              <a:rPr sz="3200" b="1" i="0">
                <a:solidFill>
                  <a:srgbClr val="000000"/>
                </a:solidFill>
                <a:latin typeface="Arial"/>
                <a:ea typeface="Microsoft YaHei"/>
                <a:cs typeface="Arial"/>
              </a:rPr>
              <a:t>完整闭环</a:t>
            </a:r>
          </a:p>
        </p:txBody>
      </p:sp>
      <p:sp>
        <p:nvSpPr>
          <p:cNvPr id="38" name="TextBox 37"/>
          <p:cNvSpPr txBox="1"/>
          <p:nvPr/>
        </p:nvSpPr>
        <p:spPr>
          <a:xfrm>
            <a:off x="457200" y="2606040"/>
            <a:ext cx="2926080" cy="1280160"/>
          </a:xfrm>
          <a:prstGeom prst="rect">
            <a:avLst/>
          </a:prstGeom>
          <a:noFill/>
        </p:spPr>
        <p:txBody>
          <a:bodyPr wrap="square" lIns="0" rIns="0" tIns="0" bIns="0" anchor="t">
            <a:spAutoFit/>
          </a:bodyPr>
          <a:lstStyle/>
          <a:p>
            <a:pPr algn="l"/>
            <a:r>
              <a:rPr sz="1500" b="0" i="0">
                <a:solidFill>
                  <a:srgbClr val="000000"/>
                </a:solidFill>
                <a:latin typeface="Arial"/>
                <a:ea typeface="Microsoft YaHei"/>
                <a:cs typeface="Arial"/>
              </a:rPr>
              <a:t>抖音已不只是给淘宝导流的内容平台，而是掌握了从发现、支付到配送的完整购物链路。</a:t>
            </a:r>
          </a:p>
        </p:txBody>
      </p:sp>
      <p:sp>
        <p:nvSpPr>
          <p:cNvPr id="39" name="TextBox 38"/>
          <p:cNvSpPr txBox="1"/>
          <p:nvPr/>
        </p:nvSpPr>
        <p:spPr>
          <a:xfrm>
            <a:off x="457200" y="3931920"/>
            <a:ext cx="2880360" cy="1097280"/>
          </a:xfrm>
          <a:prstGeom prst="rect">
            <a:avLst/>
          </a:prstGeom>
          <a:noFill/>
        </p:spPr>
        <p:txBody>
          <a:bodyPr wrap="square" lIns="0" rIns="0" tIns="0" bIns="0" anchor="t">
            <a:spAutoFit/>
          </a:bodyPr>
          <a:lstStyle/>
          <a:p>
            <a:pPr algn="l"/>
            <a:r>
              <a:rPr sz="1300" b="1" i="0">
                <a:solidFill>
                  <a:srgbClr val="000000"/>
                </a:solidFill>
                <a:latin typeface="Arial"/>
                <a:ea typeface="Microsoft YaHei"/>
                <a:cs typeface="Arial"/>
              </a:rPr>
              <a:t>下一部分 → </a:t>
            </a:r>
            <a:r>
              <a:rPr sz="1300" b="0" i="0">
                <a:solidFill>
                  <a:srgbClr val="000000"/>
                </a:solidFill>
                <a:latin typeface="Arial"/>
                <a:ea typeface="Microsoft YaHei"/>
                <a:cs typeface="Arial"/>
              </a:rPr>
              <a:t>内容平台为什么一定要自己做电商？（第二部分）</a:t>
            </a:r>
          </a:p>
        </p:txBody>
      </p:sp>
      <p:sp>
        <p:nvSpPr>
          <p:cNvPr id="40" name="Rounded Rectangle 39"/>
          <p:cNvSpPr/>
          <p:nvPr/>
        </p:nvSpPr>
        <p:spPr>
          <a:xfrm>
            <a:off x="4160520" y="868680"/>
            <a:ext cx="4023360" cy="1417320"/>
          </a:xfrm>
          <a:prstGeom prst="roundRect">
            <a:avLst>
              <a:gd name="adj" fmla="val 8000"/>
            </a:avLst>
          </a:prstGeom>
          <a:solidFill>
            <a:srgbClr val="0E0E0E"/>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4389120" y="704088"/>
            <a:ext cx="914400" cy="329184"/>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200" b="1" i="0">
                <a:solidFill>
                  <a:srgbClr val="000000"/>
                </a:solidFill>
                <a:latin typeface="Arial"/>
                <a:ea typeface="Microsoft YaHei"/>
                <a:cs typeface="Arial"/>
              </a:rPr>
              <a:t>内容场</a:t>
            </a:r>
          </a:p>
        </p:txBody>
      </p:sp>
      <p:sp>
        <p:nvSpPr>
          <p:cNvPr id="42" name="TextBox 41"/>
          <p:cNvSpPr txBox="1"/>
          <p:nvPr/>
        </p:nvSpPr>
        <p:spPr>
          <a:xfrm>
            <a:off x="4389120" y="1197864"/>
            <a:ext cx="3611880" cy="1051560"/>
          </a:xfrm>
          <a:prstGeom prst="rect">
            <a:avLst/>
          </a:prstGeom>
          <a:noFill/>
        </p:spPr>
        <p:txBody>
          <a:bodyPr wrap="square" lIns="0" rIns="0" tIns="0" bIns="0" anchor="t">
            <a:spAutoFit/>
          </a:bodyPr>
          <a:lstStyle/>
          <a:p>
            <a:pPr algn="l" marL="182880" indent="-182880">
              <a:spcAft>
                <a:spcPts val="600"/>
              </a:spcAft>
              <a:buClr>
                <a:srgbClr val="25F4EE"/>
              </a:buClr>
              <a:buFont typeface="Arial"/>
              <a:buChar char="•"/>
            </a:pPr>
            <a:r>
              <a:rPr sz="1300" b="0" i="0">
                <a:solidFill>
                  <a:srgbClr val="FFFFFF"/>
                </a:solidFill>
                <a:latin typeface="Arial"/>
                <a:ea typeface="Microsoft YaHei"/>
                <a:cs typeface="Arial"/>
              </a:rPr>
              <a:t>短视频通过测评、教程和剧情“种草”，激发需求</a:t>
            </a:r>
          </a:p>
          <a:p>
            <a:pPr algn="l" marL="182880" indent="-182880">
              <a:spcAft>
                <a:spcPts val="600"/>
              </a:spcAft>
              <a:buClr>
                <a:srgbClr val="25F4EE"/>
              </a:buClr>
              <a:buFont typeface="Arial"/>
              <a:buChar char="•"/>
            </a:pPr>
            <a:r>
              <a:rPr sz="1300" b="0" i="0">
                <a:solidFill>
                  <a:srgbClr val="FFFFFF"/>
                </a:solidFill>
                <a:latin typeface="Arial"/>
                <a:ea typeface="Microsoft YaHei"/>
                <a:cs typeface="Arial"/>
              </a:rPr>
              <a:t>直播实时讲解、互动，促成即时成交</a:t>
            </a:r>
          </a:p>
        </p:txBody>
      </p:sp>
      <p:sp>
        <p:nvSpPr>
          <p:cNvPr id="43" name="Rounded Rectangle 42"/>
          <p:cNvSpPr/>
          <p:nvPr/>
        </p:nvSpPr>
        <p:spPr>
          <a:xfrm>
            <a:off x="4160520" y="2651760"/>
            <a:ext cx="4023360" cy="1417320"/>
          </a:xfrm>
          <a:prstGeom prst="roundRect">
            <a:avLst>
              <a:gd name="adj" fmla="val 8000"/>
            </a:avLst>
          </a:prstGeom>
          <a:solidFill>
            <a:srgbClr val="0E0E0E"/>
          </a:solidFill>
          <a:ln w="15875">
            <a:solidFill>
              <a:srgbClr val="FE2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4389120" y="2487168"/>
            <a:ext cx="914400" cy="329184"/>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200" b="1" i="0">
                <a:solidFill>
                  <a:srgbClr val="000000"/>
                </a:solidFill>
                <a:latin typeface="Arial"/>
                <a:ea typeface="Microsoft YaHei"/>
                <a:cs typeface="Arial"/>
              </a:rPr>
              <a:t>货架场</a:t>
            </a:r>
          </a:p>
        </p:txBody>
      </p:sp>
      <p:sp>
        <p:nvSpPr>
          <p:cNvPr id="45" name="TextBox 44"/>
          <p:cNvSpPr txBox="1"/>
          <p:nvPr/>
        </p:nvSpPr>
        <p:spPr>
          <a:xfrm>
            <a:off x="4389120" y="2980944"/>
            <a:ext cx="3611880" cy="1051560"/>
          </a:xfrm>
          <a:prstGeom prst="rect">
            <a:avLst/>
          </a:prstGeom>
          <a:noFill/>
        </p:spPr>
        <p:txBody>
          <a:bodyPr wrap="square" lIns="0" rIns="0" tIns="0" bIns="0" anchor="t">
            <a:spAutoFit/>
          </a:bodyPr>
          <a:lstStyle/>
          <a:p>
            <a:pPr algn="l" marL="182880" indent="-182880">
              <a:spcAft>
                <a:spcPts val="600"/>
              </a:spcAft>
              <a:buClr>
                <a:srgbClr val="FE2C55"/>
              </a:buClr>
              <a:buFont typeface="Arial"/>
              <a:buChar char="•"/>
            </a:pPr>
            <a:r>
              <a:rPr sz="1300" b="0" i="0">
                <a:solidFill>
                  <a:srgbClr val="FFFFFF"/>
                </a:solidFill>
                <a:latin typeface="Arial"/>
                <a:ea typeface="Microsoft YaHei"/>
                <a:cs typeface="Arial"/>
              </a:rPr>
              <a:t>抖音商城、搜索和品牌店铺承接主动购物需求</a:t>
            </a:r>
          </a:p>
          <a:p>
            <a:pPr algn="l" marL="182880" indent="-182880">
              <a:spcAft>
                <a:spcPts val="600"/>
              </a:spcAft>
              <a:buClr>
                <a:srgbClr val="FE2C55"/>
              </a:buClr>
              <a:buFont typeface="Arial"/>
              <a:buChar char="•"/>
            </a:pPr>
            <a:r>
              <a:rPr sz="1300" b="0" i="0">
                <a:solidFill>
                  <a:srgbClr val="FFFFFF"/>
                </a:solidFill>
                <a:latin typeface="Arial"/>
                <a:ea typeface="Microsoft YaHei"/>
                <a:cs typeface="Arial"/>
              </a:rPr>
              <a:t>达人橱窗方便用户比较与复购</a:t>
            </a:r>
          </a:p>
        </p:txBody>
      </p:sp>
      <p:sp>
        <p:nvSpPr>
          <p:cNvPr id="46" name="Rounded Rectangle 45"/>
          <p:cNvSpPr/>
          <p:nvPr/>
        </p:nvSpPr>
        <p:spPr>
          <a:xfrm>
            <a:off x="4160520" y="4434840"/>
            <a:ext cx="4023360" cy="1417320"/>
          </a:xfrm>
          <a:prstGeom prst="roundRect">
            <a:avLst>
              <a:gd name="adj" fmla="val 8000"/>
            </a:avLst>
          </a:prstGeom>
          <a:solidFill>
            <a:srgbClr val="0E0E0E"/>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4389120" y="4270248"/>
            <a:ext cx="1066799" cy="329184"/>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200" b="1" i="0">
                <a:solidFill>
                  <a:srgbClr val="000000"/>
                </a:solidFill>
                <a:latin typeface="Arial"/>
                <a:ea typeface="Microsoft YaHei"/>
                <a:cs typeface="Arial"/>
              </a:rPr>
              <a:t>服务体系</a:t>
            </a:r>
          </a:p>
        </p:txBody>
      </p:sp>
      <p:sp>
        <p:nvSpPr>
          <p:cNvPr id="48" name="TextBox 47"/>
          <p:cNvSpPr txBox="1"/>
          <p:nvPr/>
        </p:nvSpPr>
        <p:spPr>
          <a:xfrm>
            <a:off x="4389120" y="4764024"/>
            <a:ext cx="3611880" cy="1051560"/>
          </a:xfrm>
          <a:prstGeom prst="rect">
            <a:avLst/>
          </a:prstGeom>
          <a:noFill/>
        </p:spPr>
        <p:txBody>
          <a:bodyPr wrap="square" lIns="0" rIns="0" tIns="0" bIns="0" anchor="t">
            <a:spAutoFit/>
          </a:bodyPr>
          <a:lstStyle/>
          <a:p>
            <a:pPr algn="l" marL="182880" indent="-182880">
              <a:spcAft>
                <a:spcPts val="600"/>
              </a:spcAft>
              <a:buClr>
                <a:srgbClr val="25F4EE"/>
              </a:buClr>
              <a:buFont typeface="Arial"/>
              <a:buChar char="•"/>
            </a:pPr>
            <a:r>
              <a:rPr sz="1300" b="0" i="0">
                <a:solidFill>
                  <a:srgbClr val="FFFFFF"/>
                </a:solidFill>
                <a:latin typeface="Arial"/>
                <a:ea typeface="Microsoft YaHei"/>
                <a:cs typeface="Arial"/>
              </a:rPr>
              <a:t>抖音支付、物流与售后保障</a:t>
            </a:r>
          </a:p>
          <a:p>
            <a:pPr algn="l" marL="182880" indent="-182880">
              <a:spcAft>
                <a:spcPts val="600"/>
              </a:spcAft>
              <a:buClr>
                <a:srgbClr val="25F4EE"/>
              </a:buClr>
              <a:buFont typeface="Arial"/>
              <a:buChar char="•"/>
            </a:pPr>
            <a:r>
              <a:rPr sz="1300" b="0" i="0">
                <a:solidFill>
                  <a:srgbClr val="FFFFFF"/>
                </a:solidFill>
                <a:latin typeface="Arial"/>
                <a:ea typeface="Microsoft YaHei"/>
                <a:cs typeface="Arial"/>
              </a:rPr>
              <a:t>抖店商家后台、巨量千川广告、罗盘数据分析</a:t>
            </a:r>
          </a:p>
        </p:txBody>
      </p:sp>
      <p:sp>
        <p:nvSpPr>
          <p:cNvPr id="49" name="TextBox 48"/>
          <p:cNvSpPr txBox="1"/>
          <p:nvPr/>
        </p:nvSpPr>
        <p:spPr>
          <a:xfrm>
            <a:off x="8412480" y="6172200"/>
            <a:ext cx="3017520" cy="182880"/>
          </a:xfrm>
          <a:prstGeom prst="rect">
            <a:avLst/>
          </a:prstGeom>
          <a:noFill/>
        </p:spPr>
        <p:txBody>
          <a:bodyPr wrap="square" lIns="0" rIns="0" tIns="0" bIns="0" anchor="t">
            <a:spAutoFit/>
          </a:bodyPr>
          <a:lstStyle/>
          <a:p>
            <a:pPr algn="r"/>
            <a:r>
              <a:rPr sz="650" b="0" i="0">
                <a:solidFill>
                  <a:srgbClr val="8C8C8C"/>
                </a:solidFill>
                <a:latin typeface="Arial"/>
                <a:ea typeface="Microsoft YaHei"/>
                <a:cs typeface="Arial"/>
              </a:rPr>
              <a:t>图片来源：</a:t>
            </a:r>
            <a:r>
              <a:rPr sz="650" b="0" i="0">
                <a:solidFill>
                  <a:srgbClr val="8C8C8C"/>
                </a:solidFill>
                <a:latin typeface="Arial"/>
                <a:ea typeface="Microsoft YaHei"/>
                <a:cs typeface="Arial"/>
                <a:hlinkClick r:id="rId5">
                  <a:extLst>
                    <a:ext uri="{A12FA001-AC4F-418D-AE19-62706E023703}">
                      <ahyp:hlinkClr xmlns:ahyp="http://schemas.microsoft.com/office/drawing/2018/hyperlinkcolor" val="tx"/>
                    </a:ext>
                  </a:extLst>
                </a:hlinkClick>
              </a:rPr>
              <a:t>TikTok What's Next 2025 趋势报告</a:t>
            </a:r>
          </a:p>
        </p:txBody>
      </p:sp>
      <p:sp>
        <p:nvSpPr>
          <p:cNvPr id="50" name="TextBox 49"/>
          <p:cNvSpPr txBox="1"/>
          <p:nvPr/>
        </p:nvSpPr>
        <p:spPr>
          <a:xfrm>
            <a:off x="4160520" y="6419088"/>
            <a:ext cx="731520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资料来源：</a:t>
            </a:r>
            <a:r>
              <a:rPr sz="700" b="0" i="0">
                <a:solidFill>
                  <a:srgbClr val="8C8C8C"/>
                </a:solidFill>
                <a:latin typeface="Arial"/>
                <a:ea typeface="Microsoft YaHei"/>
                <a:cs typeface="Arial"/>
                <a:hlinkClick r:id="rId6">
                  <a:extLst>
                    <a:ext uri="{A12FA001-AC4F-418D-AE19-62706E023703}">
                      <ahyp:hlinkClr xmlns:ahyp="http://schemas.microsoft.com/office/drawing/2018/hyperlinkcolor" val="tx"/>
                    </a:ext>
                  </a:extLst>
                </a:hlinkClick>
              </a:rPr>
              <a:t>经济参考报（2022）</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7">
                  <a:extLst>
                    <a:ext uri="{A12FA001-AC4F-418D-AE19-62706E023703}">
                      <ahyp:hlinkClr xmlns:ahyp="http://schemas.microsoft.com/office/drawing/2018/hyperlinkcolor" val="tx"/>
                    </a:ext>
                  </a:extLst>
                </a:hlinkClick>
              </a:rPr>
              <a:t>Sun et al. (2019), ECRA 37</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8">
                  <a:extLst>
                    <a:ext uri="{A12FA001-AC4F-418D-AE19-62706E023703}">
                      <ahyp:hlinkClr xmlns:ahyp="http://schemas.microsoft.com/office/drawing/2018/hyperlinkcolor" val="tx"/>
                    </a:ext>
                  </a:extLst>
                </a:hlinkClick>
              </a:rPr>
              <a:t>Wongkitrungrueng &amp; Assarut (2020), J. Business Research 117</a:t>
            </a:r>
          </a:p>
        </p:txBody>
      </p:sp>
    </p:spTree>
  </p:cSld>
  <p:clrMapOvr>
    <a:masterClrMapping/>
  </p:clrMapOvr>
</p:sld>
</file>

<file path=ppt/tags/tag1.xml><?xml version="1.0" encoding="utf-8"?>
<p:tagLst xmlns:p="http://schemas.openxmlformats.org/presentationml/2006/main">
  <p:tag name="PA" val="v5.2.4"/>
</p:tagLst>
</file>

<file path=ppt/tags/tag2.xml><?xml version="1.0" encoding="utf-8"?>
<p:tagLst xmlns:p="http://schemas.openxmlformats.org/presentationml/2006/main">
  <p:tag name="PA" val="v5.2.4"/>
</p:tagLst>
</file>

<file path=ppt/tags/tag3.xml><?xml version="1.0" encoding="utf-8"?>
<p:tagLst xmlns:p="http://schemas.openxmlformats.org/presentationml/2006/main">
  <p:tag name="PA" val="v5.2.4"/>
</p:tagLst>
</file>

<file path=ppt/tags/tag4.xml><?xml version="1.0" encoding="utf-8"?>
<p:tagLst xmlns:p="http://schemas.openxmlformats.org/presentationml/2006/main">
  <p:tag name="PA" val="v5.2.4"/>
</p:tagLst>
</file>

<file path=ppt/tags/tag5.xml><?xml version="1.0" encoding="utf-8"?>
<p:tagLst xmlns:p="http://schemas.openxmlformats.org/presentationml/2006/main">
  <p:tag name="PA" val="v5.2.4"/>
</p:tagLst>
</file>

<file path=ppt/tags/tag6.xml><?xml version="1.0" encoding="utf-8"?>
<p:tagLst xmlns:p="http://schemas.openxmlformats.org/presentationml/2006/main">
  <p:tag name="PA" val="v5.2.4"/>
</p:tagLst>
</file>

<file path=ppt/tags/tag7.xml><?xml version="1.0" encoding="utf-8"?>
<p:tagLst xmlns:p="http://schemas.openxmlformats.org/presentationml/2006/main">
  <p:tag name="PA" val="v5.2.4"/>
</p:tagLst>
</file>

<file path=ppt/tags/tag8.xml><?xml version="1.0" encoding="utf-8"?>
<p:tagLst xmlns:p="http://schemas.openxmlformats.org/presentationml/2006/main">
  <p:tag name="PA" val="v5.2.4"/>
</p:tagLst>
</file>

<file path=ppt/tags/tag9.xml><?xml version="1.0" encoding="utf-8"?>
<p:tagLst xmlns:p="http://schemas.openxmlformats.org/presentationml/2006/main">
  <p:tag name="PA" val="v5.2.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C8C8C"/>
      </a:hlink>
      <a:folHlink>
        <a:srgbClr val="8C8C8C"/>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33800</Words>
  <Application>WPS 演示</Application>
  <PresentationFormat/>
  <Paragraphs>1095</Paragraphs>
  <Slides>38</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38</vt:i4>
      </vt:variant>
    </vt:vector>
  </HeadingPairs>
  <TitlesOfParts>
    <vt:vector size="60" baseType="lpstr">
      <vt:lpstr>Arial</vt:lpstr>
      <vt:lpstr>宋体</vt:lpstr>
      <vt:lpstr>Wingdings</vt:lpstr>
      <vt:lpstr>Arial</vt:lpstr>
      <vt:lpstr>微软雅黑</vt:lpstr>
      <vt:lpstr>汉仪旗黑</vt:lpstr>
      <vt:lpstr>Palatino Linotype</vt:lpstr>
      <vt:lpstr>Thonburi</vt:lpstr>
      <vt:lpstr>微软雅黑</vt:lpstr>
      <vt:lpstr>宋体</vt:lpstr>
      <vt:lpstr>Arial Unicode MS</vt:lpstr>
      <vt:lpstr>Calibri</vt:lpstr>
      <vt:lpstr>Helvetica Neue</vt:lpstr>
      <vt:lpstr>汉仪书宋二KW</vt:lpstr>
      <vt:lpstr>Tahoma</vt:lpstr>
      <vt:lpstr>Verdana</vt:lpstr>
      <vt:lpstr>Times New Roman</vt:lpstr>
      <vt:lpstr>Nirmala UI</vt:lpstr>
      <vt:lpstr>MS PGothic</vt:lpstr>
      <vt:lpstr>MS PGothic</vt:lpstr>
      <vt:lpstr>苹方-简</vt:lpstr>
      <vt:lpstr>Office theme</vt:lpstr>
      <vt:lpstr>PowerPoint 演示文稿</vt:lpstr>
      <vt:lpstr>Table of Contents</vt:lpstr>
      <vt:lpstr>Our Trend Methodology</vt:lpstr>
      <vt:lpstr>Research Methodology</vt:lpstr>
      <vt:lpstr>PowerPoint 演示文稿</vt:lpstr>
      <vt:lpstr>Itʼs not magic, it's chemistry, or as we call it at TikTok, Brand Chem - a balance of listening, adapting, and transforming. When brands open up to fresh creator communities and intentionally create spaces for real engagement, theyʼre not just connecting—theyʼre tapping into the pulse of their audience.</vt:lpstr>
      <vt:lpstr>Whatʼs Next 2025; TLDR</vt:lpstr>
      <vt:lpstr>Brand Fusion</vt:lpstr>
      <vt:lpstr>Brands who want to build lasting bonds with their consumers need to bridge the gap between representation and connection in advertising.</vt:lpstr>
      <vt:lpstr>PowerPoint 演示文稿</vt:lpstr>
      <vt:lpstr>Creator Spread</vt:lpstr>
      <vt:lpstr>PowerPoint 演示文稿</vt:lpstr>
      <vt:lpstr>Trust Fund</vt:lpstr>
      <vt:lpstr>PowerPoint 演示文稿</vt:lpstr>
      <vt:lpstr>Constant Confidant</vt:lpstr>
      <vt:lpstr>Case Study</vt:lpstr>
      <vt:lpstr>At its core, the creative supply chain is a system involving people, processes, and technology. Understanding and optimizing at every stage unlocks greater opportunity for culturally relevant content to be created, faster:</vt:lpstr>
      <vt:lpstr>Identity Osmosis</vt:lpstr>
      <vt:lpstr>Our Identities are culturally mediated and, therefore, constantly evolving.</vt:lpstr>
      <vt:lpstr>PowerPoint 演示文稿</vt:lpstr>
      <vt:lpstr>Power of Perspectives</vt:lpstr>
      <vt:lpstr>PowerPoint 演示文稿</vt:lpstr>
      <vt:lpstr>Girls are Girling</vt:lpstr>
      <vt:lpstr>PowerPoint 演示文稿</vt:lpstr>
      <vt:lpstr>In OUR Era</vt:lpstr>
      <vt:lpstr>Case Study</vt:lpstr>
      <vt:lpstr>Emerging Communities</vt:lpstr>
      <vt:lpstr>Creative Catalysts</vt:lpstr>
      <vt:lpstr>Creativity lies in empowering anyone with intuitive tools that transform bold ideas into content that stands out.</vt:lpstr>
      <vt:lpstr>PowerPoint 演示文稿</vt:lpstr>
      <vt:lpstr>AI Eases Everyday</vt:lpstr>
      <vt:lpstr>PowerPoint 演示文稿</vt:lpstr>
      <vt:lpstr>Remix Recycle</vt:lpstr>
      <vt:lpstr>PowerPoint 演示文稿</vt:lpstr>
      <vt:lpstr>Comment to Cart</vt:lpstr>
      <vt:lpstr>Case Study</vt:lpstr>
      <vt:lpstr>Ask Symphony Assistant</vt:lpstr>
      <vt:lpstr>Thank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FINN Luxury Playbook</dc:title>
  <dc:creator>Taylor Frommelt</dc:creator>
  <cp:lastModifiedBy>刘沛华</cp:lastModifiedBy>
  <cp:revision>1</cp:revision>
  <dcterms:created xsi:type="dcterms:W3CDTF">2025-12-25T04:50:07Z</dcterms:created>
  <dcterms:modified xsi:type="dcterms:W3CDTF">2025-12-25T04:50:07Z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2025-12-16T16:46:20Z</vt:filetime>
  </property>
  <property fmtid="{D5CDD505-2E9C-101B-9397-08002B2CF9AE}" pid="4" name="ICV">
    <vt:lpwstr>CB92AD43E640CB367FC24C697320DEC2_42</vt:lpwstr>
  </property>
  <property fmtid="{D5CDD505-2E9C-101B-9397-08002B2CF9AE}" pid="5" name="KSOProductBuildVer">
    <vt:lpwstr>2052-6.6.1.8808</vt:lpwstr>
  </property>
</Properties>
</file>